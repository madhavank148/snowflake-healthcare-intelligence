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IDP turns governed enterprise data into reusable, AI-powered data products. The idea is simple: register once, get a governed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each 'Photo' circle with the team member's picture (right-click &gt; Format Shape &gt; Fill &gt; Picture). Add roles below the names if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as an access + governance + duplication problem, not a data availability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governed by design. Security, quality and ownership come with the product, not bolted on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Adapted from the design doc's 'same question, two experiences' comparison. Same data and same security (RBAC enforced); only the interface changes.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Stress the dotted boundary: nothing is exported to external AI tools. The pattern (data product + semantics + agent + governance) is platform-agnostic.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are rough, directional estimates based on typical effort for building bespoke agents and on avoiding external data movement. Validate with the pilot (Risk &amp; Quality, then a second domain). Example: 10 domains x ~5 weeks = ~50 weeks bespoke vs. one framework plus ~2-3 days per domain.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contributes at three points: understanding the question, planning/generating governed queries, and presenting results as tables and charts.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addresses the Technical Implementation &amp; Responsible AI criterion explicitly: security, quality, scalability, RAI and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measures for the pilot: time-to-onboard a domain, time-to-answer, number of governed channels, review cycles avoided.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138160" y="-914400"/>
            <a:ext cx="5486400" cy="5486400"/>
          </a:xfrm>
          <a:prstGeom prst="ellipse">
            <a:avLst/>
          </a:prstGeom>
          <a:solidFill>
            <a:srgbClr val="113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26880" y="3474720"/>
            <a:ext cx="4114800" cy="4114800"/>
          </a:xfrm>
          <a:prstGeom prst="ellipse">
            <a:avLst/>
          </a:prstGeom>
          <a:solidFill>
            <a:srgbClr val="0F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8229600" cy="365760"/>
          </a:xfrm>
          <a:prstGeom prst="rect">
            <a:avLst/>
          </a:prstGeom>
          <a:noFill/>
        </p:spPr>
        <p:txBody>
          <a:bodyPr wrap="square" anchor="t" lIns="73152" rIns="73152" tIns="36576" bIns="36576">
            <a:spAutoFit/>
          </a:bodyPr>
          <a:lstStyle/>
          <a:p>
            <a:pPr algn="l"/>
            <a:r>
              <a:rPr sz="1400" b="1" i="0">
                <a:solidFill>
                  <a:srgbClr val="29B5E8"/>
                </a:solidFill>
                <a:latin typeface="Calibri"/>
              </a:rPr>
              <a:t>HEALTHCARE  |  DATA + AI HACKATHON</a:t>
            </a:r>
          </a:p>
        </p:txBody>
      </p:sp>
      <p:sp>
        <p:nvSpPr>
          <p:cNvPr id="7" name="TextBox 6"/>
          <p:cNvSpPr txBox="1"/>
          <p:nvPr/>
        </p:nvSpPr>
        <p:spPr>
          <a:xfrm>
            <a:off x="822960" y="1920240"/>
            <a:ext cx="9144000" cy="1097280"/>
          </a:xfrm>
          <a:prstGeom prst="rect">
            <a:avLst/>
          </a:prstGeom>
          <a:noFill/>
        </p:spPr>
        <p:txBody>
          <a:bodyPr wrap="square" anchor="t" lIns="73152" rIns="73152" tIns="36576" bIns="36576">
            <a:spAutoFit/>
          </a:bodyPr>
          <a:lstStyle/>
          <a:p>
            <a:pPr algn="l"/>
            <a:r>
              <a:rPr sz="5400" b="1" i="0">
                <a:solidFill>
                  <a:srgbClr val="FFFFFF"/>
                </a:solidFill>
                <a:latin typeface="Calibri"/>
              </a:rPr>
              <a:t>Intelligent Data Products</a:t>
            </a:r>
          </a:p>
        </p:txBody>
      </p:sp>
      <p:sp>
        <p:nvSpPr>
          <p:cNvPr id="8" name="TextBox 7"/>
          <p:cNvSpPr txBox="1"/>
          <p:nvPr/>
        </p:nvSpPr>
        <p:spPr>
          <a:xfrm>
            <a:off x="822960" y="2926080"/>
            <a:ext cx="9144000" cy="640080"/>
          </a:xfrm>
          <a:prstGeom prst="rect">
            <a:avLst/>
          </a:prstGeom>
          <a:noFill/>
        </p:spPr>
        <p:txBody>
          <a:bodyPr wrap="square" anchor="t" lIns="73152" rIns="73152" tIns="36576" bIns="36576">
            <a:spAutoFit/>
          </a:bodyPr>
          <a:lstStyle/>
          <a:p>
            <a:pPr algn="l"/>
            <a:r>
              <a:rPr sz="3000" b="0" i="0">
                <a:solidFill>
                  <a:srgbClr val="BFDBF2"/>
                </a:solidFill>
                <a:latin typeface="Calibri"/>
              </a:rPr>
              <a:t>One Framework, Every Data Product</a:t>
            </a:r>
          </a:p>
        </p:txBody>
      </p:sp>
      <p:sp>
        <p:nvSpPr>
          <p:cNvPr id="9" name="TextBox 8"/>
          <p:cNvSpPr txBox="1"/>
          <p:nvPr/>
        </p:nvSpPr>
        <p:spPr>
          <a:xfrm>
            <a:off x="822960" y="3840480"/>
            <a:ext cx="8229600" cy="914400"/>
          </a:xfrm>
          <a:prstGeom prst="rect">
            <a:avLst/>
          </a:prstGeom>
          <a:noFill/>
        </p:spPr>
        <p:txBody>
          <a:bodyPr wrap="square" anchor="t" lIns="73152" rIns="73152" tIns="36576" bIns="36576">
            <a:spAutoFit/>
          </a:bodyPr>
          <a:lstStyle/>
          <a:p>
            <a:pPr algn="l"/>
            <a:r>
              <a:rPr sz="1800" b="0" i="0">
                <a:solidFill>
                  <a:srgbClr val="FFFFFF"/>
                </a:solidFill>
                <a:latin typeface="Calibri"/>
              </a:rPr>
              <a:t>Register a governed data product once.
Get a trusted, natural-language AI agent for it. Without moving the data.</a:t>
            </a:r>
          </a:p>
        </p:txBody>
      </p:sp>
      <p:sp>
        <p:nvSpPr>
          <p:cNvPr id="10" name="TextBox 9"/>
          <p:cNvSpPr txBox="1"/>
          <p:nvPr/>
        </p:nvSpPr>
        <p:spPr>
          <a:xfrm>
            <a:off x="822960" y="5852160"/>
            <a:ext cx="9144000" cy="365760"/>
          </a:xfrm>
          <a:prstGeom prst="rect">
            <a:avLst/>
          </a:prstGeom>
          <a:noFill/>
        </p:spPr>
        <p:txBody>
          <a:bodyPr wrap="square" anchor="t" lIns="73152" rIns="73152" tIns="36576" bIns="36576">
            <a:spAutoFit/>
          </a:bodyPr>
          <a:lstStyle/>
          <a:p>
            <a:pPr algn="l"/>
            <a:r>
              <a:rPr sz="1400" b="0" i="0">
                <a:solidFill>
                  <a:srgbClr val="BFDBF2"/>
                </a:solidFill>
                <a:latin typeface="Calibri"/>
              </a:rPr>
              <a:t>Srinivasa Madhavan  |  Clifford Benjamin  |  Sujita Chandran  |  Saisree Mallineni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Meet the Team</a:t>
            </a:r>
          </a:p>
        </p:txBody>
      </p:sp>
      <p:sp>
        <p:nvSpPr>
          <p:cNvPr id="6" name="TextBox 5"/>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7" name="TextBox 6"/>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2</a:t>
            </a:r>
          </a:p>
        </p:txBody>
      </p:sp>
      <p:sp>
        <p:nvSpPr>
          <p:cNvPr id="8" name="Oval 7"/>
          <p:cNvSpPr/>
          <p:nvPr/>
        </p:nvSpPr>
        <p:spPr>
          <a:xfrm>
            <a:off x="755843"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9" name="TextBox 8"/>
          <p:cNvSpPr txBox="1"/>
          <p:nvPr/>
        </p:nvSpPr>
        <p:spPr>
          <a:xfrm>
            <a:off x="390083"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Srinivasa Madhavan</a:t>
            </a:r>
          </a:p>
        </p:txBody>
      </p:sp>
      <p:sp>
        <p:nvSpPr>
          <p:cNvPr id="10" name="Rectangle 9"/>
          <p:cNvSpPr/>
          <p:nvPr/>
        </p:nvSpPr>
        <p:spPr>
          <a:xfrm>
            <a:off x="1441643"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14806"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2" name="TextBox 11"/>
          <p:cNvSpPr txBox="1"/>
          <p:nvPr/>
        </p:nvSpPr>
        <p:spPr>
          <a:xfrm>
            <a:off x="3249046"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Clifford Benjamin</a:t>
            </a:r>
          </a:p>
        </p:txBody>
      </p:sp>
      <p:sp>
        <p:nvSpPr>
          <p:cNvPr id="13" name="Rectangle 12"/>
          <p:cNvSpPr/>
          <p:nvPr/>
        </p:nvSpPr>
        <p:spPr>
          <a:xfrm>
            <a:off x="4300606"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769"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5" name="TextBox 14"/>
          <p:cNvSpPr txBox="1"/>
          <p:nvPr/>
        </p:nvSpPr>
        <p:spPr>
          <a:xfrm>
            <a:off x="6108009"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Sujita Chandran</a:t>
            </a:r>
          </a:p>
        </p:txBody>
      </p:sp>
      <p:sp>
        <p:nvSpPr>
          <p:cNvPr id="16" name="Rectangle 15"/>
          <p:cNvSpPr/>
          <p:nvPr/>
        </p:nvSpPr>
        <p:spPr>
          <a:xfrm>
            <a:off x="7159569"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32732"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8" name="TextBox 17"/>
          <p:cNvSpPr txBox="1"/>
          <p:nvPr/>
        </p:nvSpPr>
        <p:spPr>
          <a:xfrm>
            <a:off x="8966972"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Saisree Mallineni</a:t>
            </a:r>
          </a:p>
        </p:txBody>
      </p:sp>
      <p:sp>
        <p:nvSpPr>
          <p:cNvPr id="19" name="Rectangle 18"/>
          <p:cNvSpPr/>
          <p:nvPr/>
        </p:nvSpPr>
        <p:spPr>
          <a:xfrm>
            <a:off x="10018532"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212080"/>
            <a:ext cx="10332720" cy="457200"/>
          </a:xfrm>
          <a:prstGeom prst="rect">
            <a:avLst/>
          </a:prstGeom>
          <a:noFill/>
        </p:spPr>
        <p:txBody>
          <a:bodyPr wrap="square" anchor="t" lIns="73152" rIns="73152" tIns="36576" bIns="36576">
            <a:spAutoFit/>
          </a:bodyPr>
          <a:lstStyle/>
          <a:p>
            <a:pPr algn="ctr"/>
            <a:r>
              <a:rPr sz="1600" b="0" i="1">
                <a:solidFill>
                  <a:srgbClr val="64748B"/>
                </a:solidFill>
                <a:latin typeface="Calibri"/>
              </a:rPr>
              <a:t>Four people, one shared goal: make governed data easy to ask questions of, for everyone.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The Problem</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Data is available. Insight is not.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3</a:t>
            </a:r>
          </a:p>
        </p:txBody>
      </p:sp>
      <p:sp>
        <p:nvSpPr>
          <p:cNvPr id="9" name="TextBox 8"/>
          <p:cNvSpPr txBox="1"/>
          <p:nvPr/>
        </p:nvSpPr>
        <p:spPr>
          <a:xfrm>
            <a:off x="548640" y="1280160"/>
            <a:ext cx="11064240" cy="822960"/>
          </a:xfrm>
          <a:prstGeom prst="rect">
            <a:avLst/>
          </a:prstGeom>
          <a:noFill/>
        </p:spPr>
        <p:txBody>
          <a:bodyPr wrap="square" anchor="t" lIns="73152" rIns="73152" tIns="36576" bIns="36576">
            <a:spAutoFit/>
          </a:bodyPr>
          <a:lstStyle/>
          <a:p>
            <a:pPr algn="l"/>
            <a:r>
              <a:rPr sz="1500" b="0" i="0">
                <a:solidFill>
                  <a:srgbClr val="1E293B"/>
                </a:solidFill>
                <a:latin typeface="Calibri"/>
              </a:rPr>
              <a:t>Healthcare organisations hold huge volumes of clinical and operational data (encounters, diagnoses, medications, labs, claims) already in the cloud data platform. Yet most business users still cannot get answers without SQL skills and deep knowledge of schemas and clinical terminology.</a:t>
            </a:r>
          </a:p>
        </p:txBody>
      </p:sp>
      <p:sp>
        <p:nvSpPr>
          <p:cNvPr id="10" name="Rounded Rectangle 9"/>
          <p:cNvSpPr/>
          <p:nvPr/>
        </p:nvSpPr>
        <p:spPr>
          <a:xfrm>
            <a:off x="54864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487168"/>
            <a:ext cx="73152" cy="3072384"/>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1. Access needs experts</a:t>
            </a:r>
          </a:p>
        </p:txBody>
      </p:sp>
      <p:sp>
        <p:nvSpPr>
          <p:cNvPr id="13" name="TextBox 12"/>
          <p:cNvSpPr txBox="1"/>
          <p:nvPr/>
        </p:nvSpPr>
        <p:spPr>
          <a:xfrm>
            <a:off x="73152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Users must know tables, joins and clinical codes.</a:t>
            </a:r>
          </a:p>
          <a:p>
            <a:pPr algn="l"/>
            <a:r>
              <a:rPr sz="1600" b="0" i="0">
                <a:solidFill>
                  <a:srgbClr val="1E293B"/>
                </a:solidFill>
                <a:latin typeface="Calibri"/>
              </a:rPr>
              <a:t>Every question becomes a ticket to a data team.</a:t>
            </a:r>
          </a:p>
          <a:p>
            <a:pPr algn="l"/>
            <a:r>
              <a:rPr sz="1600" b="0" i="0">
                <a:solidFill>
                  <a:srgbClr val="1E293B"/>
                </a:solidFill>
                <a:latin typeface="Calibri"/>
              </a:rPr>
              <a:t>Days of waiting for a simple answer.</a:t>
            </a:r>
          </a:p>
        </p:txBody>
      </p:sp>
      <p:sp>
        <p:nvSpPr>
          <p:cNvPr id="14" name="Rounded Rectangle 13"/>
          <p:cNvSpPr/>
          <p:nvPr/>
        </p:nvSpPr>
        <p:spPr>
          <a:xfrm>
            <a:off x="429768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87168"/>
            <a:ext cx="73152" cy="307238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2. Every team rebuilds</a:t>
            </a:r>
          </a:p>
        </p:txBody>
      </p:sp>
      <p:sp>
        <p:nvSpPr>
          <p:cNvPr id="17" name="TextBox 16"/>
          <p:cNvSpPr txBox="1"/>
          <p:nvPr/>
        </p:nvSpPr>
        <p:spPr>
          <a:xfrm>
            <a:off x="448056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Each domain builds its own AI agent from scratch.</a:t>
            </a:r>
          </a:p>
          <a:p>
            <a:pPr algn="l"/>
            <a:r>
              <a:rPr sz="1600" b="0" i="0">
                <a:solidFill>
                  <a:srgbClr val="1E293B"/>
                </a:solidFill>
                <a:latin typeface="Calibri"/>
              </a:rPr>
              <a:t>Duplicated engineering and separate security reviews.</a:t>
            </a:r>
          </a:p>
          <a:p>
            <a:pPr algn="l"/>
            <a:r>
              <a:rPr sz="1600" b="0" i="0">
                <a:solidFill>
                  <a:srgbClr val="1E293B"/>
                </a:solidFill>
                <a:latin typeface="Calibri"/>
              </a:rPr>
              <a:t>Different definitions give different answers to the same question.</a:t>
            </a:r>
          </a:p>
        </p:txBody>
      </p:sp>
      <p:sp>
        <p:nvSpPr>
          <p:cNvPr id="18" name="Rounded Rectangle 17"/>
          <p:cNvSpPr/>
          <p:nvPr/>
        </p:nvSpPr>
        <p:spPr>
          <a:xfrm>
            <a:off x="804672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2487168"/>
            <a:ext cx="73152" cy="307238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3. No common standard</a:t>
            </a:r>
          </a:p>
        </p:txBody>
      </p:sp>
      <p:sp>
        <p:nvSpPr>
          <p:cNvPr id="21" name="TextBox 20"/>
          <p:cNvSpPr txBox="1"/>
          <p:nvPr/>
        </p:nvSpPr>
        <p:spPr>
          <a:xfrm>
            <a:off x="822960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No shared pattern for row-level security, data quality, ownership or accountability.</a:t>
            </a:r>
          </a:p>
          <a:p>
            <a:pPr algn="l"/>
            <a:r>
              <a:rPr sz="1600" b="0" i="0">
                <a:solidFill>
                  <a:srgbClr val="1E293B"/>
                </a:solidFill>
                <a:latin typeface="Calibri"/>
              </a:rPr>
              <a:t>Copying data out to external AI tools adds cost and compliance risk.</a:t>
            </a:r>
          </a:p>
        </p:txBody>
      </p:sp>
      <p:sp>
        <p:nvSpPr>
          <p:cNvPr id="22" name="Rounded Rectangle 21"/>
          <p:cNvSpPr/>
          <p:nvPr/>
        </p:nvSpPr>
        <p:spPr>
          <a:xfrm>
            <a:off x="548640" y="5806440"/>
            <a:ext cx="11064240" cy="548640"/>
          </a:xfrm>
          <a:prstGeom prst="roundRect">
            <a:avLst>
              <a:gd name="adj" fmla="val 20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833872"/>
            <a:ext cx="10881360" cy="502920"/>
          </a:xfrm>
          <a:prstGeom prst="rect">
            <a:avLst/>
          </a:prstGeom>
          <a:noFill/>
        </p:spPr>
        <p:txBody>
          <a:bodyPr wrap="square" anchor="ctr" lIns="73152" rIns="73152" tIns="36576" bIns="36576">
            <a:spAutoFit/>
          </a:bodyPr>
          <a:lstStyle/>
          <a:p>
            <a:pPr algn="ctr"/>
            <a:r>
              <a:rPr sz="1600" b="1" i="0">
                <a:solidFill>
                  <a:srgbClr val="0B1F3A"/>
                </a:solidFill>
                <a:latin typeface="Calibri"/>
              </a:rPr>
              <a:t>The result: slow decisions, duplicated cost, inconsistent answers and unmanaged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Our Solution: Intelligent Data Products</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One framework that turns governed data into reusable, AI-powered products</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4</a:t>
            </a:r>
          </a:p>
        </p:txBody>
      </p:sp>
      <p:sp>
        <p:nvSpPr>
          <p:cNvPr id="9" name="TextBox 8"/>
          <p:cNvSpPr txBox="1"/>
          <p:nvPr/>
        </p:nvSpPr>
        <p:spPr>
          <a:xfrm>
            <a:off x="548640" y="1280160"/>
            <a:ext cx="11064240" cy="731520"/>
          </a:xfrm>
          <a:prstGeom prst="rect">
            <a:avLst/>
          </a:prstGeom>
          <a:noFill/>
        </p:spPr>
        <p:txBody>
          <a:bodyPr wrap="square" anchor="t" lIns="73152" rIns="73152" tIns="36576" bIns="36576">
            <a:spAutoFit/>
          </a:bodyPr>
          <a:lstStyle/>
          <a:p>
            <a:pPr algn="l"/>
            <a:r>
              <a:rPr sz="1600" b="0" i="0">
                <a:solidFill>
                  <a:srgbClr val="1E293B"/>
                </a:solidFill>
                <a:latin typeface="Calibri"/>
              </a:rPr>
              <a:t>A domain registers its data product once. The framework provisions a governed AI agent for it, grounded in the real data model. Users simply ask in plain English.</a:t>
            </a:r>
          </a:p>
        </p:txBody>
      </p:sp>
      <p:sp>
        <p:nvSpPr>
          <p:cNvPr id="10" name="TextBox 9"/>
          <p:cNvSpPr txBox="1"/>
          <p:nvPr/>
        </p:nvSpPr>
        <p:spPr>
          <a:xfrm>
            <a:off x="548640" y="2103120"/>
            <a:ext cx="10972800" cy="365760"/>
          </a:xfrm>
          <a:prstGeom prst="rect">
            <a:avLst/>
          </a:prstGeom>
          <a:noFill/>
        </p:spPr>
        <p:txBody>
          <a:bodyPr wrap="square" anchor="t" lIns="73152" rIns="73152" tIns="36576" bIns="36576">
            <a:spAutoFit/>
          </a:bodyPr>
          <a:lstStyle/>
          <a:p>
            <a:pPr algn="l"/>
            <a:r>
              <a:rPr sz="1400" b="1" i="0">
                <a:solidFill>
                  <a:srgbClr val="64748B"/>
                </a:solidFill>
                <a:latin typeface="Calibri"/>
              </a:rPr>
              <a:t>Every data product ships with five things, built in:</a:t>
            </a:r>
          </a:p>
        </p:txBody>
      </p:sp>
      <p:sp>
        <p:nvSpPr>
          <p:cNvPr id="11" name="Rounded Rectangle 10"/>
          <p:cNvSpPr/>
          <p:nvPr/>
        </p:nvSpPr>
        <p:spPr>
          <a:xfrm>
            <a:off x="548640" y="2514600"/>
            <a:ext cx="2103120" cy="1188720"/>
          </a:xfrm>
          <a:prstGeom prst="roundRect">
            <a:avLst>
              <a:gd name="adj" fmla="val 10000"/>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Schema</a:t>
            </a:r>
          </a:p>
        </p:txBody>
      </p:sp>
      <p:sp>
        <p:nvSpPr>
          <p:cNvPr id="13" name="TextBox 12"/>
          <p:cNvSpPr txBox="1"/>
          <p:nvPr/>
        </p:nvSpPr>
        <p:spPr>
          <a:xfrm>
            <a:off x="548640"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What the data is</a:t>
            </a:r>
          </a:p>
        </p:txBody>
      </p:sp>
      <p:sp>
        <p:nvSpPr>
          <p:cNvPr id="14" name="Rounded Rectangle 13"/>
          <p:cNvSpPr/>
          <p:nvPr/>
        </p:nvSpPr>
        <p:spPr>
          <a:xfrm>
            <a:off x="2788920" y="2514600"/>
            <a:ext cx="2103120" cy="1188720"/>
          </a:xfrm>
          <a:prstGeom prst="roundRect">
            <a:avLst>
              <a:gd name="adj" fmla="val 10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Semantics</a:t>
            </a:r>
          </a:p>
        </p:txBody>
      </p:sp>
      <p:sp>
        <p:nvSpPr>
          <p:cNvPr id="16" name="TextBox 15"/>
          <p:cNvSpPr txBox="1"/>
          <p:nvPr/>
        </p:nvSpPr>
        <p:spPr>
          <a:xfrm>
            <a:off x="2788920"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Business terms, metrics, synonyms</a:t>
            </a:r>
          </a:p>
        </p:txBody>
      </p:sp>
      <p:sp>
        <p:nvSpPr>
          <p:cNvPr id="17" name="Rounded Rectangle 16"/>
          <p:cNvSpPr/>
          <p:nvPr/>
        </p:nvSpPr>
        <p:spPr>
          <a:xfrm>
            <a:off x="5029199" y="2514600"/>
            <a:ext cx="2103120" cy="1188720"/>
          </a:xfrm>
          <a:prstGeom prst="roundRect">
            <a:avLst>
              <a:gd name="adj" fmla="val 1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19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Security</a:t>
            </a:r>
          </a:p>
        </p:txBody>
      </p:sp>
      <p:sp>
        <p:nvSpPr>
          <p:cNvPr id="19" name="TextBox 18"/>
          <p:cNvSpPr txBox="1"/>
          <p:nvPr/>
        </p:nvSpPr>
        <p:spPr>
          <a:xfrm>
            <a:off x="502919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Row-level access role</a:t>
            </a:r>
          </a:p>
        </p:txBody>
      </p:sp>
      <p:sp>
        <p:nvSpPr>
          <p:cNvPr id="20" name="Rounded Rectangle 19"/>
          <p:cNvSpPr/>
          <p:nvPr/>
        </p:nvSpPr>
        <p:spPr>
          <a:xfrm>
            <a:off x="7269479" y="2514600"/>
            <a:ext cx="2103120" cy="1188720"/>
          </a:xfrm>
          <a:prstGeom prst="roundRect">
            <a:avLst>
              <a:gd name="adj" fmla="val 10000"/>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7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Quality</a:t>
            </a:r>
          </a:p>
        </p:txBody>
      </p:sp>
      <p:sp>
        <p:nvSpPr>
          <p:cNvPr id="22" name="TextBox 21"/>
          <p:cNvSpPr txBox="1"/>
          <p:nvPr/>
        </p:nvSpPr>
        <p:spPr>
          <a:xfrm>
            <a:off x="726947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Reconciliation and rules</a:t>
            </a:r>
          </a:p>
        </p:txBody>
      </p:sp>
      <p:sp>
        <p:nvSpPr>
          <p:cNvPr id="23" name="Rounded Rectangle 22"/>
          <p:cNvSpPr/>
          <p:nvPr/>
        </p:nvSpPr>
        <p:spPr>
          <a:xfrm>
            <a:off x="9509759" y="2514600"/>
            <a:ext cx="2103120" cy="1188720"/>
          </a:xfrm>
          <a:prstGeom prst="roundRect">
            <a:avLst>
              <a:gd name="adj" fmla="val 1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5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Owner</a:t>
            </a:r>
          </a:p>
        </p:txBody>
      </p:sp>
      <p:sp>
        <p:nvSpPr>
          <p:cNvPr id="25" name="TextBox 24"/>
          <p:cNvSpPr txBox="1"/>
          <p:nvPr/>
        </p:nvSpPr>
        <p:spPr>
          <a:xfrm>
            <a:off x="950975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Accountable steward</a:t>
            </a:r>
          </a:p>
        </p:txBody>
      </p:sp>
      <p:sp>
        <p:nvSpPr>
          <p:cNvPr id="26" name="Rounded Rectangle 25"/>
          <p:cNvSpPr/>
          <p:nvPr/>
        </p:nvSpPr>
        <p:spPr>
          <a:xfrm>
            <a:off x="54864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087368"/>
            <a:ext cx="73152" cy="197510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Register once</a:t>
            </a:r>
          </a:p>
        </p:txBody>
      </p:sp>
      <p:sp>
        <p:nvSpPr>
          <p:cNvPr id="29" name="TextBox 28"/>
          <p:cNvSpPr txBox="1"/>
          <p:nvPr/>
        </p:nvSpPr>
        <p:spPr>
          <a:xfrm>
            <a:off x="73152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Onboard a new domain by describing its data product. No new agent engineering.</a:t>
            </a:r>
          </a:p>
        </p:txBody>
      </p:sp>
      <p:sp>
        <p:nvSpPr>
          <p:cNvPr id="30" name="Rounded Rectangle 29"/>
          <p:cNvSpPr/>
          <p:nvPr/>
        </p:nvSpPr>
        <p:spPr>
          <a:xfrm>
            <a:off x="429768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4087368"/>
            <a:ext cx="73152" cy="197510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Ask anywhere</a:t>
            </a:r>
          </a:p>
        </p:txBody>
      </p:sp>
      <p:sp>
        <p:nvSpPr>
          <p:cNvPr id="33" name="TextBox 32"/>
          <p:cNvSpPr txBox="1"/>
          <p:nvPr/>
        </p:nvSpPr>
        <p:spPr>
          <a:xfrm>
            <a:off x="448056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Snowflake Intelligence, Streamlit app, SQL, or any tool via MCP (e.g. Sage).</a:t>
            </a:r>
          </a:p>
        </p:txBody>
      </p:sp>
      <p:sp>
        <p:nvSpPr>
          <p:cNvPr id="34" name="Rounded Rectangle 33"/>
          <p:cNvSpPr/>
          <p:nvPr/>
        </p:nvSpPr>
        <p:spPr>
          <a:xfrm>
            <a:off x="804672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20" y="4087368"/>
            <a:ext cx="73152" cy="197510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One brain, many domains</a:t>
            </a:r>
          </a:p>
        </p:txBody>
      </p:sp>
      <p:sp>
        <p:nvSpPr>
          <p:cNvPr id="37" name="TextBox 36"/>
          <p:cNvSpPr txBox="1"/>
          <p:nvPr/>
        </p:nvSpPr>
        <p:spPr>
          <a:xfrm>
            <a:off x="822960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A central orchestrator routes each question to the right domain agent and combines results across products.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Same Question, Two Experiences</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A care director asks: "How many ED visits last month, and which facility was highest?"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5</a:t>
            </a:r>
          </a:p>
        </p:txBody>
      </p:sp>
      <p:sp>
        <p:nvSpPr>
          <p:cNvPr id="9" name="Rounded Rectangle 8"/>
          <p:cNvSpPr/>
          <p:nvPr/>
        </p:nvSpPr>
        <p:spPr>
          <a:xfrm>
            <a:off x="548640" y="1325880"/>
            <a:ext cx="5394960" cy="4206240"/>
          </a:xfrm>
          <a:prstGeom prst="roundRect">
            <a:avLst>
              <a:gd name="adj" fmla="val 3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5394960" cy="54864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25880"/>
            <a:ext cx="5394960" cy="548640"/>
          </a:xfrm>
          <a:prstGeom prst="rect">
            <a:avLst/>
          </a:prstGeom>
          <a:noFill/>
        </p:spPr>
        <p:txBody>
          <a:bodyPr wrap="square" anchor="ctr" lIns="73152" rIns="73152" tIns="36576" bIns="36576">
            <a:spAutoFit/>
          </a:bodyPr>
          <a:lstStyle/>
          <a:p>
            <a:pPr algn="ctr"/>
            <a:r>
              <a:rPr sz="1800" b="1" i="0">
                <a:solidFill>
                  <a:srgbClr val="FFFFFF"/>
                </a:solidFill>
                <a:latin typeface="Calibri"/>
              </a:rPr>
              <a:t>Today: SQL-only data product</a:t>
            </a:r>
          </a:p>
        </p:txBody>
      </p:sp>
      <p:sp>
        <p:nvSpPr>
          <p:cNvPr id="12" name="Oval 11"/>
          <p:cNvSpPr/>
          <p:nvPr/>
        </p:nvSpPr>
        <p:spPr>
          <a:xfrm>
            <a:off x="777240" y="2057400"/>
            <a:ext cx="411480" cy="41148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057400"/>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1</a:t>
            </a:r>
          </a:p>
        </p:txBody>
      </p:sp>
      <p:sp>
        <p:nvSpPr>
          <p:cNvPr id="14" name="TextBox 13"/>
          <p:cNvSpPr txBox="1"/>
          <p:nvPr/>
        </p:nvSpPr>
        <p:spPr>
          <a:xfrm>
            <a:off x="1280160" y="2011680"/>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Director raises a request to an analyst</a:t>
            </a:r>
          </a:p>
        </p:txBody>
      </p:sp>
      <p:sp>
        <p:nvSpPr>
          <p:cNvPr id="15" name="Oval 14"/>
          <p:cNvSpPr/>
          <p:nvPr/>
        </p:nvSpPr>
        <p:spPr>
          <a:xfrm>
            <a:off x="777240" y="2770632"/>
            <a:ext cx="411480" cy="41148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770632"/>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2</a:t>
            </a:r>
          </a:p>
        </p:txBody>
      </p:sp>
      <p:sp>
        <p:nvSpPr>
          <p:cNvPr id="17" name="TextBox 16"/>
          <p:cNvSpPr txBox="1"/>
          <p:nvPr/>
        </p:nvSpPr>
        <p:spPr>
          <a:xfrm>
            <a:off x="1280160" y="2724912"/>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Analyst finds the right tables and writes SQL</a:t>
            </a:r>
          </a:p>
        </p:txBody>
      </p:sp>
      <p:sp>
        <p:nvSpPr>
          <p:cNvPr id="18" name="Oval 17"/>
          <p:cNvSpPr/>
          <p:nvPr/>
        </p:nvSpPr>
        <p:spPr>
          <a:xfrm>
            <a:off x="777240" y="3483864"/>
            <a:ext cx="411480" cy="41148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483864"/>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3</a:t>
            </a:r>
          </a:p>
        </p:txBody>
      </p:sp>
      <p:sp>
        <p:nvSpPr>
          <p:cNvPr id="20" name="TextBox 19"/>
          <p:cNvSpPr txBox="1"/>
          <p:nvPr/>
        </p:nvSpPr>
        <p:spPr>
          <a:xfrm>
            <a:off x="1280160" y="3438144"/>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Query runs, raw table comes back</a:t>
            </a:r>
          </a:p>
        </p:txBody>
      </p:sp>
      <p:sp>
        <p:nvSpPr>
          <p:cNvPr id="21" name="Oval 20"/>
          <p:cNvSpPr/>
          <p:nvPr/>
        </p:nvSpPr>
        <p:spPr>
          <a:xfrm>
            <a:off x="777240" y="4197096"/>
            <a:ext cx="411480" cy="411480"/>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97096"/>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4</a:t>
            </a:r>
          </a:p>
        </p:txBody>
      </p:sp>
      <p:sp>
        <p:nvSpPr>
          <p:cNvPr id="23" name="TextBox 22"/>
          <p:cNvSpPr txBox="1"/>
          <p:nvPr/>
        </p:nvSpPr>
        <p:spPr>
          <a:xfrm>
            <a:off x="1280160" y="4151376"/>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Any follow-up question starts the cycle again</a:t>
            </a:r>
          </a:p>
        </p:txBody>
      </p:sp>
      <p:sp>
        <p:nvSpPr>
          <p:cNvPr id="24" name="Rounded Rectangle 23"/>
          <p:cNvSpPr/>
          <p:nvPr/>
        </p:nvSpPr>
        <p:spPr>
          <a:xfrm>
            <a:off x="777240" y="4846320"/>
            <a:ext cx="4937760" cy="548640"/>
          </a:xfrm>
          <a:prstGeom prst="roundRect">
            <a:avLst>
              <a:gd name="adj" fmla="val 20000"/>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846320"/>
            <a:ext cx="4937760" cy="548640"/>
          </a:xfrm>
          <a:prstGeom prst="rect">
            <a:avLst/>
          </a:prstGeom>
          <a:noFill/>
        </p:spPr>
        <p:txBody>
          <a:bodyPr wrap="square" anchor="ctr" lIns="73152" rIns="73152" tIns="36576" bIns="36576">
            <a:spAutoFit/>
          </a:bodyPr>
          <a:lstStyle/>
          <a:p>
            <a:pPr algn="ctr"/>
            <a:r>
              <a:rPr sz="1400" b="1" i="0">
                <a:solidFill>
                  <a:srgbClr val="D64545"/>
                </a:solidFill>
                <a:latin typeface="Calibri"/>
              </a:rPr>
              <a:t>Hours to days. Dependent on an expert.</a:t>
            </a:r>
          </a:p>
        </p:txBody>
      </p:sp>
      <p:cxnSp>
        <p:nvCxnSpPr>
          <p:cNvPr id="26" name="Connector 25"/>
          <p:cNvCxnSpPr/>
          <p:nvPr/>
        </p:nvCxnSpPr>
        <p:spPr>
          <a:xfrm>
            <a:off x="5989320" y="3429000"/>
            <a:ext cx="228600" cy="0"/>
          </a:xfrm>
          <a:prstGeom prst="line">
            <a:avLst/>
          </a:prstGeom>
          <a:ln w="50800">
            <a:solidFill>
              <a:srgbClr val="29B5E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263640" y="1325880"/>
            <a:ext cx="5394960" cy="4206240"/>
          </a:xfrm>
          <a:prstGeom prst="roundRect">
            <a:avLst>
              <a:gd name="adj" fmla="val 3000"/>
            </a:avLst>
          </a:prstGeom>
          <a:solidFill>
            <a:srgbClr val="F4FAFE"/>
          </a:solidFill>
          <a:ln w="254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63640" y="1325880"/>
            <a:ext cx="5394960" cy="548640"/>
          </a:xfrm>
          <a:prstGeom prst="roundRect">
            <a:avLst>
              <a:gd name="adj" fmla="val 20000"/>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1325880"/>
            <a:ext cx="5394960" cy="548640"/>
          </a:xfrm>
          <a:prstGeom prst="rect">
            <a:avLst/>
          </a:prstGeom>
          <a:noFill/>
        </p:spPr>
        <p:txBody>
          <a:bodyPr wrap="square" anchor="ctr" lIns="73152" rIns="73152" tIns="36576" bIns="36576">
            <a:spAutoFit/>
          </a:bodyPr>
          <a:lstStyle/>
          <a:p>
            <a:pPr algn="ctr"/>
            <a:r>
              <a:rPr sz="1800" b="1" i="0">
                <a:solidFill>
                  <a:srgbClr val="FFFFFF"/>
                </a:solidFill>
                <a:latin typeface="Calibri"/>
              </a:rPr>
              <a:t>With IDP: Intelligent Data Product</a:t>
            </a:r>
          </a:p>
        </p:txBody>
      </p:sp>
      <p:sp>
        <p:nvSpPr>
          <p:cNvPr id="30" name="Oval 29"/>
          <p:cNvSpPr/>
          <p:nvPr/>
        </p:nvSpPr>
        <p:spPr>
          <a:xfrm>
            <a:off x="6492240" y="2057400"/>
            <a:ext cx="411480" cy="4114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2057400"/>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1</a:t>
            </a:r>
          </a:p>
        </p:txBody>
      </p:sp>
      <p:sp>
        <p:nvSpPr>
          <p:cNvPr id="32" name="TextBox 31"/>
          <p:cNvSpPr txBox="1"/>
          <p:nvPr/>
        </p:nvSpPr>
        <p:spPr>
          <a:xfrm>
            <a:off x="6995160" y="2011680"/>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Director types the question in plain English</a:t>
            </a:r>
          </a:p>
        </p:txBody>
      </p:sp>
      <p:sp>
        <p:nvSpPr>
          <p:cNvPr id="33" name="Oval 32"/>
          <p:cNvSpPr/>
          <p:nvPr/>
        </p:nvSpPr>
        <p:spPr>
          <a:xfrm>
            <a:off x="6492240" y="2770632"/>
            <a:ext cx="411480" cy="4114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2770632"/>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2</a:t>
            </a:r>
          </a:p>
        </p:txBody>
      </p:sp>
      <p:sp>
        <p:nvSpPr>
          <p:cNvPr id="35" name="TextBox 34"/>
          <p:cNvSpPr txBox="1"/>
          <p:nvPr/>
        </p:nvSpPr>
        <p:spPr>
          <a:xfrm>
            <a:off x="6995160" y="2724912"/>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Orchestrator routes it to the right domain agent</a:t>
            </a:r>
          </a:p>
        </p:txBody>
      </p:sp>
      <p:sp>
        <p:nvSpPr>
          <p:cNvPr id="36" name="Oval 35"/>
          <p:cNvSpPr/>
          <p:nvPr/>
        </p:nvSpPr>
        <p:spPr>
          <a:xfrm>
            <a:off x="6492240" y="3483864"/>
            <a:ext cx="411480" cy="4114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0" y="3483864"/>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3</a:t>
            </a:r>
          </a:p>
        </p:txBody>
      </p:sp>
      <p:sp>
        <p:nvSpPr>
          <p:cNvPr id="38" name="TextBox 37"/>
          <p:cNvSpPr txBox="1"/>
          <p:nvPr/>
        </p:nvSpPr>
        <p:spPr>
          <a:xfrm>
            <a:off x="6995160" y="3438144"/>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Governed query runs; answer, table and chart return</a:t>
            </a:r>
          </a:p>
        </p:txBody>
      </p:sp>
      <p:sp>
        <p:nvSpPr>
          <p:cNvPr id="39" name="Oval 38"/>
          <p:cNvSpPr/>
          <p:nvPr/>
        </p:nvSpPr>
        <p:spPr>
          <a:xfrm>
            <a:off x="6492240" y="4197096"/>
            <a:ext cx="411480" cy="411480"/>
          </a:xfrm>
          <a:prstGeom prst="ellips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4197096"/>
            <a:ext cx="411480" cy="411480"/>
          </a:xfrm>
          <a:prstGeom prst="rect">
            <a:avLst/>
          </a:prstGeom>
          <a:noFill/>
        </p:spPr>
        <p:txBody>
          <a:bodyPr wrap="square" anchor="ctr" lIns="73152" rIns="73152" tIns="36576" bIns="36576">
            <a:spAutoFit/>
          </a:bodyPr>
          <a:lstStyle/>
          <a:p>
            <a:pPr algn="ctr"/>
            <a:r>
              <a:rPr sz="1300" b="1" i="0">
                <a:solidFill>
                  <a:srgbClr val="FFFFFF"/>
                </a:solidFill>
                <a:latin typeface="Calibri"/>
              </a:rPr>
              <a:t>4</a:t>
            </a:r>
          </a:p>
        </p:txBody>
      </p:sp>
      <p:sp>
        <p:nvSpPr>
          <p:cNvPr id="41" name="TextBox 40"/>
          <p:cNvSpPr txBox="1"/>
          <p:nvPr/>
        </p:nvSpPr>
        <p:spPr>
          <a:xfrm>
            <a:off x="6995160" y="4151376"/>
            <a:ext cx="4480560" cy="548640"/>
          </a:xfrm>
          <a:prstGeom prst="rect">
            <a:avLst/>
          </a:prstGeom>
          <a:noFill/>
        </p:spPr>
        <p:txBody>
          <a:bodyPr wrap="square" anchor="ctr" lIns="73152" rIns="73152" tIns="36576" bIns="36576">
            <a:spAutoFit/>
          </a:bodyPr>
          <a:lstStyle/>
          <a:p>
            <a:pPr algn="l"/>
            <a:r>
              <a:rPr sz="1500" b="0" i="0">
                <a:solidFill>
                  <a:srgbClr val="1E293B"/>
                </a:solidFill>
                <a:latin typeface="Calibri"/>
              </a:rPr>
              <a:t>Follow-ups continue in the same conversation</a:t>
            </a:r>
          </a:p>
        </p:txBody>
      </p:sp>
      <p:sp>
        <p:nvSpPr>
          <p:cNvPr id="42" name="Rounded Rectangle 41"/>
          <p:cNvSpPr/>
          <p:nvPr/>
        </p:nvSpPr>
        <p:spPr>
          <a:xfrm>
            <a:off x="6492240" y="4846320"/>
            <a:ext cx="4937760" cy="548640"/>
          </a:xfrm>
          <a:prstGeom prst="roundRect">
            <a:avLst>
              <a:gd name="adj" fmla="val 2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0" y="4846320"/>
            <a:ext cx="4937760" cy="548640"/>
          </a:xfrm>
          <a:prstGeom prst="rect">
            <a:avLst/>
          </a:prstGeom>
          <a:noFill/>
        </p:spPr>
        <p:txBody>
          <a:bodyPr wrap="square" anchor="ctr" lIns="73152" rIns="73152" tIns="36576" bIns="36576">
            <a:spAutoFit/>
          </a:bodyPr>
          <a:lstStyle/>
          <a:p>
            <a:pPr algn="ctr"/>
            <a:r>
              <a:rPr sz="1400" b="1" i="0">
                <a:solidFill>
                  <a:srgbClr val="0F9D8A"/>
                </a:solidFill>
                <a:latin typeface="Calibri"/>
              </a:rPr>
              <a:t>Seconds. Self-serve. Same data, same security.</a:t>
            </a:r>
          </a:p>
        </p:txBody>
      </p:sp>
      <p:sp>
        <p:nvSpPr>
          <p:cNvPr id="44" name="Rounded Rectangle 43"/>
          <p:cNvSpPr/>
          <p:nvPr/>
        </p:nvSpPr>
        <p:spPr>
          <a:xfrm>
            <a:off x="548640" y="5715000"/>
            <a:ext cx="11109960" cy="548640"/>
          </a:xfrm>
          <a:prstGeom prst="roundRect">
            <a:avLst>
              <a:gd name="adj" fmla="val 20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5715000"/>
            <a:ext cx="10927080" cy="548640"/>
          </a:xfrm>
          <a:prstGeom prst="rect">
            <a:avLst/>
          </a:prstGeom>
          <a:noFill/>
        </p:spPr>
        <p:txBody>
          <a:bodyPr wrap="square" anchor="ctr" lIns="73152" rIns="73152" tIns="36576" bIns="36576">
            <a:spAutoFit/>
          </a:bodyPr>
          <a:lstStyle/>
          <a:p>
            <a:pPr algn="ctr"/>
            <a:r>
              <a:rPr sz="1500" b="1" i="0">
                <a:solidFill>
                  <a:srgbClr val="0B1F3A"/>
                </a:solidFill>
                <a:latin typeface="Calibri"/>
              </a:rPr>
              <a:t>Cross-domain follow-ups (e.g. top diagnoses behind those visits) are joined automatically. No second SQL cycle.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High-Level Architecture</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Everything runs inside the data platform. The data never leaves.</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6</a:t>
            </a:r>
          </a:p>
        </p:txBody>
      </p:sp>
      <p:sp>
        <p:nvSpPr>
          <p:cNvPr id="9" name="Rounded Rectangle 8"/>
          <p:cNvSpPr/>
          <p:nvPr/>
        </p:nvSpPr>
        <p:spPr>
          <a:xfrm>
            <a:off x="1828800" y="1325880"/>
            <a:ext cx="7498079" cy="4251960"/>
          </a:xfrm>
          <a:prstGeom prst="roundRect">
            <a:avLst>
              <a:gd name="adj" fmla="val 3000"/>
            </a:avLst>
          </a:prstGeom>
          <a:solidFill>
            <a:srgbClr val="F4FAFE"/>
          </a:solidFill>
          <a:ln w="28575">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1371600"/>
            <a:ext cx="4572000" cy="320040"/>
          </a:xfrm>
          <a:prstGeom prst="rect">
            <a:avLst/>
          </a:prstGeom>
          <a:noFill/>
        </p:spPr>
        <p:txBody>
          <a:bodyPr wrap="square" anchor="t" lIns="73152" rIns="73152" tIns="36576" bIns="36576">
            <a:spAutoFit/>
          </a:bodyPr>
          <a:lstStyle/>
          <a:p>
            <a:pPr algn="l"/>
            <a:r>
              <a:rPr sz="1100" b="1" i="0">
                <a:solidFill>
                  <a:srgbClr val="1156A6"/>
                </a:solidFill>
                <a:latin typeface="Calibri"/>
              </a:rPr>
              <a:t>INSIDE THE DATA PLATFORM (Snowflake)</a:t>
            </a:r>
          </a:p>
        </p:txBody>
      </p:sp>
      <p:sp>
        <p:nvSpPr>
          <p:cNvPr id="11" name="Rounded Rectangle 10"/>
          <p:cNvSpPr/>
          <p:nvPr/>
        </p:nvSpPr>
        <p:spPr>
          <a:xfrm>
            <a:off x="320040" y="2468880"/>
            <a:ext cx="1234440" cy="1371600"/>
          </a:xfrm>
          <a:prstGeom prst="roundRect">
            <a:avLst>
              <a:gd name="adj" fmla="val 1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Calibri"/>
              </a:rPr>
              <a:t>Source data</a:t>
            </a:r>
          </a:p>
          <a:p>
            <a:pPr algn="ctr"/>
            <a:r>
              <a:rPr sz="1200" b="1" i="0">
                <a:solidFill>
                  <a:srgbClr val="FFFFFF"/>
                </a:solidFill>
                <a:latin typeface="Calibri"/>
              </a:rPr>
              <a:t>(FHIR healthcare records)</a:t>
            </a:r>
          </a:p>
        </p:txBody>
      </p:sp>
      <p:cxnSp>
        <p:nvCxnSpPr>
          <p:cNvPr id="12" name="Connector 11"/>
          <p:cNvCxnSpPr/>
          <p:nvPr/>
        </p:nvCxnSpPr>
        <p:spPr>
          <a:xfrm>
            <a:off x="1554480" y="3154680"/>
            <a:ext cx="548640" cy="0"/>
          </a:xfrm>
          <a:prstGeom prst="line">
            <a:avLst/>
          </a:prstGeom>
          <a:ln w="31750">
            <a:solidFill>
              <a:srgbClr val="0B1F3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103120" y="1828800"/>
            <a:ext cx="1600200" cy="2103120"/>
          </a:xfrm>
          <a:prstGeom prst="roundRect">
            <a:avLst>
              <a:gd name="adj" fmla="val 6000"/>
            </a:avLst>
          </a:prstGeom>
          <a:solidFill>
            <a:srgbClr val="FFFFFF"/>
          </a:solidFill>
          <a:ln w="25400">
            <a:solidFill>
              <a:srgbClr val="115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03120" y="1828800"/>
            <a:ext cx="1600200" cy="685800"/>
          </a:xfrm>
          <a:prstGeom prst="roundRect">
            <a:avLst>
              <a:gd name="adj" fmla="val 12000"/>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1  Ingest &amp; Validate</a:t>
            </a:r>
          </a:p>
        </p:txBody>
      </p:sp>
      <p:sp>
        <p:nvSpPr>
          <p:cNvPr id="16" name="TextBox 15"/>
          <p:cNvSpPr txBox="1"/>
          <p:nvPr/>
        </p:nvSpPr>
        <p:spPr>
          <a:xfrm>
            <a:off x="2148839"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Raw data preserved; reconciliation confirms nothing is lost</a:t>
            </a:r>
          </a:p>
        </p:txBody>
      </p:sp>
      <p:cxnSp>
        <p:nvCxnSpPr>
          <p:cNvPr id="17" name="Connector 16"/>
          <p:cNvCxnSpPr/>
          <p:nvPr/>
        </p:nvCxnSpPr>
        <p:spPr>
          <a:xfrm>
            <a:off x="37033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931920" y="1828800"/>
            <a:ext cx="1600200" cy="2103120"/>
          </a:xfrm>
          <a:prstGeom prst="roundRect">
            <a:avLst>
              <a:gd name="adj" fmla="val 6000"/>
            </a:avLst>
          </a:prstGeom>
          <a:solidFill>
            <a:srgbClr val="FFFFFF"/>
          </a:solidFill>
          <a:ln w="254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931920" y="1828800"/>
            <a:ext cx="1600200" cy="685800"/>
          </a:xfrm>
          <a:prstGeom prst="roundRect">
            <a:avLst>
              <a:gd name="adj" fmla="val 12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2  Data Products</a:t>
            </a:r>
          </a:p>
        </p:txBody>
      </p:sp>
      <p:sp>
        <p:nvSpPr>
          <p:cNvPr id="21" name="TextBox 20"/>
          <p:cNvSpPr txBox="1"/>
          <p:nvPr/>
        </p:nvSpPr>
        <p:spPr>
          <a:xfrm>
            <a:off x="3977639"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Domain views: encounters, diagnoses, medications, labs, claims...</a:t>
            </a:r>
          </a:p>
        </p:txBody>
      </p:sp>
      <p:cxnSp>
        <p:nvCxnSpPr>
          <p:cNvPr id="22" name="Connector 21"/>
          <p:cNvCxnSpPr/>
          <p:nvPr/>
        </p:nvCxnSpPr>
        <p:spPr>
          <a:xfrm>
            <a:off x="55321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760720" y="1828800"/>
            <a:ext cx="1600200" cy="2103120"/>
          </a:xfrm>
          <a:prstGeom prst="roundRect">
            <a:avLst>
              <a:gd name="adj" fmla="val 6000"/>
            </a:avLst>
          </a:prstGeom>
          <a:solidFill>
            <a:srgbClr val="FFFFFF"/>
          </a:solidFill>
          <a:ln w="254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60720" y="1828800"/>
            <a:ext cx="1600200" cy="685800"/>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3  Business Semantics</a:t>
            </a:r>
          </a:p>
        </p:txBody>
      </p:sp>
      <p:sp>
        <p:nvSpPr>
          <p:cNvPr id="26" name="TextBox 25"/>
          <p:cNvSpPr txBox="1"/>
          <p:nvPr/>
        </p:nvSpPr>
        <p:spPr>
          <a:xfrm>
            <a:off x="5806440"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Metrics, relationships and synonyms so AI understands the data</a:t>
            </a:r>
          </a:p>
        </p:txBody>
      </p:sp>
      <p:cxnSp>
        <p:nvCxnSpPr>
          <p:cNvPr id="27" name="Connector 26"/>
          <p:cNvCxnSpPr/>
          <p:nvPr/>
        </p:nvCxnSpPr>
        <p:spPr>
          <a:xfrm>
            <a:off x="73609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1828800"/>
            <a:ext cx="1600200" cy="2103120"/>
          </a:xfrm>
          <a:prstGeom prst="roundRect">
            <a:avLst>
              <a:gd name="adj" fmla="val 6000"/>
            </a:avLst>
          </a:prstGeom>
          <a:solidFill>
            <a:srgbClr val="FFFFFF"/>
          </a:solidFill>
          <a:ln w="25400">
            <a:solidFill>
              <a:srgbClr val="F29F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589520" y="1828800"/>
            <a:ext cx="1600200" cy="685800"/>
          </a:xfrm>
          <a:prstGeom prst="roundRect">
            <a:avLst>
              <a:gd name="adj" fmla="val 12000"/>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4  Domain Agents</a:t>
            </a:r>
          </a:p>
        </p:txBody>
      </p:sp>
      <p:sp>
        <p:nvSpPr>
          <p:cNvPr id="31" name="TextBox 30"/>
          <p:cNvSpPr txBox="1"/>
          <p:nvPr/>
        </p:nvSpPr>
        <p:spPr>
          <a:xfrm>
            <a:off x="7635240"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One governed AI agent per data product</a:t>
            </a:r>
          </a:p>
        </p:txBody>
      </p:sp>
      <p:sp>
        <p:nvSpPr>
          <p:cNvPr id="32" name="Rounded Rectangle 31"/>
          <p:cNvSpPr/>
          <p:nvPr/>
        </p:nvSpPr>
        <p:spPr>
          <a:xfrm>
            <a:off x="2103120" y="4206240"/>
            <a:ext cx="6903720" cy="548640"/>
          </a:xfrm>
          <a:prstGeom prst="roundRect">
            <a:avLst>
              <a:gd name="adj" fmla="val 2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Calibri"/>
              </a:rPr>
              <a:t>5  Orchestrator Agent: routes questions, combines answers across domains</a:t>
            </a:r>
          </a:p>
        </p:txBody>
      </p:sp>
      <p:cxnSp>
        <p:nvCxnSpPr>
          <p:cNvPr id="33" name="Connector 32"/>
          <p:cNvCxnSpPr/>
          <p:nvPr/>
        </p:nvCxnSpPr>
        <p:spPr>
          <a:xfrm>
            <a:off x="8412480" y="3931920"/>
            <a:ext cx="0" cy="27432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2103120" y="4892040"/>
            <a:ext cx="6903720" cy="548640"/>
          </a:xfrm>
          <a:prstGeom prst="roundRect">
            <a:avLst>
              <a:gd name="adj" fmla="val 20000"/>
            </a:avLst>
          </a:prstGeom>
          <a:solidFill>
            <a:srgbClr val="FDECC8"/>
          </a:solidFill>
          <a:ln w="19050">
            <a:solidFill>
              <a:srgbClr val="F29F0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E293B"/>
                </a:solidFill>
                <a:latin typeface="Calibri"/>
              </a:rPr>
              <a:t>Governance throughout: row-level security | data quality | ownership | audit | observability</a:t>
            </a:r>
          </a:p>
        </p:txBody>
      </p:sp>
      <p:cxnSp>
        <p:nvCxnSpPr>
          <p:cNvPr id="35" name="Connector 34"/>
          <p:cNvCxnSpPr/>
          <p:nvPr/>
        </p:nvCxnSpPr>
        <p:spPr>
          <a:xfrm>
            <a:off x="9006840" y="4480560"/>
            <a:ext cx="594360" cy="0"/>
          </a:xfrm>
          <a:prstGeom prst="line">
            <a:avLst/>
          </a:prstGeom>
          <a:ln w="31750">
            <a:solidFill>
              <a:srgbClr val="0B1F3A"/>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01200" y="1463040"/>
            <a:ext cx="2286000" cy="365760"/>
          </a:xfrm>
          <a:prstGeom prst="rect">
            <a:avLst/>
          </a:prstGeom>
          <a:noFill/>
        </p:spPr>
        <p:txBody>
          <a:bodyPr wrap="square" anchor="t" lIns="73152" rIns="73152" tIns="36576" bIns="36576">
            <a:spAutoFit/>
          </a:bodyPr>
          <a:lstStyle/>
          <a:p>
            <a:pPr algn="l"/>
            <a:r>
              <a:rPr sz="1400" b="1" i="0">
                <a:solidFill>
                  <a:srgbClr val="0B1F3A"/>
                </a:solidFill>
                <a:latin typeface="Calibri"/>
              </a:rPr>
              <a:t>6  Consumers</a:t>
            </a:r>
          </a:p>
        </p:txBody>
      </p:sp>
      <p:sp>
        <p:nvSpPr>
          <p:cNvPr id="37" name="Rounded Rectangle 36"/>
          <p:cNvSpPr/>
          <p:nvPr/>
        </p:nvSpPr>
        <p:spPr>
          <a:xfrm>
            <a:off x="9601200" y="1874519"/>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Snowflake Intelligence</a:t>
            </a:r>
          </a:p>
        </p:txBody>
      </p:sp>
      <p:sp>
        <p:nvSpPr>
          <p:cNvPr id="38" name="Rounded Rectangle 37"/>
          <p:cNvSpPr/>
          <p:nvPr/>
        </p:nvSpPr>
        <p:spPr>
          <a:xfrm>
            <a:off x="9601200" y="2624327"/>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Streamlit chat app</a:t>
            </a:r>
          </a:p>
        </p:txBody>
      </p:sp>
      <p:sp>
        <p:nvSpPr>
          <p:cNvPr id="39" name="Rounded Rectangle 38"/>
          <p:cNvSpPr/>
          <p:nvPr/>
        </p:nvSpPr>
        <p:spPr>
          <a:xfrm>
            <a:off x="9601200" y="3374135"/>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SQL / notebooks</a:t>
            </a:r>
          </a:p>
        </p:txBody>
      </p:sp>
      <p:sp>
        <p:nvSpPr>
          <p:cNvPr id="40" name="Rounded Rectangle 39"/>
          <p:cNvSpPr/>
          <p:nvPr/>
        </p:nvSpPr>
        <p:spPr>
          <a:xfrm>
            <a:off x="9601200" y="4123944"/>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MCP: Sage &amp; other tools</a:t>
            </a:r>
          </a:p>
        </p:txBody>
      </p:sp>
      <p:cxnSp>
        <p:nvCxnSpPr>
          <p:cNvPr id="41" name="Connector 40"/>
          <p:cNvCxnSpPr/>
          <p:nvPr/>
        </p:nvCxnSpPr>
        <p:spPr>
          <a:xfrm>
            <a:off x="9601200" y="4480560"/>
            <a:ext cx="0" cy="365760"/>
          </a:xfrm>
          <a:prstGeom prst="line">
            <a:avLst/>
          </a:prstGeom>
          <a:ln w="1905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601200" y="4937760"/>
            <a:ext cx="2286000" cy="594360"/>
          </a:xfrm>
          <a:prstGeom prst="roundRect">
            <a:avLst>
              <a:gd name="adj" fmla="val 15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0" y="4937760"/>
            <a:ext cx="2286000" cy="594360"/>
          </a:xfrm>
          <a:prstGeom prst="rect">
            <a:avLst/>
          </a:prstGeom>
          <a:noFill/>
        </p:spPr>
        <p:txBody>
          <a:bodyPr wrap="square" anchor="ctr" lIns="73152" rIns="73152" tIns="36576" bIns="36576">
            <a:spAutoFit/>
          </a:bodyPr>
          <a:lstStyle/>
          <a:p>
            <a:pPr algn="ctr"/>
            <a:r>
              <a:rPr sz="1100" b="1" i="0">
                <a:solidFill>
                  <a:srgbClr val="1156A6"/>
                </a:solidFill>
                <a:latin typeface="Calibri"/>
              </a:rPr>
              <a:t>Business users ask in plain English</a:t>
            </a:r>
          </a:p>
        </p:txBody>
      </p:sp>
      <p:sp>
        <p:nvSpPr>
          <p:cNvPr id="44" name="Rounded Rectangle 43"/>
          <p:cNvSpPr/>
          <p:nvPr/>
        </p:nvSpPr>
        <p:spPr>
          <a:xfrm>
            <a:off x="548640" y="5760720"/>
            <a:ext cx="11064240" cy="548640"/>
          </a:xfrm>
          <a:prstGeom prst="roundRect">
            <a:avLst>
              <a:gd name="adj" fmla="val 20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5760720"/>
            <a:ext cx="10881360" cy="548640"/>
          </a:xfrm>
          <a:prstGeom prst="rect">
            <a:avLst/>
          </a:prstGeom>
          <a:noFill/>
        </p:spPr>
        <p:txBody>
          <a:bodyPr wrap="square" anchor="ctr" lIns="73152" rIns="73152" tIns="36576" bIns="36576">
            <a:spAutoFit/>
          </a:bodyPr>
          <a:lstStyle/>
          <a:p>
            <a:pPr algn="ctr"/>
            <a:r>
              <a:rPr sz="1500" b="1" i="0">
                <a:solidFill>
                  <a:srgbClr val="0B1F3A"/>
                </a:solidFill>
                <a:latin typeface="Calibri"/>
              </a:rPr>
              <a:t>Zero data movement: data, semantics, agents and security all stay in one governed platform.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Business Impact &amp; Cost Reduction</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Indicative estimates, to be validated in the pilot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7</a:t>
            </a:r>
          </a:p>
        </p:txBody>
      </p:sp>
      <p:sp>
        <p:nvSpPr>
          <p:cNvPr id="9" name="Rectangle 8"/>
          <p:cNvSpPr/>
          <p:nvPr/>
        </p:nvSpPr>
        <p:spPr>
          <a:xfrm>
            <a:off x="548640" y="1280160"/>
            <a:ext cx="35204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Area</a:t>
            </a:r>
          </a:p>
        </p:txBody>
      </p:sp>
      <p:sp>
        <p:nvSpPr>
          <p:cNvPr id="10" name="Rectangle 9"/>
          <p:cNvSpPr/>
          <p:nvPr/>
        </p:nvSpPr>
        <p:spPr>
          <a:xfrm>
            <a:off x="4114800" y="1280160"/>
            <a:ext cx="26060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Today</a:t>
            </a:r>
          </a:p>
        </p:txBody>
      </p:sp>
      <p:sp>
        <p:nvSpPr>
          <p:cNvPr id="11" name="Rectangle 10"/>
          <p:cNvSpPr/>
          <p:nvPr/>
        </p:nvSpPr>
        <p:spPr>
          <a:xfrm>
            <a:off x="6766560" y="1280160"/>
            <a:ext cx="26060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With IDP</a:t>
            </a:r>
          </a:p>
        </p:txBody>
      </p:sp>
      <p:sp>
        <p:nvSpPr>
          <p:cNvPr id="12" name="Rectangle 11"/>
          <p:cNvSpPr/>
          <p:nvPr/>
        </p:nvSpPr>
        <p:spPr>
          <a:xfrm>
            <a:off x="9418320" y="1280160"/>
            <a:ext cx="21488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Estimated gain</a:t>
            </a:r>
          </a:p>
        </p:txBody>
      </p:sp>
      <p:sp>
        <p:nvSpPr>
          <p:cNvPr id="13" name="Rectangle 12"/>
          <p:cNvSpPr/>
          <p:nvPr/>
        </p:nvSpPr>
        <p:spPr>
          <a:xfrm>
            <a:off x="548640" y="1783080"/>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Time to launch an AI agent for a new domain</a:t>
            </a:r>
          </a:p>
        </p:txBody>
      </p:sp>
      <p:sp>
        <p:nvSpPr>
          <p:cNvPr id="14" name="Rectangle 13"/>
          <p:cNvSpPr/>
          <p:nvPr/>
        </p:nvSpPr>
        <p:spPr>
          <a:xfrm>
            <a:off x="4114800" y="1783080"/>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4 to 6 weeks of custom engineering</a:t>
            </a:r>
          </a:p>
        </p:txBody>
      </p:sp>
      <p:sp>
        <p:nvSpPr>
          <p:cNvPr id="15" name="Rectangle 14"/>
          <p:cNvSpPr/>
          <p:nvPr/>
        </p:nvSpPr>
        <p:spPr>
          <a:xfrm>
            <a:off x="6766560" y="1783080"/>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2 to 3 days to register a data product</a:t>
            </a:r>
          </a:p>
        </p:txBody>
      </p:sp>
      <p:sp>
        <p:nvSpPr>
          <p:cNvPr id="16" name="Rectangle 15"/>
          <p:cNvSpPr/>
          <p:nvPr/>
        </p:nvSpPr>
        <p:spPr>
          <a:xfrm>
            <a:off x="9418320" y="1783080"/>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~85% faster</a:t>
            </a:r>
          </a:p>
        </p:txBody>
      </p:sp>
      <p:sp>
        <p:nvSpPr>
          <p:cNvPr id="17" name="Rectangle 16"/>
          <p:cNvSpPr/>
          <p:nvPr/>
        </p:nvSpPr>
        <p:spPr>
          <a:xfrm>
            <a:off x="548640" y="2496312"/>
            <a:ext cx="35204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Time to answer a business question</a:t>
            </a:r>
          </a:p>
        </p:txBody>
      </p:sp>
      <p:sp>
        <p:nvSpPr>
          <p:cNvPr id="18" name="Rectangle 17"/>
          <p:cNvSpPr/>
          <p:nvPr/>
        </p:nvSpPr>
        <p:spPr>
          <a:xfrm>
            <a:off x="4114800" y="2496312"/>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Hours to days via ticket and SQL</a:t>
            </a:r>
          </a:p>
        </p:txBody>
      </p:sp>
      <p:sp>
        <p:nvSpPr>
          <p:cNvPr id="19" name="Rectangle 18"/>
          <p:cNvSpPr/>
          <p:nvPr/>
        </p:nvSpPr>
        <p:spPr>
          <a:xfrm>
            <a:off x="6766560" y="2496312"/>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Seconds to minutes in plain English</a:t>
            </a:r>
          </a:p>
        </p:txBody>
      </p:sp>
      <p:sp>
        <p:nvSpPr>
          <p:cNvPr id="20" name="Rectangle 19"/>
          <p:cNvSpPr/>
          <p:nvPr/>
        </p:nvSpPr>
        <p:spPr>
          <a:xfrm>
            <a:off x="9418320" y="2496312"/>
            <a:ext cx="21488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~90% faster</a:t>
            </a:r>
          </a:p>
        </p:txBody>
      </p:sp>
      <p:sp>
        <p:nvSpPr>
          <p:cNvPr id="21" name="Rectangle 20"/>
          <p:cNvSpPr/>
          <p:nvPr/>
        </p:nvSpPr>
        <p:spPr>
          <a:xfrm>
            <a:off x="548640" y="3209544"/>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Security and compliance reviews</a:t>
            </a:r>
          </a:p>
        </p:txBody>
      </p:sp>
      <p:sp>
        <p:nvSpPr>
          <p:cNvPr id="22" name="Rectangle 21"/>
          <p:cNvSpPr/>
          <p:nvPr/>
        </p:nvSpPr>
        <p:spPr>
          <a:xfrm>
            <a:off x="4114800" y="3209544"/>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One review per team-built agent</a:t>
            </a:r>
          </a:p>
        </p:txBody>
      </p:sp>
      <p:sp>
        <p:nvSpPr>
          <p:cNvPr id="23" name="Rectangle 22"/>
          <p:cNvSpPr/>
          <p:nvPr/>
        </p:nvSpPr>
        <p:spPr>
          <a:xfrm>
            <a:off x="6766560" y="3209544"/>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Reviewed once at framework level</a:t>
            </a:r>
          </a:p>
        </p:txBody>
      </p:sp>
      <p:sp>
        <p:nvSpPr>
          <p:cNvPr id="24" name="Rectangle 23"/>
          <p:cNvSpPr/>
          <p:nvPr/>
        </p:nvSpPr>
        <p:spPr>
          <a:xfrm>
            <a:off x="9418320" y="3209544"/>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~70% fewer review cycles</a:t>
            </a:r>
          </a:p>
        </p:txBody>
      </p:sp>
      <p:sp>
        <p:nvSpPr>
          <p:cNvPr id="25" name="Rectangle 24"/>
          <p:cNvSpPr/>
          <p:nvPr/>
        </p:nvSpPr>
        <p:spPr>
          <a:xfrm>
            <a:off x="548640" y="3922776"/>
            <a:ext cx="35204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Data copies and pipelines to external AI tools</a:t>
            </a:r>
          </a:p>
        </p:txBody>
      </p:sp>
      <p:sp>
        <p:nvSpPr>
          <p:cNvPr id="26" name="Rectangle 25"/>
          <p:cNvSpPr/>
          <p:nvPr/>
        </p:nvSpPr>
        <p:spPr>
          <a:xfrm>
            <a:off x="4114800" y="3922776"/>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Extracts, duplicates, egress</a:t>
            </a:r>
          </a:p>
        </p:txBody>
      </p:sp>
      <p:sp>
        <p:nvSpPr>
          <p:cNvPr id="27" name="Rectangle 26"/>
          <p:cNvSpPr/>
          <p:nvPr/>
        </p:nvSpPr>
        <p:spPr>
          <a:xfrm>
            <a:off x="6766560" y="3922776"/>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None. Data stays in place</a:t>
            </a:r>
          </a:p>
        </p:txBody>
      </p:sp>
      <p:sp>
        <p:nvSpPr>
          <p:cNvPr id="28" name="Rectangle 27"/>
          <p:cNvSpPr/>
          <p:nvPr/>
        </p:nvSpPr>
        <p:spPr>
          <a:xfrm>
            <a:off x="9418320" y="3922776"/>
            <a:ext cx="21488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~100% of extra copies avoided</a:t>
            </a:r>
          </a:p>
        </p:txBody>
      </p:sp>
      <p:sp>
        <p:nvSpPr>
          <p:cNvPr id="29" name="Rectangle 28"/>
          <p:cNvSpPr/>
          <p:nvPr/>
        </p:nvSpPr>
        <p:spPr>
          <a:xfrm>
            <a:off x="548640" y="4636008"/>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Long-running ad-hoc queries on raw schemas</a:t>
            </a:r>
          </a:p>
        </p:txBody>
      </p:sp>
      <p:sp>
        <p:nvSpPr>
          <p:cNvPr id="30" name="Rectangle 29"/>
          <p:cNvSpPr/>
          <p:nvPr/>
        </p:nvSpPr>
        <p:spPr>
          <a:xfrm>
            <a:off x="4114800" y="4636008"/>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Frequent, wide, repeated scans</a:t>
            </a:r>
          </a:p>
        </p:txBody>
      </p:sp>
      <p:sp>
        <p:nvSpPr>
          <p:cNvPr id="31" name="Rectangle 30"/>
          <p:cNvSpPr/>
          <p:nvPr/>
        </p:nvSpPr>
        <p:spPr>
          <a:xfrm>
            <a:off x="6766560" y="4636008"/>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Curated semantic views, governed access</a:t>
            </a:r>
          </a:p>
        </p:txBody>
      </p:sp>
      <p:sp>
        <p:nvSpPr>
          <p:cNvPr id="32" name="Rectangle 31"/>
          <p:cNvSpPr/>
          <p:nvPr/>
        </p:nvSpPr>
        <p:spPr>
          <a:xfrm>
            <a:off x="9418320" y="4636008"/>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~30% less ad-hoc compute</a:t>
            </a:r>
          </a:p>
        </p:txBody>
      </p:sp>
      <p:sp>
        <p:nvSpPr>
          <p:cNvPr id="33" name="Rounded Rectangle 32"/>
          <p:cNvSpPr/>
          <p:nvPr/>
        </p:nvSpPr>
        <p:spPr>
          <a:xfrm>
            <a:off x="54864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550408"/>
            <a:ext cx="73152" cy="69494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Cost avoided</a:t>
            </a:r>
          </a:p>
        </p:txBody>
      </p:sp>
      <p:sp>
        <p:nvSpPr>
          <p:cNvPr id="36" name="TextBox 35"/>
          <p:cNvSpPr txBox="1"/>
          <p:nvPr/>
        </p:nvSpPr>
        <p:spPr>
          <a:xfrm>
            <a:off x="73152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Pay once for the framework, reuse for every domain.</a:t>
            </a:r>
          </a:p>
        </p:txBody>
      </p:sp>
      <p:sp>
        <p:nvSpPr>
          <p:cNvPr id="37" name="Rounded Rectangle 36"/>
          <p:cNvSpPr/>
          <p:nvPr/>
        </p:nvSpPr>
        <p:spPr>
          <a:xfrm>
            <a:off x="429768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7680" y="5550408"/>
            <a:ext cx="73152" cy="694944"/>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8056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Risk avoided</a:t>
            </a:r>
          </a:p>
        </p:txBody>
      </p:sp>
      <p:sp>
        <p:nvSpPr>
          <p:cNvPr id="40" name="TextBox 39"/>
          <p:cNvSpPr txBox="1"/>
          <p:nvPr/>
        </p:nvSpPr>
        <p:spPr>
          <a:xfrm>
            <a:off x="448056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No data leaves the platform. Same access rules everywhere.</a:t>
            </a:r>
          </a:p>
        </p:txBody>
      </p:sp>
      <p:sp>
        <p:nvSpPr>
          <p:cNvPr id="41" name="Rounded Rectangle 40"/>
          <p:cNvSpPr/>
          <p:nvPr/>
        </p:nvSpPr>
        <p:spPr>
          <a:xfrm>
            <a:off x="804672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46720" y="5550408"/>
            <a:ext cx="73152" cy="69494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Scales beyond one team</a:t>
            </a:r>
          </a:p>
        </p:txBody>
      </p:sp>
      <p:sp>
        <p:nvSpPr>
          <p:cNvPr id="44" name="TextBox 43"/>
          <p:cNvSpPr txBox="1"/>
          <p:nvPr/>
        </p:nvSpPr>
        <p:spPr>
          <a:xfrm>
            <a:off x="822960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Each new domain adds value without adding rebuild effort.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Innovation &amp; Creativity</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What makes the idea original</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8</a:t>
            </a:r>
          </a:p>
        </p:txBody>
      </p:sp>
      <p:sp>
        <p:nvSpPr>
          <p:cNvPr id="9" name="Rounded Rectangle 8"/>
          <p:cNvSpPr/>
          <p:nvPr/>
        </p:nvSpPr>
        <p:spPr>
          <a:xfrm>
            <a:off x="548640" y="1371600"/>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81328"/>
            <a:ext cx="73152" cy="197510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Agents as a product, not a project</a:t>
            </a:r>
          </a:p>
        </p:txBody>
      </p:sp>
      <p:sp>
        <p:nvSpPr>
          <p:cNvPr id="12" name="TextBox 11"/>
          <p:cNvSpPr txBox="1"/>
          <p:nvPr/>
        </p:nvSpPr>
        <p:spPr>
          <a:xfrm>
            <a:off x="731520" y="182880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Instead of every team hand-building an agent, the data product itself is the unit of reuse. Register it and the agent is provisioned automatically.</a:t>
            </a:r>
          </a:p>
        </p:txBody>
      </p:sp>
      <p:sp>
        <p:nvSpPr>
          <p:cNvPr id="13" name="Rounded Rectangle 12"/>
          <p:cNvSpPr/>
          <p:nvPr/>
        </p:nvSpPr>
        <p:spPr>
          <a:xfrm>
            <a:off x="6172200" y="1371600"/>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81328"/>
            <a:ext cx="73152" cy="197510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444752"/>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Semantics make AI trustworthy</a:t>
            </a:r>
          </a:p>
        </p:txBody>
      </p:sp>
      <p:sp>
        <p:nvSpPr>
          <p:cNvPr id="16" name="TextBox 15"/>
          <p:cNvSpPr txBox="1"/>
          <p:nvPr/>
        </p:nvSpPr>
        <p:spPr>
          <a:xfrm>
            <a:off x="6355080" y="182880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Business definitions, metrics and synonyms are modelled once, so every answer uses the same vocabulary and the generated queries stay efficient.</a:t>
            </a:r>
          </a:p>
        </p:txBody>
      </p:sp>
      <p:sp>
        <p:nvSpPr>
          <p:cNvPr id="17" name="Rounded Rectangle 16"/>
          <p:cNvSpPr/>
          <p:nvPr/>
        </p:nvSpPr>
        <p:spPr>
          <a:xfrm>
            <a:off x="548640" y="3749039"/>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858768"/>
            <a:ext cx="73152" cy="197510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22191"/>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Multiple tools, one experience</a:t>
            </a:r>
          </a:p>
        </p:txBody>
      </p:sp>
      <p:sp>
        <p:nvSpPr>
          <p:cNvPr id="20" name="TextBox 19"/>
          <p:cNvSpPr txBox="1"/>
          <p:nvPr/>
        </p:nvSpPr>
        <p:spPr>
          <a:xfrm>
            <a:off x="731520" y="420624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Domain agents plus an orchestrator for cross-domain questions, exposed through Snowflake Intelligence, a Streamlit app, SQL and MCP into Sage.</a:t>
            </a:r>
          </a:p>
        </p:txBody>
      </p:sp>
      <p:sp>
        <p:nvSpPr>
          <p:cNvPr id="21" name="Rounded Rectangle 20"/>
          <p:cNvSpPr/>
          <p:nvPr/>
        </p:nvSpPr>
        <p:spPr>
          <a:xfrm>
            <a:off x="6172200" y="3749039"/>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858768"/>
            <a:ext cx="73152" cy="19751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822191"/>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Platform-agnostic pattern</a:t>
            </a:r>
          </a:p>
        </p:txBody>
      </p:sp>
      <p:sp>
        <p:nvSpPr>
          <p:cNvPr id="24" name="TextBox 23"/>
          <p:cNvSpPr txBox="1"/>
          <p:nvPr/>
        </p:nvSpPr>
        <p:spPr>
          <a:xfrm>
            <a:off x="6355080" y="420624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Proven on Snowflake, but the blueprint (data product + semantics + agent + governance) extends to any data system.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Technical Foundation &amp; Responsible AI</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Built for enterprise use, not just a demo</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9</a:t>
            </a:r>
          </a:p>
        </p:txBody>
      </p:sp>
      <p:sp>
        <p:nvSpPr>
          <p:cNvPr id="9" name="Rounded Rectangle 8"/>
          <p:cNvSpPr/>
          <p:nvPr/>
        </p:nvSpPr>
        <p:spPr>
          <a:xfrm>
            <a:off x="54864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89888"/>
            <a:ext cx="73152" cy="2112263"/>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Security</a:t>
            </a:r>
          </a:p>
        </p:txBody>
      </p:sp>
      <p:sp>
        <p:nvSpPr>
          <p:cNvPr id="12" name="TextBox 11"/>
          <p:cNvSpPr txBox="1"/>
          <p:nvPr/>
        </p:nvSpPr>
        <p:spPr>
          <a:xfrm>
            <a:off x="73152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Row-level security role per data product.</a:t>
            </a:r>
          </a:p>
          <a:p>
            <a:pPr algn="l"/>
            <a:r>
              <a:rPr sz="1600" b="0" i="0">
                <a:solidFill>
                  <a:srgbClr val="1E293B"/>
                </a:solidFill>
                <a:latin typeface="Calibri"/>
              </a:rPr>
              <a:t>Data never leaves the platform.</a:t>
            </a:r>
          </a:p>
          <a:p>
            <a:pPr algn="l"/>
            <a:r>
              <a:rPr sz="1600" b="0" i="0">
                <a:solidFill>
                  <a:srgbClr val="1E293B"/>
                </a:solidFill>
                <a:latin typeface="Calibri"/>
              </a:rPr>
              <a:t>Single place to review access.</a:t>
            </a:r>
          </a:p>
        </p:txBody>
      </p:sp>
      <p:sp>
        <p:nvSpPr>
          <p:cNvPr id="13" name="Rounded Rectangle 12"/>
          <p:cNvSpPr/>
          <p:nvPr/>
        </p:nvSpPr>
        <p:spPr>
          <a:xfrm>
            <a:off x="429768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389888"/>
            <a:ext cx="73152" cy="2112263"/>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Quality</a:t>
            </a:r>
          </a:p>
        </p:txBody>
      </p:sp>
      <p:sp>
        <p:nvSpPr>
          <p:cNvPr id="16" name="TextBox 15"/>
          <p:cNvSpPr txBox="1"/>
          <p:nvPr/>
        </p:nvSpPr>
        <p:spPr>
          <a:xfrm>
            <a:off x="448056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Reconciliation checks that every record loaded is accounted for.</a:t>
            </a:r>
          </a:p>
          <a:p>
            <a:pPr algn="l"/>
            <a:r>
              <a:rPr sz="1600" b="0" i="0">
                <a:solidFill>
                  <a:srgbClr val="1E293B"/>
                </a:solidFill>
                <a:latin typeface="Calibri"/>
              </a:rPr>
              <a:t>Data-quality rules owned per product.</a:t>
            </a:r>
          </a:p>
          <a:p>
            <a:pPr algn="l"/>
            <a:r>
              <a:rPr sz="1600" b="0" i="0">
                <a:solidFill>
                  <a:srgbClr val="1E293B"/>
                </a:solidFill>
                <a:latin typeface="Calibri"/>
              </a:rPr>
              <a:t>A pipeline-health agent monitors freshness.</a:t>
            </a:r>
          </a:p>
        </p:txBody>
      </p:sp>
      <p:sp>
        <p:nvSpPr>
          <p:cNvPr id="17" name="Rounded Rectangle 16"/>
          <p:cNvSpPr/>
          <p:nvPr/>
        </p:nvSpPr>
        <p:spPr>
          <a:xfrm>
            <a:off x="804672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89888"/>
            <a:ext cx="73152" cy="2112263"/>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Scalability</a:t>
            </a:r>
          </a:p>
        </p:txBody>
      </p:sp>
      <p:sp>
        <p:nvSpPr>
          <p:cNvPr id="20" name="TextBox 19"/>
          <p:cNvSpPr txBox="1"/>
          <p:nvPr/>
        </p:nvSpPr>
        <p:spPr>
          <a:xfrm>
            <a:off x="822960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Add a domain by registering, not rebuilding.</a:t>
            </a:r>
          </a:p>
          <a:p>
            <a:pPr algn="l"/>
            <a:r>
              <a:rPr sz="1600" b="0" i="0">
                <a:solidFill>
                  <a:srgbClr val="1E293B"/>
                </a:solidFill>
                <a:latin typeface="Calibri"/>
              </a:rPr>
              <a:t>Elastic platform compute.</a:t>
            </a:r>
          </a:p>
          <a:p>
            <a:pPr algn="l"/>
            <a:r>
              <a:rPr sz="1600" b="0" i="0">
                <a:solidFill>
                  <a:srgbClr val="1E293B"/>
                </a:solidFill>
                <a:latin typeface="Calibri"/>
              </a:rPr>
              <a:t>Same pattern from 1 to many products.</a:t>
            </a:r>
          </a:p>
        </p:txBody>
      </p:sp>
      <p:sp>
        <p:nvSpPr>
          <p:cNvPr id="21" name="Rounded Rectangle 20"/>
          <p:cNvSpPr/>
          <p:nvPr/>
        </p:nvSpPr>
        <p:spPr>
          <a:xfrm>
            <a:off x="548640" y="3794760"/>
            <a:ext cx="5486400" cy="2514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904488"/>
            <a:ext cx="73152" cy="229514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867912"/>
            <a:ext cx="5212080" cy="365760"/>
          </a:xfrm>
          <a:prstGeom prst="rect">
            <a:avLst/>
          </a:prstGeom>
          <a:noFill/>
        </p:spPr>
        <p:txBody>
          <a:bodyPr wrap="square" anchor="t" lIns="73152" rIns="73152" tIns="36576" bIns="36576">
            <a:spAutoFit/>
          </a:bodyPr>
          <a:lstStyle/>
          <a:p>
            <a:pPr algn="l"/>
            <a:r>
              <a:rPr sz="1600" b="1" i="0">
                <a:solidFill>
                  <a:srgbClr val="0B1F3A"/>
                </a:solidFill>
                <a:latin typeface="Calibri"/>
              </a:rPr>
              <a:t>Responsible AI</a:t>
            </a:r>
          </a:p>
        </p:txBody>
      </p:sp>
      <p:sp>
        <p:nvSpPr>
          <p:cNvPr id="24" name="TextBox 23"/>
          <p:cNvSpPr txBox="1"/>
          <p:nvPr/>
        </p:nvSpPr>
        <p:spPr>
          <a:xfrm>
            <a:off x="731520" y="4251960"/>
            <a:ext cx="5212080" cy="2011680"/>
          </a:xfrm>
          <a:prstGeom prst="rect">
            <a:avLst/>
          </a:prstGeom>
          <a:noFill/>
        </p:spPr>
        <p:txBody>
          <a:bodyPr wrap="square" anchor="t" lIns="73152" rIns="73152" tIns="36576" bIns="36576">
            <a:spAutoFit/>
          </a:bodyPr>
          <a:lstStyle/>
          <a:p>
            <a:pPr algn="l"/>
            <a:r>
              <a:rPr sz="1600" b="0" i="0">
                <a:solidFill>
                  <a:srgbClr val="1E293B"/>
                </a:solidFill>
                <a:latin typeface="Calibri"/>
              </a:rPr>
              <a:t>Grounded in governed data and defined business terms, which reduces made-up answers.</a:t>
            </a:r>
          </a:p>
          <a:p>
            <a:pPr algn="l"/>
            <a:r>
              <a:rPr sz="1600" b="0" i="0">
                <a:solidFill>
                  <a:srgbClr val="1E293B"/>
                </a:solidFill>
                <a:latin typeface="Calibri"/>
              </a:rPr>
              <a:t>Every answer is explainable: generated query and routing are visible.</a:t>
            </a:r>
          </a:p>
          <a:p>
            <a:pPr algn="l"/>
            <a:r>
              <a:rPr sz="1600" b="0" i="0">
                <a:solidFill>
                  <a:srgbClr val="1E293B"/>
                </a:solidFill>
                <a:latin typeface="Calibri"/>
              </a:rPr>
              <a:t>Humans stay accountable: each product has a named owner.</a:t>
            </a:r>
          </a:p>
          <a:p>
            <a:pPr algn="l"/>
            <a:r>
              <a:rPr sz="1600" b="0" i="0">
                <a:solidFill>
                  <a:srgbClr val="1E293B"/>
                </a:solidFill>
                <a:latin typeface="Calibri"/>
              </a:rPr>
              <a:t>Sensitive data is only seen by authorised roles.</a:t>
            </a:r>
          </a:p>
        </p:txBody>
      </p:sp>
      <p:sp>
        <p:nvSpPr>
          <p:cNvPr id="25" name="Rounded Rectangle 24"/>
          <p:cNvSpPr/>
          <p:nvPr/>
        </p:nvSpPr>
        <p:spPr>
          <a:xfrm>
            <a:off x="6126480" y="3794760"/>
            <a:ext cx="5486400" cy="2514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04488"/>
            <a:ext cx="73152" cy="229514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3867912"/>
            <a:ext cx="5212080" cy="365760"/>
          </a:xfrm>
          <a:prstGeom prst="rect">
            <a:avLst/>
          </a:prstGeom>
          <a:noFill/>
        </p:spPr>
        <p:txBody>
          <a:bodyPr wrap="square" anchor="t" lIns="73152" rIns="73152" tIns="36576" bIns="36576">
            <a:spAutoFit/>
          </a:bodyPr>
          <a:lstStyle/>
          <a:p>
            <a:pPr algn="l"/>
            <a:r>
              <a:rPr sz="1600" b="1" i="0">
                <a:solidFill>
                  <a:srgbClr val="0B1F3A"/>
                </a:solidFill>
                <a:latin typeface="Calibri"/>
              </a:rPr>
              <a:t>Auditability &amp; observability</a:t>
            </a:r>
          </a:p>
        </p:txBody>
      </p:sp>
      <p:sp>
        <p:nvSpPr>
          <p:cNvPr id="28" name="TextBox 27"/>
          <p:cNvSpPr txBox="1"/>
          <p:nvPr/>
        </p:nvSpPr>
        <p:spPr>
          <a:xfrm>
            <a:off x="6309360" y="4251960"/>
            <a:ext cx="5212080" cy="2011680"/>
          </a:xfrm>
          <a:prstGeom prst="rect">
            <a:avLst/>
          </a:prstGeom>
          <a:noFill/>
        </p:spPr>
        <p:txBody>
          <a:bodyPr wrap="square" anchor="t" lIns="73152" rIns="73152" tIns="36576" bIns="36576">
            <a:spAutoFit/>
          </a:bodyPr>
          <a:lstStyle/>
          <a:p>
            <a:pPr algn="l"/>
            <a:r>
              <a:rPr sz="1600" b="0" i="0">
                <a:solidFill>
                  <a:srgbClr val="1E293B"/>
                </a:solidFill>
                <a:latin typeface="Calibri"/>
              </a:rPr>
              <a:t>Every question, user, time and duration is logged.</a:t>
            </a:r>
          </a:p>
          <a:p>
            <a:pPr algn="l"/>
            <a:r>
              <a:rPr sz="1600" b="0" i="0">
                <a:solidFill>
                  <a:srgbClr val="1E293B"/>
                </a:solidFill>
                <a:latin typeface="Calibri"/>
              </a:rPr>
              <a:t>Step-by-step traces: planning, query, chart, response.</a:t>
            </a:r>
          </a:p>
          <a:p>
            <a:pPr algn="l"/>
            <a:r>
              <a:rPr sz="1600" b="0" i="0">
                <a:solidFill>
                  <a:srgbClr val="1E293B"/>
                </a:solidFill>
                <a:latin typeface="Calibri"/>
              </a:rPr>
              <a:t>Model used and token counts visible for cost per question.</a:t>
            </a:r>
          </a:p>
          <a:p>
            <a:pPr algn="l"/>
            <a:r>
              <a:rPr sz="1600" b="0" i="0">
                <a:solidFill>
                  <a:srgbClr val="1E293B"/>
                </a:solidFill>
                <a:latin typeface="Calibri"/>
              </a:rPr>
              <a:t>Evidence ready for compliance reviews.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Path to Scale</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Validate, prove reuse, then roll out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10</a:t>
            </a:r>
          </a:p>
        </p:txBody>
      </p:sp>
      <p:sp>
        <p:nvSpPr>
          <p:cNvPr id="9" name="Pentagon 8"/>
          <p:cNvSpPr/>
          <p:nvPr/>
        </p:nvSpPr>
        <p:spPr>
          <a:xfrm>
            <a:off x="548640" y="1463040"/>
            <a:ext cx="2606040" cy="914400"/>
          </a:xfrm>
          <a:prstGeom prst="homePlate">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1</a:t>
            </a:r>
          </a:p>
          <a:p>
            <a:pPr algn="l"/>
            <a:r>
              <a:rPr sz="1800" b="1" i="0">
                <a:solidFill>
                  <a:srgbClr val="FFFFFF"/>
                </a:solidFill>
                <a:latin typeface="Calibri"/>
              </a:rPr>
              <a:t>Validate</a:t>
            </a:r>
          </a:p>
        </p:txBody>
      </p:sp>
      <p:sp>
        <p:nvSpPr>
          <p:cNvPr id="11" name="Rounded Rectangle 10"/>
          <p:cNvSpPr/>
          <p:nvPr/>
        </p:nvSpPr>
        <p:spPr>
          <a:xfrm>
            <a:off x="5486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Prove the framework with Risk &amp; Quality (working prototype exists).</a:t>
            </a:r>
          </a:p>
        </p:txBody>
      </p:sp>
      <p:sp>
        <p:nvSpPr>
          <p:cNvPr id="13" name="Pentagon 12"/>
          <p:cNvSpPr/>
          <p:nvPr/>
        </p:nvSpPr>
        <p:spPr>
          <a:xfrm>
            <a:off x="3368040" y="1463040"/>
            <a:ext cx="2606040" cy="914400"/>
          </a:xfrm>
          <a:prstGeom prst="homePlat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594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2</a:t>
            </a:r>
          </a:p>
          <a:p>
            <a:pPr algn="l"/>
            <a:r>
              <a:rPr sz="1800" b="1" i="0">
                <a:solidFill>
                  <a:srgbClr val="FFFFFF"/>
                </a:solidFill>
                <a:latin typeface="Calibri"/>
              </a:rPr>
              <a:t>Prove reuse</a:t>
            </a:r>
          </a:p>
        </p:txBody>
      </p:sp>
      <p:sp>
        <p:nvSpPr>
          <p:cNvPr id="15" name="Rounded Rectangle 14"/>
          <p:cNvSpPr/>
          <p:nvPr/>
        </p:nvSpPr>
        <p:spPr>
          <a:xfrm>
            <a:off x="33680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594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Onboard a second domain such as Clinical Operations with minimal effort.</a:t>
            </a:r>
          </a:p>
        </p:txBody>
      </p:sp>
      <p:sp>
        <p:nvSpPr>
          <p:cNvPr id="17" name="Pentagon 16"/>
          <p:cNvSpPr/>
          <p:nvPr/>
        </p:nvSpPr>
        <p:spPr>
          <a:xfrm>
            <a:off x="6187439" y="1463040"/>
            <a:ext cx="2606040" cy="914400"/>
          </a:xfrm>
          <a:prstGeom prst="homePlate">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8879"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3</a:t>
            </a:r>
          </a:p>
          <a:p>
            <a:pPr algn="l"/>
            <a:r>
              <a:rPr sz="1800" b="1" i="0">
                <a:solidFill>
                  <a:srgbClr val="FFFFFF"/>
                </a:solidFill>
                <a:latin typeface="Calibri"/>
              </a:rPr>
              <a:t>Scale out</a:t>
            </a:r>
          </a:p>
        </p:txBody>
      </p:sp>
      <p:sp>
        <p:nvSpPr>
          <p:cNvPr id="19" name="Rounded Rectangle 18"/>
          <p:cNvSpPr/>
          <p:nvPr/>
        </p:nvSpPr>
        <p:spPr>
          <a:xfrm>
            <a:off x="6187439"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879"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Onboard more domains, add a self-service registration flow.</a:t>
            </a:r>
          </a:p>
        </p:txBody>
      </p:sp>
      <p:sp>
        <p:nvSpPr>
          <p:cNvPr id="21" name="Rounded Rectangle 20"/>
          <p:cNvSpPr/>
          <p:nvPr/>
        </p:nvSpPr>
        <p:spPr>
          <a:xfrm>
            <a:off x="9006840" y="1463040"/>
            <a:ext cx="260604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82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4</a:t>
            </a:r>
          </a:p>
          <a:p>
            <a:pPr algn="l"/>
            <a:r>
              <a:rPr sz="1800" b="1" i="0">
                <a:solidFill>
                  <a:srgbClr val="FFFFFF"/>
                </a:solidFill>
                <a:latin typeface="Calibri"/>
              </a:rPr>
              <a:t>Extend</a:t>
            </a:r>
          </a:p>
        </p:txBody>
      </p:sp>
      <p:sp>
        <p:nvSpPr>
          <p:cNvPr id="23" name="Rounded Rectangle 22"/>
          <p:cNvSpPr/>
          <p:nvPr/>
        </p:nvSpPr>
        <p:spPr>
          <a:xfrm>
            <a:off x="90068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Apply the pattern to other platforms and industries.</a:t>
            </a:r>
          </a:p>
        </p:txBody>
      </p:sp>
      <p:sp>
        <p:nvSpPr>
          <p:cNvPr id="25" name="TextBox 24"/>
          <p:cNvSpPr txBox="1"/>
          <p:nvPr/>
        </p:nvSpPr>
        <p:spPr>
          <a:xfrm>
            <a:off x="548640" y="4343400"/>
            <a:ext cx="10972800" cy="365760"/>
          </a:xfrm>
          <a:prstGeom prst="rect">
            <a:avLst/>
          </a:prstGeom>
          <a:noFill/>
        </p:spPr>
        <p:txBody>
          <a:bodyPr wrap="square" anchor="t" lIns="73152" rIns="73152" tIns="36576" bIns="36576">
            <a:spAutoFit/>
          </a:bodyPr>
          <a:lstStyle/>
          <a:p>
            <a:pPr algn="l"/>
            <a:r>
              <a:rPr sz="1600" b="1" i="0">
                <a:solidFill>
                  <a:srgbClr val="0B1F3A"/>
                </a:solidFill>
                <a:latin typeface="Calibri"/>
              </a:rPr>
              <a:t>Business use cases already in scope</a:t>
            </a:r>
          </a:p>
        </p:txBody>
      </p:sp>
      <p:sp>
        <p:nvSpPr>
          <p:cNvPr id="26" name="Rounded Rectangle 25"/>
          <p:cNvSpPr/>
          <p:nvPr/>
        </p:nvSpPr>
        <p:spPr>
          <a:xfrm>
            <a:off x="548640"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864608"/>
            <a:ext cx="73152" cy="124358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Risk &amp; Quality</a:t>
            </a:r>
          </a:p>
        </p:txBody>
      </p:sp>
      <p:sp>
        <p:nvSpPr>
          <p:cNvPr id="29" name="TextBox 28"/>
          <p:cNvSpPr txBox="1"/>
          <p:nvPr/>
        </p:nvSpPr>
        <p:spPr>
          <a:xfrm>
            <a:off x="731520"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Care gaps, quality trends, high-risk populations</a:t>
            </a:r>
          </a:p>
        </p:txBody>
      </p:sp>
      <p:sp>
        <p:nvSpPr>
          <p:cNvPr id="30" name="Rounded Rectangle 29"/>
          <p:cNvSpPr/>
          <p:nvPr/>
        </p:nvSpPr>
        <p:spPr>
          <a:xfrm>
            <a:off x="4297679"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79" y="4864608"/>
            <a:ext cx="73152" cy="1243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59"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Clinical Operations</a:t>
            </a:r>
          </a:p>
        </p:txBody>
      </p:sp>
      <p:sp>
        <p:nvSpPr>
          <p:cNvPr id="33" name="TextBox 32"/>
          <p:cNvSpPr txBox="1"/>
          <p:nvPr/>
        </p:nvSpPr>
        <p:spPr>
          <a:xfrm>
            <a:off x="4480559"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Admissions, ED visits, readmissions, length of stay</a:t>
            </a:r>
          </a:p>
        </p:txBody>
      </p:sp>
      <p:sp>
        <p:nvSpPr>
          <p:cNvPr id="34" name="Rounded Rectangle 33"/>
          <p:cNvSpPr/>
          <p:nvPr/>
        </p:nvSpPr>
        <p:spPr>
          <a:xfrm>
            <a:off x="8046719"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19" y="4864608"/>
            <a:ext cx="73152" cy="124358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Data Operations</a:t>
            </a:r>
          </a:p>
        </p:txBody>
      </p:sp>
      <p:sp>
        <p:nvSpPr>
          <p:cNvPr id="37" name="TextBox 36"/>
          <p:cNvSpPr txBox="1"/>
          <p:nvPr/>
        </p:nvSpPr>
        <p:spPr>
          <a:xfrm>
            <a:off x="8229599"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Pipeline health, missing records, data freshness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97280"/>
            <a:ext cx="10058400" cy="822960"/>
          </a:xfrm>
          <a:prstGeom prst="rect">
            <a:avLst/>
          </a:prstGeom>
          <a:noFill/>
        </p:spPr>
        <p:txBody>
          <a:bodyPr wrap="square" anchor="t" lIns="73152" rIns="73152" tIns="36576" bIns="36576">
            <a:spAutoFit/>
          </a:bodyPr>
          <a:lstStyle/>
          <a:p>
            <a:pPr algn="l"/>
            <a:r>
              <a:rPr sz="3800" b="1" i="0">
                <a:solidFill>
                  <a:srgbClr val="FFFFFF"/>
                </a:solidFill>
                <a:latin typeface="Calibri"/>
              </a:rPr>
              <a:t>Why this deserves to move forward</a:t>
            </a:r>
          </a:p>
        </p:txBody>
      </p:sp>
      <p:sp>
        <p:nvSpPr>
          <p:cNvPr id="5" name="Oval 4"/>
          <p:cNvSpPr/>
          <p:nvPr/>
        </p:nvSpPr>
        <p:spPr>
          <a:xfrm>
            <a:off x="822960" y="237744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7744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1</a:t>
            </a:r>
          </a:p>
        </p:txBody>
      </p:sp>
      <p:sp>
        <p:nvSpPr>
          <p:cNvPr id="7" name="TextBox 6"/>
          <p:cNvSpPr txBox="1"/>
          <p:nvPr/>
        </p:nvSpPr>
        <p:spPr>
          <a:xfrm>
            <a:off x="1463040" y="228600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Clear business value</a:t>
            </a:r>
          </a:p>
        </p:txBody>
      </p:sp>
      <p:sp>
        <p:nvSpPr>
          <p:cNvPr id="8" name="TextBox 7"/>
          <p:cNvSpPr txBox="1"/>
          <p:nvPr/>
        </p:nvSpPr>
        <p:spPr>
          <a:xfrm>
            <a:off x="1463040" y="265176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Faster answers, lower cost, no data movement.</a:t>
            </a:r>
          </a:p>
        </p:txBody>
      </p:sp>
      <p:sp>
        <p:nvSpPr>
          <p:cNvPr id="9" name="Oval 8"/>
          <p:cNvSpPr/>
          <p:nvPr/>
        </p:nvSpPr>
        <p:spPr>
          <a:xfrm>
            <a:off x="822960" y="324612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24612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2</a:t>
            </a:r>
          </a:p>
        </p:txBody>
      </p:sp>
      <p:sp>
        <p:nvSpPr>
          <p:cNvPr id="11" name="TextBox 10"/>
          <p:cNvSpPr txBox="1"/>
          <p:nvPr/>
        </p:nvSpPr>
        <p:spPr>
          <a:xfrm>
            <a:off x="1463040" y="315468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Reusable</a:t>
            </a:r>
          </a:p>
        </p:txBody>
      </p:sp>
      <p:sp>
        <p:nvSpPr>
          <p:cNvPr id="12" name="TextBox 11"/>
          <p:cNvSpPr txBox="1"/>
          <p:nvPr/>
        </p:nvSpPr>
        <p:spPr>
          <a:xfrm>
            <a:off x="1463040" y="352044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Register once, reuse for every domain and team.</a:t>
            </a:r>
          </a:p>
        </p:txBody>
      </p:sp>
      <p:sp>
        <p:nvSpPr>
          <p:cNvPr id="13" name="Oval 12"/>
          <p:cNvSpPr/>
          <p:nvPr/>
        </p:nvSpPr>
        <p:spPr>
          <a:xfrm>
            <a:off x="822960" y="411480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11480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3</a:t>
            </a:r>
          </a:p>
        </p:txBody>
      </p:sp>
      <p:sp>
        <p:nvSpPr>
          <p:cNvPr id="15" name="TextBox 14"/>
          <p:cNvSpPr txBox="1"/>
          <p:nvPr/>
        </p:nvSpPr>
        <p:spPr>
          <a:xfrm>
            <a:off x="1463040" y="402336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Trusted</a:t>
            </a:r>
          </a:p>
        </p:txBody>
      </p:sp>
      <p:sp>
        <p:nvSpPr>
          <p:cNvPr id="16" name="TextBox 15"/>
          <p:cNvSpPr txBox="1"/>
          <p:nvPr/>
        </p:nvSpPr>
        <p:spPr>
          <a:xfrm>
            <a:off x="1463040" y="438912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Governance, quality and Responsible AI built in.</a:t>
            </a:r>
          </a:p>
        </p:txBody>
      </p:sp>
      <p:sp>
        <p:nvSpPr>
          <p:cNvPr id="17" name="Oval 16"/>
          <p:cNvSpPr/>
          <p:nvPr/>
        </p:nvSpPr>
        <p:spPr>
          <a:xfrm>
            <a:off x="822960" y="4983479"/>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83479"/>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4</a:t>
            </a:r>
          </a:p>
        </p:txBody>
      </p:sp>
      <p:sp>
        <p:nvSpPr>
          <p:cNvPr id="19" name="TextBox 18"/>
          <p:cNvSpPr txBox="1"/>
          <p:nvPr/>
        </p:nvSpPr>
        <p:spPr>
          <a:xfrm>
            <a:off x="1463040" y="489204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Ready</a:t>
            </a:r>
          </a:p>
        </p:txBody>
      </p:sp>
      <p:sp>
        <p:nvSpPr>
          <p:cNvPr id="20" name="TextBox 19"/>
          <p:cNvSpPr txBox="1"/>
          <p:nvPr/>
        </p:nvSpPr>
        <p:spPr>
          <a:xfrm>
            <a:off x="1463040" y="525780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A working prototype already proves the approach.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