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1" r:id="rId5"/>
  </p:sldMasterIdLst>
  <p:notesMasterIdLst>
    <p:notesMasterId r:id="rId12"/>
  </p:notesMasterIdLst>
  <p:sldIdLst>
    <p:sldId id="2147482271" r:id="rId6"/>
    <p:sldId id="396" r:id="rId7"/>
    <p:sldId id="398" r:id="rId8"/>
    <p:sldId id="399" r:id="rId9"/>
    <p:sldId id="2147482284" r:id="rId10"/>
    <p:sldId id="2147482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835F98-190E-4C46-9F5D-58BB4F9E45F6}">
          <p14:sldIdLst>
            <p14:sldId id="2147482271"/>
            <p14:sldId id="396"/>
            <p14:sldId id="398"/>
            <p14:sldId id="399"/>
            <p14:sldId id="2147482284"/>
            <p14:sldId id="2147482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F6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23" autoAdjust="0"/>
    <p:restoredTop sz="94660"/>
  </p:normalViewPr>
  <p:slideViewPr>
    <p:cSldViewPr snapToGrid="0">
      <p:cViewPr>
        <p:scale>
          <a:sx n="100" d="100"/>
          <a:sy n="100" d="100"/>
        </p:scale>
        <p:origin x="2800" y="1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DC96D-1327-45EC-8AFF-8BAF31AC4B69}"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BC3481-3F57-407D-B780-13B698FC6E84}" type="slidenum">
              <a:rPr lang="en-US" smtClean="0"/>
              <a:t>‹#›</a:t>
            </a:fld>
            <a:endParaRPr lang="en-US"/>
          </a:p>
        </p:txBody>
      </p:sp>
    </p:spTree>
    <p:extLst>
      <p:ext uri="{BB962C8B-B14F-4D97-AF65-F5344CB8AC3E}">
        <p14:creationId xmlns:p14="http://schemas.microsoft.com/office/powerpoint/2010/main" val="4110866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B9B688F-3869-4ECE-BE40-DE3ADDF3F07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gray">
          <a:xfrm>
            <a:off x="5122888" y="4242380"/>
            <a:ext cx="3298775" cy="1857119"/>
          </a:xfrm>
          <a:prstGeom prst="rect">
            <a:avLst/>
          </a:prstGeom>
          <a:ln w="6350">
            <a:solidFill>
              <a:schemeClr val="accent2"/>
            </a:solidFill>
          </a:ln>
        </p:spPr>
      </p:pic>
      <p:pic>
        <p:nvPicPr>
          <p:cNvPr id="20" name="Picture 19">
            <a:extLst>
              <a:ext uri="{FF2B5EF4-FFF2-40B4-BE49-F238E27FC236}">
                <a16:creationId xmlns:a16="http://schemas.microsoft.com/office/drawing/2014/main" id="{5EB3950A-EFEF-4170-8936-5F3D5792EC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bwMode="gray">
          <a:xfrm>
            <a:off x="8421497" y="4243004"/>
            <a:ext cx="3310128" cy="1856495"/>
          </a:xfrm>
          <a:prstGeom prst="rect">
            <a:avLst/>
          </a:prstGeom>
          <a:ln w="6350">
            <a:solidFill>
              <a:schemeClr val="accent2"/>
            </a:solidFill>
          </a:ln>
        </p:spPr>
      </p:pic>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dirty="0">
              <a:solidFill>
                <a:schemeClr val="bg1"/>
              </a:solidFill>
            </a:endParaRPr>
          </a:p>
        </p:txBody>
      </p:sp>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825509"/>
            <a:ext cx="1758315" cy="1000274"/>
          </a:xfrm>
          <a:prstGeom prst="rect">
            <a:avLst/>
          </a:prstGeom>
          <a:noFill/>
        </p:spPr>
        <p:txBody>
          <a:bodyPr wrap="square" lIns="0" tIns="0" rIns="0" bIns="0" rtlCol="0">
            <a:spAutoFit/>
          </a:bodyPr>
          <a:lstStyle/>
          <a:p>
            <a:pPr algn="l">
              <a:spcBef>
                <a:spcPts val="714"/>
              </a:spcBef>
            </a:pPr>
            <a:r>
              <a:rPr lang="en-US" sz="6500" b="1" dirty="0">
                <a:solidFill>
                  <a:schemeClr val="accent6"/>
                </a:solidFill>
              </a:rPr>
              <a:t>16:9</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598065"/>
            <a:ext cx="3584240" cy="200055"/>
          </a:xfrm>
          <a:prstGeom prst="rect">
            <a:avLst/>
          </a:prstGeom>
          <a:noFill/>
        </p:spPr>
        <p:txBody>
          <a:bodyPr wrap="square" lIns="0" tIns="0" rIns="0" bIns="0" rtlCol="0">
            <a:spAutoFit/>
          </a:bodyPr>
          <a:lstStyle/>
          <a:p>
            <a:pPr algn="l">
              <a:spcBef>
                <a:spcPts val="714"/>
              </a:spcBef>
            </a:pPr>
            <a:r>
              <a:rPr lang="en-US" sz="1300" noProof="0" dirty="0">
                <a:solidFill>
                  <a:schemeClr val="tx1"/>
                </a:solidFill>
              </a:rPr>
              <a:t>Released September 2022</a:t>
            </a:r>
          </a:p>
        </p:txBody>
      </p:sp>
      <p:sp>
        <p:nvSpPr>
          <p:cNvPr id="22" name="TextBox 21">
            <a:extLst>
              <a:ext uri="{FF2B5EF4-FFF2-40B4-BE49-F238E27FC236}">
                <a16:creationId xmlns:a16="http://schemas.microsoft.com/office/drawing/2014/main" id="{3E57223A-B05B-4614-AAEA-675CF58D9E9B}"/>
              </a:ext>
            </a:extLst>
          </p:cNvPr>
          <p:cNvSpPr txBox="1"/>
          <p:nvPr userDrawn="1"/>
        </p:nvSpPr>
        <p:spPr bwMode="gray">
          <a:xfrm>
            <a:off x="824247" y="3597791"/>
            <a:ext cx="2436843" cy="615553"/>
          </a:xfrm>
          <a:prstGeom prst="rect">
            <a:avLst/>
          </a:prstGeom>
          <a:noFill/>
        </p:spPr>
        <p:txBody>
          <a:bodyPr wrap="square" lIns="0" tIns="0" rIns="0" bIns="0" rtlCol="0">
            <a:spAutoFit/>
          </a:bodyPr>
          <a:lstStyle/>
          <a:p>
            <a:pPr algn="l">
              <a:spcBef>
                <a:spcPts val="0"/>
              </a:spcBef>
            </a:pPr>
            <a:r>
              <a:rPr lang="en-US" sz="4000" b="0" dirty="0">
                <a:solidFill>
                  <a:schemeClr val="accent6"/>
                </a:solidFill>
              </a:rPr>
              <a:t>on-screen</a:t>
            </a:r>
          </a:p>
        </p:txBody>
      </p:sp>
      <p:pic>
        <p:nvPicPr>
          <p:cNvPr id="17" name="Picture 16">
            <a:extLst>
              <a:ext uri="{FF2B5EF4-FFF2-40B4-BE49-F238E27FC236}">
                <a16:creationId xmlns:a16="http://schemas.microsoft.com/office/drawing/2014/main" id="{819BE298-EAEE-4EF5-9588-71610469B37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rcRect/>
          <a:stretch/>
        </p:blipFill>
        <p:spPr bwMode="gray">
          <a:xfrm>
            <a:off x="5122888" y="525529"/>
            <a:ext cx="6606362" cy="3714176"/>
          </a:xfrm>
          <a:prstGeom prst="rect">
            <a:avLst/>
          </a:prstGeom>
          <a:ln w="6350">
            <a:solidFill>
              <a:schemeClr val="accent2"/>
            </a:solidFill>
          </a:ln>
        </p:spPr>
      </p:pic>
      <p:pic>
        <p:nvPicPr>
          <p:cNvPr id="2" name="Picture 1">
            <a:extLst>
              <a:ext uri="{FF2B5EF4-FFF2-40B4-BE49-F238E27FC236}">
                <a16:creationId xmlns:a16="http://schemas.microsoft.com/office/drawing/2014/main" id="{208BED3E-B112-7BB0-3F38-A2596E8A24B8}"/>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63844" y="926670"/>
            <a:ext cx="3196828" cy="216179"/>
          </a:xfrm>
          <a:prstGeom prst="rect">
            <a:avLst/>
          </a:prstGeom>
        </p:spPr>
      </p:pic>
    </p:spTree>
    <p:extLst>
      <p:ext uri="{BB962C8B-B14F-4D97-AF65-F5344CB8AC3E}">
        <p14:creationId xmlns:p14="http://schemas.microsoft.com/office/powerpoint/2010/main" val="3061048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cxnSp>
        <p:nvCxnSpPr>
          <p:cNvPr id="10" name="Orange 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dirty="0">
                <a:solidFill>
                  <a:schemeClr val="bg1"/>
                </a:solidFill>
              </a:rPr>
              <a:t>Covers</a:t>
            </a:r>
          </a:p>
        </p:txBody>
      </p:sp>
    </p:spTree>
    <p:extLst>
      <p:ext uri="{BB962C8B-B14F-4D97-AF65-F5344CB8AC3E}">
        <p14:creationId xmlns:p14="http://schemas.microsoft.com/office/powerpoint/2010/main" val="4141810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rgbClr val="FBF9F4"/>
        </a:solidFill>
        <a:effectLst/>
      </p:bgPr>
    </p:bg>
    <p:spTree>
      <p:nvGrpSpPr>
        <p:cNvPr id="1" name=""/>
        <p:cNvGrpSpPr/>
        <p:nvPr/>
      </p:nvGrpSpPr>
      <p:grpSpPr>
        <a:xfrm>
          <a:off x="0" y="0"/>
          <a:ext cx="0" cy="0"/>
          <a:chOff x="0" y="0"/>
          <a:chExt cx="0" cy="0"/>
        </a:xfrm>
      </p:grpSpPr>
      <p:pic>
        <p:nvPicPr>
          <p:cNvPr id="9" name="Picture 8" descr="A picture containing person&#10;&#10;Description automatically generated">
            <a:extLst>
              <a:ext uri="{FF2B5EF4-FFF2-40B4-BE49-F238E27FC236}">
                <a16:creationId xmlns:a16="http://schemas.microsoft.com/office/drawing/2014/main" id="{6B8EE732-2207-CC13-225F-8018224E833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16752" y="0"/>
            <a:ext cx="6175248" cy="6874015"/>
          </a:xfrm>
          <a:prstGeom prst="rect">
            <a:avLst/>
          </a:prstGeom>
        </p:spPr>
      </p:pic>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32546DB0-88F2-4EC8-91FB-D7E51BBBDDDF}"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4" name="Picture 3">
            <a:extLst>
              <a:ext uri="{FF2B5EF4-FFF2-40B4-BE49-F238E27FC236}">
                <a16:creationId xmlns:a16="http://schemas.microsoft.com/office/drawing/2014/main" id="{0ECAEEE3-A1FB-7823-1DAF-767257F19F2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2163117028"/>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02">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5" name="Picture 4">
            <a:extLst>
              <a:ext uri="{FF2B5EF4-FFF2-40B4-BE49-F238E27FC236}">
                <a16:creationId xmlns:a16="http://schemas.microsoft.com/office/drawing/2014/main" id="{34742933-11B8-BC09-B448-83FDD60FA87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16752" y="0"/>
            <a:ext cx="6175248" cy="6874015"/>
          </a:xfrm>
          <a:prstGeom prst="rect">
            <a:avLst/>
          </a:prstGeom>
        </p:spPr>
      </p:pic>
      <p:pic>
        <p:nvPicPr>
          <p:cNvPr id="3" name="Picture 2">
            <a:extLst>
              <a:ext uri="{FF2B5EF4-FFF2-40B4-BE49-F238E27FC236}">
                <a16:creationId xmlns:a16="http://schemas.microsoft.com/office/drawing/2014/main" id="{5C52A805-581F-CA8C-118F-08089089377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4076215192"/>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5" name="Picture 4">
            <a:extLst>
              <a:ext uri="{FF2B5EF4-FFF2-40B4-BE49-F238E27FC236}">
                <a16:creationId xmlns:a16="http://schemas.microsoft.com/office/drawing/2014/main" id="{21CB6C2B-DB46-7BFB-DA6A-18ABD0B3A38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16752" y="0"/>
            <a:ext cx="6175248" cy="6874015"/>
          </a:xfrm>
          <a:prstGeom prst="rect">
            <a:avLst/>
          </a:prstGeom>
        </p:spPr>
      </p:pic>
      <p:pic>
        <p:nvPicPr>
          <p:cNvPr id="3" name="Picture 2">
            <a:extLst>
              <a:ext uri="{FF2B5EF4-FFF2-40B4-BE49-F238E27FC236}">
                <a16:creationId xmlns:a16="http://schemas.microsoft.com/office/drawing/2014/main" id="{55CEF7FA-2235-6CF0-1FE8-46165F02AF1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1722499664"/>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5" name="Picture 4">
            <a:extLst>
              <a:ext uri="{FF2B5EF4-FFF2-40B4-BE49-F238E27FC236}">
                <a16:creationId xmlns:a16="http://schemas.microsoft.com/office/drawing/2014/main" id="{8D9EEC20-2FAD-AB6B-7747-3E26D3C9A23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16752" y="0"/>
            <a:ext cx="6175248" cy="6874015"/>
          </a:xfrm>
          <a:prstGeom prst="rect">
            <a:avLst/>
          </a:prstGeom>
        </p:spPr>
      </p:pic>
      <p:pic>
        <p:nvPicPr>
          <p:cNvPr id="3" name="Picture 2">
            <a:extLst>
              <a:ext uri="{FF2B5EF4-FFF2-40B4-BE49-F238E27FC236}">
                <a16:creationId xmlns:a16="http://schemas.microsoft.com/office/drawing/2014/main" id="{F6E9444A-5A2E-175E-AE92-19FF8574F4D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2621125163"/>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5" name="Picture 4">
            <a:extLst>
              <a:ext uri="{FF2B5EF4-FFF2-40B4-BE49-F238E27FC236}">
                <a16:creationId xmlns:a16="http://schemas.microsoft.com/office/drawing/2014/main" id="{585D96E7-7AD8-CBA5-64E6-3C272873FA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233"/>
          <a:stretch/>
        </p:blipFill>
        <p:spPr>
          <a:xfrm>
            <a:off x="6016752" y="0"/>
            <a:ext cx="6175248" cy="6874015"/>
          </a:xfrm>
          <a:prstGeom prst="rect">
            <a:avLst/>
          </a:prstGeom>
        </p:spPr>
      </p:pic>
      <p:pic>
        <p:nvPicPr>
          <p:cNvPr id="3" name="Picture 2">
            <a:extLst>
              <a:ext uri="{FF2B5EF4-FFF2-40B4-BE49-F238E27FC236}">
                <a16:creationId xmlns:a16="http://schemas.microsoft.com/office/drawing/2014/main" id="{77D9C65A-DE33-2BA1-3707-A1A6F370EAD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1713563684"/>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B7117D9-92EC-4145-9CC6-3498381960D2}" type="datetime1">
              <a:rPr lang="en-US" smtClean="0"/>
              <a:t>9/24/26</a:t>
            </a:fld>
            <a:endParaRPr lang="en-US" dirty="0"/>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dirty="0"/>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dirty="0"/>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4" name="Picture Placeholder 3">
            <a:extLst>
              <a:ext uri="{FF2B5EF4-FFF2-40B4-BE49-F238E27FC236}">
                <a16:creationId xmlns:a16="http://schemas.microsoft.com/office/drawing/2014/main" id="{8CD0ED72-F2BF-4DE5-8A8E-A97770B1058A}"/>
              </a:ext>
            </a:extLst>
          </p:cNvPr>
          <p:cNvSpPr>
            <a:spLocks noGrp="1"/>
          </p:cNvSpPr>
          <p:nvPr>
            <p:ph type="pic" sz="quarter" idx="15" hasCustomPrompt="1"/>
          </p:nvPr>
        </p:nvSpPr>
        <p:spPr bwMode="gray">
          <a:xfrm>
            <a:off x="6019800" y="0"/>
            <a:ext cx="6172200" cy="6858000"/>
          </a:xfrm>
          <a:solidFill>
            <a:schemeClr val="bg1"/>
          </a:solidFill>
        </p:spPr>
        <p:txBody>
          <a:bodyPr lIns="914400" rIns="914400">
            <a:normAutofit/>
          </a:bodyPr>
          <a:lstStyle>
            <a:lvl1pPr algn="ctr">
              <a:defRPr sz="1400"/>
            </a:lvl1pPr>
          </a:lstStyle>
          <a:p>
            <a:br>
              <a:rPr lang="en-US" dirty="0"/>
            </a:br>
            <a:br>
              <a:rPr lang="en-US" dirty="0"/>
            </a:br>
            <a:r>
              <a:rPr lang="en-US" dirty="0"/>
              <a:t>An image should be inserted into this region, but the dimensions should remain unchanged. To access brand approved photography, visit: library.optum.com.</a:t>
            </a:r>
            <a:br>
              <a:rPr lang="en-US" dirty="0"/>
            </a:br>
            <a:br>
              <a:rPr lang="en-US" dirty="0"/>
            </a:br>
            <a:r>
              <a:rPr lang="en-US" dirty="0"/>
              <a:t>Accessing the above library requires users to be a part of a SECURE group: </a:t>
            </a:r>
            <a:r>
              <a:rPr lang="en-US" dirty="0" err="1"/>
              <a:t>Optum_Library_Access_Photography</a:t>
            </a:r>
            <a:r>
              <a:rPr lang="en-US" dirty="0"/>
              <a:t>.</a:t>
            </a:r>
            <a:br>
              <a:rPr lang="en-US" dirty="0"/>
            </a:br>
            <a:br>
              <a:rPr lang="en-US" dirty="0"/>
            </a:br>
            <a:r>
              <a:rPr lang="en-US" dirty="0"/>
              <a:t>Request access via Secure if necessary.</a:t>
            </a:r>
          </a:p>
        </p:txBody>
      </p:sp>
      <p:pic>
        <p:nvPicPr>
          <p:cNvPr id="3" name="Picture 2">
            <a:extLst>
              <a:ext uri="{FF2B5EF4-FFF2-40B4-BE49-F238E27FC236}">
                <a16:creationId xmlns:a16="http://schemas.microsoft.com/office/drawing/2014/main" id="{281024B9-2A7D-1C39-6633-5E935742DC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627715842"/>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 Promise">
    <p:bg>
      <p:bgPr>
        <a:solidFill>
          <a:schemeClr val="bg1"/>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9/24/26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518883"/>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pic>
        <p:nvPicPr>
          <p:cNvPr id="15" name="Picture 8" descr="Icon&#10;&#10;Description automatically generated">
            <a:extLst>
              <a:ext uri="{FF2B5EF4-FFF2-40B4-BE49-F238E27FC236}">
                <a16:creationId xmlns:a16="http://schemas.microsoft.com/office/drawing/2014/main" id="{548F7AB9-C07C-44D3-A45A-509D3091F2E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gray">
          <a:xfrm>
            <a:off x="6019800" y="0"/>
            <a:ext cx="6172200" cy="6858000"/>
          </a:xfrm>
          <a:prstGeom prst="rect">
            <a:avLst/>
          </a:prstGeom>
          <a:solidFill>
            <a:schemeClr val="bg2"/>
          </a:solidFill>
        </p:spPr>
      </p:pic>
      <p:sp>
        <p:nvSpPr>
          <p:cNvPr id="10" name="TextBox 9">
            <a:extLst>
              <a:ext uri="{FF2B5EF4-FFF2-40B4-BE49-F238E27FC236}">
                <a16:creationId xmlns:a16="http://schemas.microsoft.com/office/drawing/2014/main" id="{AAF8C1F7-0FC5-4BD5-896B-5EB9642D0AC1}"/>
              </a:ext>
            </a:extLst>
          </p:cNvPr>
          <p:cNvSpPr txBox="1"/>
          <p:nvPr userDrawn="1"/>
        </p:nvSpPr>
        <p:spPr bwMode="gray">
          <a:xfrm>
            <a:off x="463461" y="3592370"/>
            <a:ext cx="5214527" cy="360099"/>
          </a:xfrm>
          <a:prstGeom prst="rect">
            <a:avLst/>
          </a:prstGeom>
          <a:noFill/>
        </p:spPr>
        <p:txBody>
          <a:bodyPr vert="horz" wrap="square" lIns="0" tIns="0" rIns="0" bIns="0" rtlCol="0">
            <a:spAutoFit/>
          </a:bodyPr>
          <a:lstStyle/>
          <a:p>
            <a:pPr algn="l">
              <a:lnSpc>
                <a:spcPct val="90000"/>
              </a:lnSpc>
              <a:spcBef>
                <a:spcPts val="600"/>
              </a:spcBef>
            </a:pPr>
            <a:r>
              <a:rPr lang="en-US" sz="2600" b="1">
                <a:solidFill>
                  <a:schemeClr val="accent6"/>
                </a:solidFill>
              </a:rPr>
              <a:t>H&amp;C Tech Change Management </a:t>
            </a:r>
          </a:p>
        </p:txBody>
      </p:sp>
      <p:pic>
        <p:nvPicPr>
          <p:cNvPr id="2" name="Picture 1">
            <a:extLst>
              <a:ext uri="{FF2B5EF4-FFF2-40B4-BE49-F238E27FC236}">
                <a16:creationId xmlns:a16="http://schemas.microsoft.com/office/drawing/2014/main" id="{51AAD5F1-30DA-4F09-9B89-70D6AA26F35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65309" y="926670"/>
            <a:ext cx="4626387" cy="312850"/>
          </a:xfrm>
          <a:prstGeom prst="rect">
            <a:avLst/>
          </a:prstGeom>
        </p:spPr>
      </p:pic>
    </p:spTree>
    <p:extLst>
      <p:ext uri="{BB962C8B-B14F-4D97-AF65-F5344CB8AC3E}">
        <p14:creationId xmlns:p14="http://schemas.microsoft.com/office/powerpoint/2010/main" val="2081505716"/>
      </p:ext>
    </p:extLst>
  </p:cSld>
  <p:clrMapOvr>
    <a:masterClrMapping/>
  </p:clrMapOvr>
  <p:extLst>
    <p:ext uri="{DCECCB84-F9BA-43D5-87BE-67443E8EF086}">
      <p15:sldGuideLst xmlns:p15="http://schemas.microsoft.com/office/powerpoint/2012/main">
        <p15:guide id="2" pos="3259">
          <p15:clr>
            <a:srgbClr val="FBAE40"/>
          </p15:clr>
        </p15:guide>
        <p15:guide id="4" orient="horz" pos="2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Orange 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18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BFB956A-C3EE-4CEE-8CC6-BB9E3DB82FC2}" type="datetime1">
              <a:rPr lang="en-US" smtClean="0"/>
              <a:t>9/24/26</a:t>
            </a:fld>
            <a:endParaRPr lang="en-US"/>
          </a:p>
        </p:txBody>
      </p:sp>
      <p:sp>
        <p:nvSpPr>
          <p:cNvPr id="6" name="Slide Number Placeholder 5" hidden="1">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Tree>
    <p:extLst>
      <p:ext uri="{BB962C8B-B14F-4D97-AF65-F5344CB8AC3E}">
        <p14:creationId xmlns:p14="http://schemas.microsoft.com/office/powerpoint/2010/main" val="40279608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FBAE40"/>
          </p15:clr>
        </p15:guide>
        <p15:guide id="2" pos="6576">
          <p15:clr>
            <a:srgbClr val="FBAE40"/>
          </p15:clr>
        </p15:guide>
        <p15:guide id="3" orient="horz" pos="2505">
          <p15:clr>
            <a:srgbClr val="FBAE40"/>
          </p15:clr>
        </p15:guide>
        <p15:guide id="4" orient="horz" pos="267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02">
    <p:bg>
      <p:bgRef idx="1001">
        <a:schemeClr val="bg2"/>
      </p:bgRef>
    </p:b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53CF638C-039E-4A48-A8EB-E2D0262E67A1}" type="datetime1">
              <a:rPr lang="en-US" smtClean="0"/>
              <a:t>9/24/26</a:t>
            </a:fld>
            <a:endParaRPr lang="en-US"/>
          </a:p>
        </p:txBody>
      </p:sp>
      <p:sp>
        <p:nvSpPr>
          <p:cNvPr id="6" name="Slide Number Placeholder 5" hidden="1">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Tree>
    <p:extLst>
      <p:ext uri="{BB962C8B-B14F-4D97-AF65-F5344CB8AC3E}">
        <p14:creationId xmlns:p14="http://schemas.microsoft.com/office/powerpoint/2010/main" val="14182899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FBAE40"/>
          </p15:clr>
        </p15:guide>
        <p15:guide id="2" pos="6577">
          <p15:clr>
            <a:srgbClr val="FBAE40"/>
          </p15:clr>
        </p15:guide>
        <p15:guide id="3" orient="horz" pos="2505">
          <p15:clr>
            <a:srgbClr val="FBAE40"/>
          </p15:clr>
        </p15:guide>
        <p15:guide id="4" orient="horz" pos="267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Standard layouts</a:t>
            </a:r>
          </a:p>
        </p:txBody>
      </p:sp>
      <p:cxnSp>
        <p:nvCxnSpPr>
          <p:cNvPr id="4" name="Orange 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027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8A49B71C-EE28-4F4C-994D-7E3486111388}"/>
              </a:ext>
            </a:extLst>
          </p:cNvPr>
          <p:cNvSpPr>
            <a:spLocks noGrp="1"/>
          </p:cNvSpPr>
          <p:nvPr>
            <p:ph type="dt" sz="half" idx="10"/>
          </p:nvPr>
        </p:nvSpPr>
        <p:spPr/>
        <p:txBody>
          <a:bodyPr/>
          <a:lstStyle/>
          <a:p>
            <a:fld id="{6017203D-7AF0-48CF-9AA1-1400585FFB1C}" type="datetime1">
              <a:rPr lang="en-US" smtClean="0"/>
              <a:t>9/24/26</a:t>
            </a:fld>
            <a:endParaRPr lang="en-US"/>
          </a:p>
        </p:txBody>
      </p:sp>
      <p:sp>
        <p:nvSpPr>
          <p:cNvPr id="5" name="Slide Number Placeholder 4" hidden="1">
            <a:extLst>
              <a:ext uri="{FF2B5EF4-FFF2-40B4-BE49-F238E27FC236}">
                <a16:creationId xmlns:a16="http://schemas.microsoft.com/office/drawing/2014/main" id="{C408F62C-9090-4EA7-BBD2-481410405BBE}"/>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Footer Placeholder 3" hidden="1">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3380927306"/>
      </p:ext>
    </p:extLst>
  </p:cSld>
  <p:clrMapOvr>
    <a:masterClrMapping/>
  </p:clrMapOvr>
  <p:extLst>
    <p:ext uri="{DCECCB84-F9BA-43D5-87BE-67443E8EF086}">
      <p15:sldGuideLst xmlns:p15="http://schemas.microsoft.com/office/powerpoint/2012/main">
        <p15:guide id="1" orient="horz" pos="3776">
          <p15:clr>
            <a:srgbClr val="FBAE40"/>
          </p15:clr>
        </p15:guide>
        <p15:guide id="3" orient="horz" pos="793">
          <p15:clr>
            <a:srgbClr val="FBAE40"/>
          </p15:clr>
        </p15:guide>
        <p15:guide id="4" orient="horz" pos="3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76B3DF85-06AB-4D09-9458-B0A4DE468FDB}"/>
              </a:ext>
            </a:extLst>
          </p:cNvPr>
          <p:cNvSpPr>
            <a:spLocks noGrp="1"/>
          </p:cNvSpPr>
          <p:nvPr>
            <p:ph type="dt" sz="half" idx="10"/>
          </p:nvPr>
        </p:nvSpPr>
        <p:spPr/>
        <p:txBody>
          <a:bodyPr/>
          <a:lstStyle/>
          <a:p>
            <a:fld id="{4E2E38F6-B9D1-4693-91B2-1BF743544C01}" type="datetime1">
              <a:rPr lang="en-US" smtClean="0"/>
              <a:t>9/24/26</a:t>
            </a:fld>
            <a:endParaRPr lang="en-US"/>
          </a:p>
        </p:txBody>
      </p:sp>
      <p:sp>
        <p:nvSpPr>
          <p:cNvPr id="5" name="Slide Number Placeholder 4" hidden="1">
            <a:extLst>
              <a:ext uri="{FF2B5EF4-FFF2-40B4-BE49-F238E27FC236}">
                <a16:creationId xmlns:a16="http://schemas.microsoft.com/office/drawing/2014/main" id="{CFBBDC95-8D51-42CB-B4C0-9B8E3C030FAA}"/>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57198" y="958653"/>
            <a:ext cx="9601200" cy="269304"/>
          </a:xfrm>
        </p:spPr>
        <p:txBody>
          <a:bodyPr wrap="square">
            <a:spAutoFit/>
          </a:bodyPr>
          <a:lstStyle>
            <a:lvl1pPr>
              <a:lnSpc>
                <a:spcPct val="100000"/>
              </a:lnSpc>
              <a:spcBef>
                <a:spcPts val="0"/>
              </a:spcBef>
              <a:defRPr sz="1750" b="1">
                <a:solidFill>
                  <a:schemeClr val="accent6"/>
                </a:solidFill>
              </a:defRPr>
            </a:lvl1pPr>
          </a:lstStyle>
          <a:p>
            <a:pPr lvl="0"/>
            <a:r>
              <a:rPr lang="en-US"/>
              <a:t>Slide subtitle; Arial 17.5pt bold, sentence case (1 line)</a:t>
            </a:r>
          </a:p>
        </p:txBody>
      </p:sp>
      <p:sp>
        <p:nvSpPr>
          <p:cNvPr id="2" name="Title 1">
            <a:extLst>
              <a:ext uri="{FF2B5EF4-FFF2-40B4-BE49-F238E27FC236}">
                <a16:creationId xmlns:a16="http://schemas.microsoft.com/office/drawing/2014/main" id="{70871777-1CC4-46CB-8EB7-B1DE3217D445}"/>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2341265776"/>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603">
          <p15:clr>
            <a:srgbClr val="FBAE40"/>
          </p15:clr>
        </p15:guide>
        <p15:guide id="3" orient="horz" pos="1014">
          <p15:clr>
            <a:srgbClr val="FBAE40"/>
          </p15:clr>
        </p15:guide>
        <p15:guide id="4" orient="horz" pos="34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371431DB-E6A6-49C5-8087-27C6A3B2A54B}"/>
              </a:ext>
            </a:extLst>
          </p:cNvPr>
          <p:cNvSpPr>
            <a:spLocks noGrp="1"/>
          </p:cNvSpPr>
          <p:nvPr>
            <p:ph type="dt" sz="half" idx="10"/>
          </p:nvPr>
        </p:nvSpPr>
        <p:spPr/>
        <p:txBody>
          <a:bodyPr/>
          <a:lstStyle/>
          <a:p>
            <a:fld id="{C9C2E934-DCF6-42A5-85FE-8C1CB869FF21}" type="datetime1">
              <a:rPr lang="en-US" smtClean="0"/>
              <a:t>9/24/26</a:t>
            </a:fld>
            <a:endParaRPr lang="en-US"/>
          </a:p>
        </p:txBody>
      </p:sp>
      <p:sp>
        <p:nvSpPr>
          <p:cNvPr id="8" name="Slide Number Placeholder 7" hidden="1">
            <a:extLst>
              <a:ext uri="{FF2B5EF4-FFF2-40B4-BE49-F238E27FC236}">
                <a16:creationId xmlns:a16="http://schemas.microsoft.com/office/drawing/2014/main" id="{8B45D769-A041-452F-B2B9-DCBF82634579}"/>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2F19E74A-0080-4967-9833-9ACB7226DDE7}"/>
              </a:ext>
            </a:extLst>
          </p:cNvPr>
          <p:cNvSpPr>
            <a:spLocks noGrp="1"/>
          </p:cNvSpPr>
          <p:nvPr>
            <p:ph type="ftr" sz="quarter" idx="11"/>
          </p:nvPr>
        </p:nvSpPr>
        <p:spPr/>
        <p:txBody>
          <a:bodyPr/>
          <a:lstStyle/>
          <a:p>
            <a:r>
              <a:rPr lang="en-US"/>
              <a:t>Confidential property of Optum. Do not distribute or reproduce without express permission from Optum.</a:t>
            </a:r>
          </a:p>
        </p:txBody>
      </p:sp>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57199" y="555639"/>
            <a:ext cx="9601200" cy="609398"/>
          </a:xfrm>
        </p:spPr>
        <p:txBody>
          <a:bodyPr/>
          <a:lstStyle>
            <a:lvl1pPr>
              <a:defRPr/>
            </a:lvl1pPr>
          </a:lstStyle>
          <a:p>
            <a:r>
              <a:rPr lang="en-US"/>
              <a:t>Slide title; Arial 22pt bold, sentence case. This layout accommodates a slide title that extends downward to a second line (max. 2 lines).</a:t>
            </a:r>
          </a:p>
        </p:txBody>
      </p:sp>
    </p:spTree>
    <p:extLst>
      <p:ext uri="{BB962C8B-B14F-4D97-AF65-F5344CB8AC3E}">
        <p14:creationId xmlns:p14="http://schemas.microsoft.com/office/powerpoint/2010/main" val="1277668490"/>
      </p:ext>
    </p:extLst>
  </p:cSld>
  <p:clrMapOvr>
    <a:masterClrMapping/>
  </p:clrMapOvr>
  <p:extLst>
    <p:ext uri="{DCECCB84-F9BA-43D5-87BE-67443E8EF086}">
      <p15:sldGuideLst xmlns:p15="http://schemas.microsoft.com/office/powerpoint/2012/main">
        <p15:guide id="1" orient="horz" pos="3776">
          <p15:clr>
            <a:srgbClr val="FBAE40"/>
          </p15:clr>
        </p15:guide>
        <p15:guide id="3" orient="horz" pos="1016">
          <p15:clr>
            <a:srgbClr val="FBAE40"/>
          </p15:clr>
        </p15:guide>
        <p15:guide id="4" orient="horz" pos="3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91B49150-1D91-41AC-9706-7B003B9B505B}" type="datetime1">
              <a:rPr lang="en-US" smtClean="0"/>
              <a:t>9/24/26</a:t>
            </a:fld>
            <a:endParaRPr lang="en-US"/>
          </a:p>
        </p:txBody>
      </p:sp>
      <p:sp>
        <p:nvSpPr>
          <p:cNvPr id="6" name="Slide Number Placeholder 5" hidden="1">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Content Placeholder 2">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3F07F8-7529-498B-8D34-E0851EDB82CA}"/>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2910306707"/>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792">
          <p15:clr>
            <a:srgbClr val="FBAE40"/>
          </p15:clr>
        </p15:guide>
        <p15:guide id="3" orient="horz" pos="3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0979BA85-8310-4250-AB3A-A97C30E154CC}" type="datetime1">
              <a:rPr lang="en-US" smtClean="0"/>
              <a:t>9/24/26</a:t>
            </a:fld>
            <a:endParaRPr lang="en-US"/>
          </a:p>
        </p:txBody>
      </p:sp>
      <p:sp>
        <p:nvSpPr>
          <p:cNvPr id="4" name="Slide Number Placeholder 3" hidden="1">
            <a:extLst>
              <a:ext uri="{FF2B5EF4-FFF2-40B4-BE49-F238E27FC236}">
                <a16:creationId xmlns:a16="http://schemas.microsoft.com/office/drawing/2014/main" id="{7F8E785F-27DE-459F-AC73-FAA76F4C475F}"/>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3" name="Footer Placeholder 2" hidden="1">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Tree>
    <p:extLst>
      <p:ext uri="{BB962C8B-B14F-4D97-AF65-F5344CB8AC3E}">
        <p14:creationId xmlns:p14="http://schemas.microsoft.com/office/powerpoint/2010/main" val="312985992"/>
      </p:ext>
    </p:extLst>
  </p:cSld>
  <p:clrMapOvr>
    <a:masterClrMapping/>
  </p:clrMapOvr>
  <p:extLst>
    <p:ext uri="{DCECCB84-F9BA-43D5-87BE-67443E8EF086}">
      <p15:sldGuideLst xmlns:p15="http://schemas.microsoft.com/office/powerpoint/2012/main">
        <p15:guide id="1" orient="horz" pos="3776">
          <p15:clr>
            <a:srgbClr val="FBAE40"/>
          </p15:clr>
        </p15:guide>
        <p15:guide id="4" orient="horz" pos="3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Orange 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8415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Tree>
    <p:extLst>
      <p:ext uri="{BB962C8B-B14F-4D97-AF65-F5344CB8AC3E}">
        <p14:creationId xmlns:p14="http://schemas.microsoft.com/office/powerpoint/2010/main" val="802687190"/>
      </p:ext>
    </p:extLst>
  </p:cSld>
  <p:clrMapOvr>
    <a:masterClrMapping/>
  </p:clrMapOvr>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pic>
        <p:nvPicPr>
          <p:cNvPr id="12" name="Quote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13" name="Picture Placeholder 7">
            <a:extLst>
              <a:ext uri="{FF2B5EF4-FFF2-40B4-BE49-F238E27FC236}">
                <a16:creationId xmlns:a16="http://schemas.microsoft.com/office/drawing/2014/main" id="{D951BDD7-02E7-4695-9F59-170E730D05B2}"/>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accent6"/>
                </a:solidFill>
              </a:defRPr>
            </a:lvl1pPr>
          </a:lstStyle>
          <a:p>
            <a:r>
              <a:rPr lang="en-US"/>
              <a:t>Insert attribution photo</a:t>
            </a:r>
          </a:p>
        </p:txBody>
      </p:sp>
    </p:spTree>
    <p:extLst>
      <p:ext uri="{BB962C8B-B14F-4D97-AF65-F5344CB8AC3E}">
        <p14:creationId xmlns:p14="http://schemas.microsoft.com/office/powerpoint/2010/main" val="4160094940"/>
      </p:ext>
    </p:extLst>
  </p:cSld>
  <p:clrMapOvr>
    <a:masterClrMapping/>
  </p:clrMapOvr>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Tree>
    <p:extLst>
      <p:ext uri="{BB962C8B-B14F-4D97-AF65-F5344CB8AC3E}">
        <p14:creationId xmlns:p14="http://schemas.microsoft.com/office/powerpoint/2010/main" val="2460284349"/>
      </p:ext>
    </p:extLst>
  </p:cSld>
  <p:clrMapOvr>
    <a:masterClrMapping/>
  </p:clrMapOvr>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with Photo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pic>
        <p:nvPicPr>
          <p:cNvPr id="12" name="Quote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13" name="Picture Placeholder 7">
            <a:extLst>
              <a:ext uri="{FF2B5EF4-FFF2-40B4-BE49-F238E27FC236}">
                <a16:creationId xmlns:a16="http://schemas.microsoft.com/office/drawing/2014/main" id="{D951BDD7-02E7-4695-9F59-170E730D05B2}"/>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tx1"/>
                </a:solidFill>
              </a:defRPr>
            </a:lvl1pPr>
          </a:lstStyle>
          <a:p>
            <a:r>
              <a:rPr lang="en-US"/>
              <a:t>Insert attribution photo</a:t>
            </a:r>
          </a:p>
        </p:txBody>
      </p:sp>
    </p:spTree>
    <p:extLst>
      <p:ext uri="{BB962C8B-B14F-4D97-AF65-F5344CB8AC3E}">
        <p14:creationId xmlns:p14="http://schemas.microsoft.com/office/powerpoint/2010/main" val="1782021804"/>
      </p:ext>
    </p:extLst>
  </p:cSld>
  <p:clrMapOvr>
    <a:masterClrMapping/>
  </p:clrMapOvr>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036ADD23-4A78-494A-B65C-40278CD67B03}"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3924300"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3924300" y="3708424"/>
            <a:ext cx="4343400" cy="230832"/>
          </a:xfrm>
        </p:spPr>
        <p:txBody>
          <a:bodyPr>
            <a:spAutoFit/>
          </a:bodyPr>
          <a:lstStyle>
            <a:lvl1pPr algn="ctr">
              <a:defRPr sz="1500"/>
            </a:lvl1pPr>
          </a:lstStyle>
          <a:p>
            <a:pPr lvl="0"/>
            <a:r>
              <a:rPr lang="en-US"/>
              <a:t>Context about fact</a:t>
            </a:r>
          </a:p>
        </p:txBody>
      </p:sp>
    </p:spTree>
    <p:extLst>
      <p:ext uri="{BB962C8B-B14F-4D97-AF65-F5344CB8AC3E}">
        <p14:creationId xmlns:p14="http://schemas.microsoft.com/office/powerpoint/2010/main" val="4136260437"/>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036ADD23-4A78-494A-B65C-40278CD67B03}" type="datetime1">
              <a:rPr lang="en-US" smtClean="0"/>
              <a:t>9/24/26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lvl1pPr>
          </a:lstStyle>
          <a:p>
            <a:pPr lvl="0"/>
            <a:r>
              <a:rPr lang="en-US"/>
              <a:t>Context about fact</a:t>
            </a:r>
          </a:p>
        </p:txBody>
      </p:sp>
      <p:sp>
        <p:nvSpPr>
          <p:cNvPr id="7" name="Text Placeholder 5">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8" name="Text Placeholder 8">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lvl1pPr>
          </a:lstStyle>
          <a:p>
            <a:pPr lvl="0"/>
            <a:r>
              <a:rPr lang="en-US"/>
              <a:t>Context about fact</a:t>
            </a:r>
          </a:p>
        </p:txBody>
      </p:sp>
    </p:spTree>
    <p:extLst>
      <p:ext uri="{BB962C8B-B14F-4D97-AF65-F5344CB8AC3E}">
        <p14:creationId xmlns:p14="http://schemas.microsoft.com/office/powerpoint/2010/main" val="2545546439"/>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Orange 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7516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Boilerplate">
            <a:extLst>
              <a:ext uri="{FF2B5EF4-FFF2-40B4-BE49-F238E27FC236}">
                <a16:creationId xmlns:a16="http://schemas.microsoft.com/office/drawing/2014/main" id="{DC063E36-7B48-8833-EB88-4EE7E5D74607}"/>
              </a:ext>
            </a:extLst>
          </p:cNvPr>
          <p:cNvSpPr txBox="1"/>
          <p:nvPr userDrawn="1"/>
        </p:nvSpPr>
        <p:spPr bwMode="gray">
          <a:xfrm>
            <a:off x="3765009" y="6297338"/>
            <a:ext cx="4661981" cy="107722"/>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 2022 Optum, Inc. All rights reserved. </a:t>
            </a:r>
          </a:p>
        </p:txBody>
      </p:sp>
      <p:pic>
        <p:nvPicPr>
          <p:cNvPr id="4" name="Picture 3">
            <a:extLst>
              <a:ext uri="{FF2B5EF4-FFF2-40B4-BE49-F238E27FC236}">
                <a16:creationId xmlns:a16="http://schemas.microsoft.com/office/drawing/2014/main" id="{23800D8D-BEE9-5149-EC15-25482CADE3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275106" y="2958638"/>
            <a:ext cx="5641785" cy="381514"/>
          </a:xfrm>
          <a:prstGeom prst="rect">
            <a:avLst/>
          </a:prstGeom>
        </p:spPr>
      </p:pic>
    </p:spTree>
    <p:extLst>
      <p:ext uri="{BB962C8B-B14F-4D97-AF65-F5344CB8AC3E}">
        <p14:creationId xmlns:p14="http://schemas.microsoft.com/office/powerpoint/2010/main" val="37672020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C4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Orange 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74816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AF0C85-44B2-4CC0-932D-2F9ADF1FFD31}"/>
              </a:ext>
            </a:extLst>
          </p:cNvPr>
          <p:cNvSpPr>
            <a:spLocks noGrp="1"/>
          </p:cNvSpPr>
          <p:nvPr>
            <p:ph type="subTitle" idx="1" hasCustomPrompt="1"/>
          </p:nvPr>
        </p:nvSpPr>
        <p:spPr bwMode="gray">
          <a:xfrm>
            <a:off x="1524000" y="3602038"/>
            <a:ext cx="9144000" cy="1130600"/>
          </a:xfrm>
        </p:spPr>
        <p:txBody>
          <a:bodyPr/>
          <a:lstStyle>
            <a:lvl1pPr marL="0" indent="0" algn="ctr">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This layout is not intended for use within Optum presentations.</a:t>
            </a:r>
          </a:p>
        </p:txBody>
      </p:sp>
      <p:sp>
        <p:nvSpPr>
          <p:cNvPr id="4" name="Date Placeholder 3">
            <a:extLst>
              <a:ext uri="{FF2B5EF4-FFF2-40B4-BE49-F238E27FC236}">
                <a16:creationId xmlns:a16="http://schemas.microsoft.com/office/drawing/2014/main" id="{372CD502-C58E-4BBA-9A0D-8801688B5209}"/>
              </a:ext>
            </a:extLst>
          </p:cNvPr>
          <p:cNvSpPr>
            <a:spLocks noGrp="1"/>
          </p:cNvSpPr>
          <p:nvPr>
            <p:ph type="dt" sz="half" idx="10"/>
          </p:nvPr>
        </p:nvSpPr>
        <p:spPr bwMode="gray"/>
        <p:txBody>
          <a:bodyPr/>
          <a:lstStyle/>
          <a:p>
            <a:fld id="{62F8985E-27B6-4353-B1C2-FF7D91FB676E}" type="datetime1">
              <a:rPr lang="en-US" smtClean="0"/>
              <a:t>9/24/26</a:t>
            </a:fld>
            <a:endParaRPr lang="en-US"/>
          </a:p>
        </p:txBody>
      </p:sp>
      <p:sp>
        <p:nvSpPr>
          <p:cNvPr id="5" name="Footer Placeholder 4">
            <a:extLst>
              <a:ext uri="{FF2B5EF4-FFF2-40B4-BE49-F238E27FC236}">
                <a16:creationId xmlns:a16="http://schemas.microsoft.com/office/drawing/2014/main" id="{6A126410-8F3C-4F0B-B7C5-2D48B3EF1A6A}"/>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D02FE67C-069E-48A9-B723-DEF10C50C01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57B99AAD-1C70-4066-97B8-7CB0AFCDBCB0}"/>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CC7F2822-6E66-4825-AC91-8ACF317F5B78}"/>
              </a:ext>
              <a:ext uri="{C183D7F6-B498-43B3-948B-1728B52AA6E4}">
                <adec:decorative xmlns:adec="http://schemas.microsoft.com/office/drawing/2017/decorative" val="0"/>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
        <p:nvSpPr>
          <p:cNvPr id="2" name="Title 1">
            <a:extLst>
              <a:ext uri="{FF2B5EF4-FFF2-40B4-BE49-F238E27FC236}">
                <a16:creationId xmlns:a16="http://schemas.microsoft.com/office/drawing/2014/main" id="{B7568664-50C7-4DB8-8C47-CFB226FB188C}"/>
              </a:ext>
            </a:extLst>
          </p:cNvPr>
          <p:cNvSpPr>
            <a:spLocks noGrp="1"/>
          </p:cNvSpPr>
          <p:nvPr>
            <p:ph type="ctrTitle" hasCustomPrompt="1"/>
          </p:nvPr>
        </p:nvSpPr>
        <p:spPr bwMode="gray">
          <a:xfrm>
            <a:off x="1524000" y="2886715"/>
            <a:ext cx="9144000" cy="623248"/>
          </a:xfrm>
        </p:spPr>
        <p:txBody>
          <a:bodyPr anchor="b"/>
          <a:lstStyle>
            <a:lvl1pPr algn="ctr">
              <a:defRPr sz="4500"/>
            </a:lvl1pPr>
          </a:lstStyle>
          <a:p>
            <a:r>
              <a:rPr lang="en-US"/>
              <a:t>Not for use. Microsoft default.</a:t>
            </a:r>
          </a:p>
        </p:txBody>
      </p:sp>
    </p:spTree>
    <p:extLst>
      <p:ext uri="{BB962C8B-B14F-4D97-AF65-F5344CB8AC3E}">
        <p14:creationId xmlns:p14="http://schemas.microsoft.com/office/powerpoint/2010/main" val="1672243130"/>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14AA-3234-4FFB-B4D3-512ED6FA45CB}"/>
              </a:ext>
            </a:extLst>
          </p:cNvPr>
          <p:cNvSpPr>
            <a:spLocks noGrp="1"/>
          </p:cNvSpPr>
          <p:nvPr>
            <p:ph type="title" hasCustomPrompt="1"/>
          </p:nvPr>
        </p:nvSpPr>
        <p:spPr bwMode="gray">
          <a:xfrm>
            <a:off x="457199" y="555639"/>
            <a:ext cx="11274425" cy="304699"/>
          </a:xfrm>
        </p:spPr>
        <p:txBody>
          <a:bodyPr/>
          <a:lstStyle>
            <a:lvl1pPr>
              <a:defRPr/>
            </a:lvl1pPr>
          </a:lstStyle>
          <a:p>
            <a:r>
              <a:rPr lang="en-US"/>
              <a:t>Not for use. This is a Microsoft default.</a:t>
            </a:r>
          </a:p>
        </p:txBody>
      </p:sp>
      <p:sp>
        <p:nvSpPr>
          <p:cNvPr id="3" name="Content Placeholder 2">
            <a:extLst>
              <a:ext uri="{FF2B5EF4-FFF2-40B4-BE49-F238E27FC236}">
                <a16:creationId xmlns:a16="http://schemas.microsoft.com/office/drawing/2014/main" id="{4ABCB17D-A7A6-41F6-83CB-566500CE0480}"/>
              </a:ext>
            </a:extLst>
          </p:cNvPr>
          <p:cNvSpPr>
            <a:spLocks noGrp="1"/>
          </p:cNvSpPr>
          <p:nvPr>
            <p:ph sz="half" idx="1" hasCustomPrompt="1"/>
          </p:nvPr>
        </p:nvSpPr>
        <p:spPr bwMode="gray">
          <a:xfrm>
            <a:off x="838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F25F9-31AF-45D7-90BD-D4D634628BC9}"/>
              </a:ext>
            </a:extLst>
          </p:cNvPr>
          <p:cNvSpPr>
            <a:spLocks noGrp="1"/>
          </p:cNvSpPr>
          <p:nvPr>
            <p:ph sz="half" idx="2" hasCustomPrompt="1"/>
          </p:nvPr>
        </p:nvSpPr>
        <p:spPr bwMode="gray">
          <a:xfrm>
            <a:off x="6172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220815-B520-464A-809E-9A762EE28066}"/>
              </a:ext>
            </a:extLst>
          </p:cNvPr>
          <p:cNvSpPr>
            <a:spLocks noGrp="1"/>
          </p:cNvSpPr>
          <p:nvPr>
            <p:ph type="dt" sz="half" idx="10"/>
          </p:nvPr>
        </p:nvSpPr>
        <p:spPr bwMode="gray"/>
        <p:txBody>
          <a:bodyPr/>
          <a:lstStyle/>
          <a:p>
            <a:fld id="{DFC8DD5C-8FB7-4018-9662-98EAE87793EC}" type="datetime1">
              <a:rPr lang="en-US" smtClean="0"/>
              <a:t>9/24/26</a:t>
            </a:fld>
            <a:endParaRPr lang="en-US"/>
          </a:p>
        </p:txBody>
      </p:sp>
      <p:sp>
        <p:nvSpPr>
          <p:cNvPr id="6" name="Footer Placeholder 5">
            <a:extLst>
              <a:ext uri="{FF2B5EF4-FFF2-40B4-BE49-F238E27FC236}">
                <a16:creationId xmlns:a16="http://schemas.microsoft.com/office/drawing/2014/main" id="{562DD608-68C8-4550-8B5B-0AD9AE479018}"/>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469831F6-C4D6-424D-B187-C11B57AE40D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8" name="TextBox 7">
            <a:extLst>
              <a:ext uri="{FF2B5EF4-FFF2-40B4-BE49-F238E27FC236}">
                <a16:creationId xmlns:a16="http://schemas.microsoft.com/office/drawing/2014/main" id="{CD70083E-4733-4C8E-B27B-09B287FF1688}"/>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9" name="Multiply 45" descr="A large &quot;x&quot; indicating that this layout is not approved for use.">
            <a:extLst>
              <a:ext uri="{FF2B5EF4-FFF2-40B4-BE49-F238E27FC236}">
                <a16:creationId xmlns:a16="http://schemas.microsoft.com/office/drawing/2014/main" id="{E3B84647-6F26-4054-9D48-B442E97479F6}"/>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50800" cap="rnd"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1784011865"/>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E2E3-6B30-46B0-B4B4-027D6D07175E}"/>
              </a:ext>
            </a:extLst>
          </p:cNvPr>
          <p:cNvSpPr>
            <a:spLocks noGrp="1"/>
          </p:cNvSpPr>
          <p:nvPr>
            <p:ph type="title" hasCustomPrompt="1"/>
          </p:nvPr>
        </p:nvSpPr>
        <p:spPr bwMode="gray">
          <a:xfrm>
            <a:off x="457199" y="555639"/>
            <a:ext cx="11274426" cy="304699"/>
          </a:xfrm>
        </p:spPr>
        <p:txBody>
          <a:bodyPr/>
          <a:lstStyle>
            <a:lvl1pPr>
              <a:defRPr/>
            </a:lvl1pPr>
          </a:lstStyle>
          <a:p>
            <a:r>
              <a:rPr lang="en-US"/>
              <a:t>Not for use. This is a Microsoft default.</a:t>
            </a:r>
          </a:p>
        </p:txBody>
      </p:sp>
      <p:sp>
        <p:nvSpPr>
          <p:cNvPr id="3" name="Text Placeholder 2">
            <a:extLst>
              <a:ext uri="{FF2B5EF4-FFF2-40B4-BE49-F238E27FC236}">
                <a16:creationId xmlns:a16="http://schemas.microsoft.com/office/drawing/2014/main" id="{FCE00B74-BF12-4966-8AA7-173AC3483119}"/>
              </a:ext>
            </a:extLst>
          </p:cNvPr>
          <p:cNvSpPr>
            <a:spLocks noGrp="1"/>
          </p:cNvSpPr>
          <p:nvPr>
            <p:ph type="body" idx="1"/>
          </p:nvPr>
        </p:nvSpPr>
        <p:spPr bwMode="gray">
          <a:xfrm>
            <a:off x="839787" y="1469346"/>
            <a:ext cx="5184132"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24F8A-D5E1-459D-8864-ECDE8305BEE3}"/>
              </a:ext>
            </a:extLst>
          </p:cNvPr>
          <p:cNvSpPr>
            <a:spLocks noGrp="1"/>
          </p:cNvSpPr>
          <p:nvPr>
            <p:ph sz="half" idx="2" hasCustomPrompt="1"/>
          </p:nvPr>
        </p:nvSpPr>
        <p:spPr bwMode="gray">
          <a:xfrm>
            <a:off x="839787" y="2293257"/>
            <a:ext cx="5184132" cy="352784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AA130C-8D3A-4BEE-B54E-02D7DF9EEB6D}"/>
              </a:ext>
            </a:extLst>
          </p:cNvPr>
          <p:cNvSpPr>
            <a:spLocks noGrp="1"/>
          </p:cNvSpPr>
          <p:nvPr>
            <p:ph type="body" sz="quarter" idx="3"/>
          </p:nvPr>
        </p:nvSpPr>
        <p:spPr bwMode="gray">
          <a:xfrm>
            <a:off x="6172200" y="1469346"/>
            <a:ext cx="5183188"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475553-3346-44A6-9C9C-B79A3C596C9C}"/>
              </a:ext>
            </a:extLst>
          </p:cNvPr>
          <p:cNvSpPr>
            <a:spLocks noGrp="1"/>
          </p:cNvSpPr>
          <p:nvPr>
            <p:ph sz="quarter" idx="4" hasCustomPrompt="1"/>
          </p:nvPr>
        </p:nvSpPr>
        <p:spPr bwMode="gray">
          <a:xfrm>
            <a:off x="6172200" y="2293258"/>
            <a:ext cx="5183188" cy="3527844"/>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1E6BBF-F3E7-49D2-A6BF-EC70F1823AB9}"/>
              </a:ext>
            </a:extLst>
          </p:cNvPr>
          <p:cNvSpPr>
            <a:spLocks noGrp="1"/>
          </p:cNvSpPr>
          <p:nvPr>
            <p:ph type="dt" sz="half" idx="10"/>
          </p:nvPr>
        </p:nvSpPr>
        <p:spPr bwMode="gray"/>
        <p:txBody>
          <a:bodyPr/>
          <a:lstStyle/>
          <a:p>
            <a:fld id="{BA550BF9-5CC0-45E0-A929-0C64F4DB7AB1}" type="datetime1">
              <a:rPr lang="en-US" smtClean="0"/>
              <a:t>9/24/26</a:t>
            </a:fld>
            <a:endParaRPr lang="en-US"/>
          </a:p>
        </p:txBody>
      </p:sp>
      <p:sp>
        <p:nvSpPr>
          <p:cNvPr id="8" name="Footer Placeholder 7">
            <a:extLst>
              <a:ext uri="{FF2B5EF4-FFF2-40B4-BE49-F238E27FC236}">
                <a16:creationId xmlns:a16="http://schemas.microsoft.com/office/drawing/2014/main" id="{208D5CB4-1D71-40A2-9087-19CAB8292F6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64858ABD-186B-4697-ADA0-B1768243BB6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10" name="TextBox 9">
            <a:extLst>
              <a:ext uri="{FF2B5EF4-FFF2-40B4-BE49-F238E27FC236}">
                <a16:creationId xmlns:a16="http://schemas.microsoft.com/office/drawing/2014/main" id="{E00E51F3-FA16-4CC6-97C6-6EECCB9AFCB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1" name="Multiply 45" descr="A large &quot;x&quot; indicating that this layout is not approved for use.">
            <a:extLst>
              <a:ext uri="{FF2B5EF4-FFF2-40B4-BE49-F238E27FC236}">
                <a16:creationId xmlns:a16="http://schemas.microsoft.com/office/drawing/2014/main" id="{08AB274D-12CA-4F3C-A2F4-FCB00909EC9C}"/>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4160160845"/>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8FED-F893-4202-9729-070B73F89088}"/>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3" name="Content Placeholder 2">
            <a:extLst>
              <a:ext uri="{FF2B5EF4-FFF2-40B4-BE49-F238E27FC236}">
                <a16:creationId xmlns:a16="http://schemas.microsoft.com/office/drawing/2014/main" id="{FAAB0851-1B55-4EF9-9DB6-030D02FC7FC5}"/>
              </a:ext>
            </a:extLst>
          </p:cNvPr>
          <p:cNvSpPr>
            <a:spLocks noGrp="1"/>
          </p:cNvSpPr>
          <p:nvPr>
            <p:ph idx="1" hasCustomPrompt="1"/>
          </p:nvPr>
        </p:nvSpPr>
        <p:spPr bwMode="gray">
          <a:xfrm>
            <a:off x="5183188" y="959471"/>
            <a:ext cx="6172200" cy="4531785"/>
          </a:xfrm>
        </p:spPr>
        <p:txBody>
          <a:bodyPr/>
          <a:lstStyle>
            <a:lvl1pPr>
              <a:defRPr sz="1800"/>
            </a:lvl1pPr>
            <a:lvl2pPr>
              <a:defRPr sz="18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CF252D-B8C8-459E-A3CF-ADE2DCB40929}"/>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5" name="Date Placeholder 4">
            <a:extLst>
              <a:ext uri="{FF2B5EF4-FFF2-40B4-BE49-F238E27FC236}">
                <a16:creationId xmlns:a16="http://schemas.microsoft.com/office/drawing/2014/main" id="{B5E4B62D-C99F-4CC3-9E19-1114B3E55C1F}"/>
              </a:ext>
            </a:extLst>
          </p:cNvPr>
          <p:cNvSpPr>
            <a:spLocks noGrp="1"/>
          </p:cNvSpPr>
          <p:nvPr>
            <p:ph type="dt" sz="half" idx="10"/>
          </p:nvPr>
        </p:nvSpPr>
        <p:spPr bwMode="gray"/>
        <p:txBody>
          <a:bodyPr/>
          <a:lstStyle/>
          <a:p>
            <a:fld id="{49DC409E-992A-4539-8EF9-A32E9543A062}" type="datetime1">
              <a:rPr lang="en-US" smtClean="0"/>
              <a:t>9/24/26</a:t>
            </a:fld>
            <a:endParaRPr lang="en-US"/>
          </a:p>
        </p:txBody>
      </p:sp>
      <p:sp>
        <p:nvSpPr>
          <p:cNvPr id="6" name="Footer Placeholder 5">
            <a:extLst>
              <a:ext uri="{FF2B5EF4-FFF2-40B4-BE49-F238E27FC236}">
                <a16:creationId xmlns:a16="http://schemas.microsoft.com/office/drawing/2014/main" id="{1F63B6A4-E537-4167-B34F-EDFE426E1E8F}"/>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D8D5DB69-D84E-44DD-8501-317F2D6B91BC}"/>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9" name="TextBox 8">
            <a:extLst>
              <a:ext uri="{FF2B5EF4-FFF2-40B4-BE49-F238E27FC236}">
                <a16:creationId xmlns:a16="http://schemas.microsoft.com/office/drawing/2014/main" id="{2A212493-ED92-4B1B-901F-F8694A916BC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0" name="Multiply 45" descr="A large &quot;x&quot; indicating that this layout is not approved for use.">
            <a:extLst>
              <a:ext uri="{FF2B5EF4-FFF2-40B4-BE49-F238E27FC236}">
                <a16:creationId xmlns:a16="http://schemas.microsoft.com/office/drawing/2014/main" id="{6CB82732-EB0E-440B-A61E-F00B16BF0965}"/>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358588677"/>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F256-EE8B-4C42-8A9F-D709E45FC9CE}"/>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3" name="Picture Placeholder 2">
            <a:extLst>
              <a:ext uri="{FF2B5EF4-FFF2-40B4-BE49-F238E27FC236}">
                <a16:creationId xmlns:a16="http://schemas.microsoft.com/office/drawing/2014/main" id="{F9491D2A-A402-47AC-9A86-6002422F21C9}"/>
              </a:ext>
            </a:extLst>
          </p:cNvPr>
          <p:cNvSpPr>
            <a:spLocks noGrp="1"/>
          </p:cNvSpPr>
          <p:nvPr>
            <p:ph type="pic" idx="1"/>
          </p:nvPr>
        </p:nvSpPr>
        <p:spPr bwMode="gray">
          <a:xfrm>
            <a:off x="5183188" y="959471"/>
            <a:ext cx="6172200" cy="4531785"/>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2DB0F51-CDD0-41D4-A559-624A4917070B}"/>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5" name="Date Placeholder 4">
            <a:extLst>
              <a:ext uri="{FF2B5EF4-FFF2-40B4-BE49-F238E27FC236}">
                <a16:creationId xmlns:a16="http://schemas.microsoft.com/office/drawing/2014/main" id="{14CD89A7-8ADC-4D39-B15F-96B3FCC81854}"/>
              </a:ext>
            </a:extLst>
          </p:cNvPr>
          <p:cNvSpPr>
            <a:spLocks noGrp="1"/>
          </p:cNvSpPr>
          <p:nvPr>
            <p:ph type="dt" sz="half" idx="10"/>
          </p:nvPr>
        </p:nvSpPr>
        <p:spPr bwMode="gray"/>
        <p:txBody>
          <a:bodyPr/>
          <a:lstStyle/>
          <a:p>
            <a:fld id="{93CC6C9D-7D35-441A-8E7D-B481D2DC7F21}" type="datetime1">
              <a:rPr lang="en-US" smtClean="0"/>
              <a:t>9/24/26</a:t>
            </a:fld>
            <a:endParaRPr lang="en-US"/>
          </a:p>
        </p:txBody>
      </p:sp>
      <p:sp>
        <p:nvSpPr>
          <p:cNvPr id="6" name="Footer Placeholder 5">
            <a:extLst>
              <a:ext uri="{FF2B5EF4-FFF2-40B4-BE49-F238E27FC236}">
                <a16:creationId xmlns:a16="http://schemas.microsoft.com/office/drawing/2014/main" id="{17F543A3-3277-40A0-B1C2-CADD5AB0387B}"/>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F13D95E8-D049-4386-B18A-005E7667328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9" name="TextBox 8">
            <a:extLst>
              <a:ext uri="{FF2B5EF4-FFF2-40B4-BE49-F238E27FC236}">
                <a16:creationId xmlns:a16="http://schemas.microsoft.com/office/drawing/2014/main" id="{349FD152-129D-41A4-81CE-BC9A8DCD0B3A}"/>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0" name="Multiply 45" descr="A large &quot;x&quot; indicating that this layout is not approved for use.">
            <a:extLst>
              <a:ext uri="{FF2B5EF4-FFF2-40B4-BE49-F238E27FC236}">
                <a16:creationId xmlns:a16="http://schemas.microsoft.com/office/drawing/2014/main" id="{66B6567B-A13A-474B-8D2F-ECF1267DF687}"/>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636533949"/>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9D853-E248-4BE3-8F8C-4FF1369CBDAE}"/>
              </a:ext>
            </a:extLst>
          </p:cNvPr>
          <p:cNvSpPr>
            <a:spLocks noGrp="1"/>
          </p:cNvSpPr>
          <p:nvPr>
            <p:ph type="title" hasCustomPrompt="1"/>
          </p:nvPr>
        </p:nvSpPr>
        <p:spPr bwMode="gray"/>
        <p:txBody>
          <a:bodyPr/>
          <a:lstStyle/>
          <a:p>
            <a:r>
              <a:rPr lang="en-US"/>
              <a:t>Not for use. This is a Microsoft default.</a:t>
            </a:r>
          </a:p>
        </p:txBody>
      </p:sp>
      <p:sp>
        <p:nvSpPr>
          <p:cNvPr id="3" name="Vertical Text Placeholder 2">
            <a:extLst>
              <a:ext uri="{FF2B5EF4-FFF2-40B4-BE49-F238E27FC236}">
                <a16:creationId xmlns:a16="http://schemas.microsoft.com/office/drawing/2014/main" id="{E7268BF8-16E9-442C-865D-E015BE37821F}"/>
              </a:ext>
            </a:extLst>
          </p:cNvPr>
          <p:cNvSpPr>
            <a:spLocks noGrp="1"/>
          </p:cNvSpPr>
          <p:nvPr>
            <p:ph type="body" orient="vert" idx="1" hasCustomPrompt="1"/>
          </p:nvPr>
        </p:nvSpPr>
        <p:spPr bwMode="gray">
          <a:xfrm>
            <a:off x="1524000" y="1468197"/>
            <a:ext cx="9144000" cy="3930085"/>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24B87-31C9-4BD9-B6CB-469EE19051A3}"/>
              </a:ext>
            </a:extLst>
          </p:cNvPr>
          <p:cNvSpPr>
            <a:spLocks noGrp="1"/>
          </p:cNvSpPr>
          <p:nvPr>
            <p:ph type="dt" sz="half" idx="10"/>
          </p:nvPr>
        </p:nvSpPr>
        <p:spPr bwMode="gray"/>
        <p:txBody>
          <a:bodyPr/>
          <a:lstStyle/>
          <a:p>
            <a:fld id="{BA27F08E-62AF-4984-9352-B1BF15FE0584}" type="datetime1">
              <a:rPr lang="en-US" smtClean="0"/>
              <a:t>9/24/26</a:t>
            </a:fld>
            <a:endParaRPr lang="en-US"/>
          </a:p>
        </p:txBody>
      </p:sp>
      <p:sp>
        <p:nvSpPr>
          <p:cNvPr id="5" name="Footer Placeholder 4">
            <a:extLst>
              <a:ext uri="{FF2B5EF4-FFF2-40B4-BE49-F238E27FC236}">
                <a16:creationId xmlns:a16="http://schemas.microsoft.com/office/drawing/2014/main" id="{0765FB1D-8B17-4CDB-BAAD-56DCBE7C650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A563E8E-48A6-4825-9CB7-1E5880454802}"/>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C2B6F59F-8687-492F-A2D4-E8EBFECAC4AB}"/>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340CE423-4A52-449C-9C78-E284D9A049E1}"/>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1789248816"/>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B8F935-64F2-4650-80FF-CFD09440797C}"/>
              </a:ext>
            </a:extLst>
          </p:cNvPr>
          <p:cNvSpPr>
            <a:spLocks noGrp="1"/>
          </p:cNvSpPr>
          <p:nvPr>
            <p:ph type="title" orient="vert" hasCustomPrompt="1"/>
          </p:nvPr>
        </p:nvSpPr>
        <p:spPr bwMode="gray">
          <a:xfrm>
            <a:off x="10945256" y="546100"/>
            <a:ext cx="786369" cy="5297292"/>
          </a:xfrm>
        </p:spPr>
        <p:txBody>
          <a:bodyPr vert="eaVert"/>
          <a:lstStyle/>
          <a:p>
            <a:r>
              <a:rPr lang="en-US"/>
              <a:t>Not for use. This is a Microsoft default.</a:t>
            </a:r>
          </a:p>
        </p:txBody>
      </p:sp>
      <p:sp>
        <p:nvSpPr>
          <p:cNvPr id="3" name="Vertical Text Placeholder 2">
            <a:extLst>
              <a:ext uri="{FF2B5EF4-FFF2-40B4-BE49-F238E27FC236}">
                <a16:creationId xmlns:a16="http://schemas.microsoft.com/office/drawing/2014/main" id="{1A0DAF3A-9FF6-438D-AEE6-0F69D361006E}"/>
              </a:ext>
            </a:extLst>
          </p:cNvPr>
          <p:cNvSpPr>
            <a:spLocks noGrp="1"/>
          </p:cNvSpPr>
          <p:nvPr>
            <p:ph type="body" orient="vert" idx="1" hasCustomPrompt="1"/>
          </p:nvPr>
        </p:nvSpPr>
        <p:spPr bwMode="gray">
          <a:xfrm>
            <a:off x="3058556" y="546100"/>
            <a:ext cx="7734300" cy="5297292"/>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8046B-162A-46A6-A5E8-53242F87888E}"/>
              </a:ext>
            </a:extLst>
          </p:cNvPr>
          <p:cNvSpPr>
            <a:spLocks noGrp="1"/>
          </p:cNvSpPr>
          <p:nvPr>
            <p:ph type="dt" sz="half" idx="10"/>
          </p:nvPr>
        </p:nvSpPr>
        <p:spPr bwMode="gray"/>
        <p:txBody>
          <a:bodyPr/>
          <a:lstStyle/>
          <a:p>
            <a:fld id="{64BD37AA-1D3A-4134-B436-1DCEC1BAB4B1}" type="datetime1">
              <a:rPr lang="en-US" smtClean="0"/>
              <a:t>9/24/26</a:t>
            </a:fld>
            <a:endParaRPr lang="en-US"/>
          </a:p>
        </p:txBody>
      </p:sp>
      <p:sp>
        <p:nvSpPr>
          <p:cNvPr id="5" name="Footer Placeholder 4">
            <a:extLst>
              <a:ext uri="{FF2B5EF4-FFF2-40B4-BE49-F238E27FC236}">
                <a16:creationId xmlns:a16="http://schemas.microsoft.com/office/drawing/2014/main" id="{9D3EA6C7-F505-4DA8-9747-410A859FC904}"/>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8DD75DA2-D743-4167-8A0F-F9B035E62107}"/>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C05104E2-CEF6-4BD8-B7C0-2C8692A17794}"/>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D8807564-3DF6-491D-A764-145269B5B371}"/>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854822645"/>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Header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06607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Main Title &amp; Subtitle_KIP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6C72BD-25F3-440A-BFE2-8D0D27D1BA76}"/>
              </a:ext>
            </a:extLst>
          </p:cNvPr>
          <p:cNvSpPr/>
          <p:nvPr userDrawn="1"/>
        </p:nvSpPr>
        <p:spPr>
          <a:xfrm>
            <a:off x="0" y="0"/>
            <a:ext cx="12192000" cy="2514600"/>
          </a:xfrm>
          <a:prstGeom prst="rect">
            <a:avLst/>
          </a:prstGeom>
          <a:gradFill>
            <a:gsLst>
              <a:gs pos="3000">
                <a:schemeClr val="bg1">
                  <a:lumMod val="95000"/>
                </a:schemeClr>
              </a:gs>
              <a:gs pos="69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Title 2"/>
          <p:cNvSpPr>
            <a:spLocks noGrp="1"/>
          </p:cNvSpPr>
          <p:nvPr>
            <p:ph type="title"/>
          </p:nvPr>
        </p:nvSpPr>
        <p:spPr>
          <a:xfrm>
            <a:off x="517093" y="308530"/>
            <a:ext cx="11157817" cy="276999"/>
          </a:xfrm>
          <a:prstGeom prst="rect">
            <a:avLst/>
          </a:prstGeom>
        </p:spPr>
        <p:txBody>
          <a:bodyPr lIns="0" tIns="0" rIns="0" bIns="0" anchor="ctr"/>
          <a:lstStyle>
            <a:lvl1pPr algn="l">
              <a:defRPr sz="2000">
                <a:solidFill>
                  <a:schemeClr val="tx1">
                    <a:lumMod val="75000"/>
                    <a:lumOff val="25000"/>
                  </a:schemeClr>
                </a:solidFill>
              </a:defRPr>
            </a:lvl1pPr>
          </a:lstStyle>
          <a:p>
            <a:r>
              <a:rPr lang="en-US"/>
              <a:t>Click to edit Master title style</a:t>
            </a:r>
          </a:p>
        </p:txBody>
      </p:sp>
    </p:spTree>
    <p:extLst>
      <p:ext uri="{BB962C8B-B14F-4D97-AF65-F5344CB8AC3E}">
        <p14:creationId xmlns:p14="http://schemas.microsoft.com/office/powerpoint/2010/main" val="21873372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lgn="r"/>
            <a:fld id="{F18F5FCC-583C-47C6-9953-2F6AD74D46AE}" type="slidenum">
              <a:rPr lang="en-US" smtClean="0"/>
              <a:pPr algn="r"/>
              <a:t>‹#›</a:t>
            </a:fld>
            <a:endParaRPr lang="en-US"/>
          </a:p>
        </p:txBody>
      </p:sp>
      <p:sp>
        <p:nvSpPr>
          <p:cNvPr id="5" name="Text Placeholder 4"/>
          <p:cNvSpPr>
            <a:spLocks noGrp="1"/>
          </p:cNvSpPr>
          <p:nvPr>
            <p:ph type="body" sz="quarter" idx="11"/>
          </p:nvPr>
        </p:nvSpPr>
        <p:spPr>
          <a:xfrm>
            <a:off x="609600" y="1354138"/>
            <a:ext cx="11201400" cy="4792663"/>
          </a:xfrm>
        </p:spPr>
        <p:txBody>
          <a:bodyPr/>
          <a:lstStyle>
            <a:lvl2pPr marL="228594" indent="-228594">
              <a:defRPr/>
            </a:lvl2pPr>
            <a:lvl3pPr marL="537620" indent="-220128">
              <a:defRPr/>
            </a:lvl3pPr>
            <a:lvl4pPr marL="838179" indent="-228594">
              <a:defRPr/>
            </a:lvl4pPr>
            <a:lvl5pPr marL="1219170" indent="-302676">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p:cNvCxnSpPr/>
          <p:nvPr userDrawn="1"/>
        </p:nvCxnSpPr>
        <p:spPr>
          <a:xfrm>
            <a:off x="609600" y="1162755"/>
            <a:ext cx="112014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6063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p:cNvSpPr>
            <a:spLocks noGrp="1"/>
          </p:cNvSpPr>
          <p:nvPr>
            <p:ph type="title" hasCustomPrompt="1"/>
          </p:nvPr>
        </p:nvSpPr>
        <p:spPr bwMode="gray"/>
        <p:txBody>
          <a:bodyPr/>
          <a:lstStyle>
            <a:lvl1pPr>
              <a:defRPr/>
            </a:lvl1pPr>
          </a:lstStyle>
          <a:p>
            <a:r>
              <a:rPr lang="en-US"/>
              <a:t>Slide title; Arial 30pt bold, sentence case (1 line)</a:t>
            </a:r>
          </a:p>
        </p:txBody>
      </p:sp>
      <p:sp>
        <p:nvSpPr>
          <p:cNvPr id="3" name="Bullets/content"/>
          <p:cNvSpPr>
            <a:spLocks noGrp="1"/>
          </p:cNvSpPr>
          <p:nvPr>
            <p:ph idx="1" hasCustomPrompt="1"/>
          </p:nvPr>
        </p:nvSpPr>
        <p:spPr bwMode="gray">
          <a:xfrm>
            <a:off x="789137" y="1945933"/>
            <a:ext cx="10613726" cy="3657600"/>
          </a:xfrm>
        </p:spPr>
        <p:txBody>
          <a:bodyPr/>
          <a:lstStyle>
            <a:lvl1pPr>
              <a:defRPr/>
            </a:lvl1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8" name="Subtitle"/>
          <p:cNvSpPr>
            <a:spLocks noGrp="1"/>
          </p:cNvSpPr>
          <p:nvPr>
            <p:ph type="body" sz="quarter" idx="13" hasCustomPrompt="1"/>
          </p:nvPr>
        </p:nvSpPr>
        <p:spPr bwMode="gray">
          <a:xfrm>
            <a:off x="495300" y="1143335"/>
            <a:ext cx="11201400" cy="304699"/>
          </a:xfrm>
        </p:spPr>
        <p:txBody>
          <a:bodyPr>
            <a:spAutoFit/>
          </a:bodyPr>
          <a:lstStyle>
            <a:lvl1pPr>
              <a:lnSpc>
                <a:spcPct val="90000"/>
              </a:lnSpc>
              <a:spcBef>
                <a:spcPts val="0"/>
              </a:spcBef>
              <a:spcAft>
                <a:spcPts val="0"/>
              </a:spcAft>
              <a:defRPr sz="2200">
                <a:solidFill>
                  <a:schemeClr val="tx1"/>
                </a:solidFill>
              </a:defRPr>
            </a:lvl1pPr>
          </a:lstStyle>
          <a:p>
            <a:pPr lvl="0"/>
            <a:r>
              <a:rPr lang="en-US"/>
              <a:t>Slide subtitle (optional); Arial 22pt regular, sentence case (1 line)</a:t>
            </a:r>
          </a:p>
        </p:txBody>
      </p:sp>
      <p:sp>
        <p:nvSpPr>
          <p:cNvPr id="9" name="Rectangle 8" hidden="1"/>
          <p:cNvSpPr/>
          <p:nvPr userDrawn="1">
            <p:custDataLst>
              <p:tags r:id="rId1"/>
            </p:custDataLst>
          </p:nvPr>
        </p:nvSpPr>
        <p:spPr>
          <a:xfrm>
            <a:off x="457200" y="1143000"/>
            <a:ext cx="11353800" cy="48499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err="1">
              <a:latin typeface="Arial" panose="020B0604020202020204" pitchFamily="34" charset="0"/>
            </a:endParaRPr>
          </a:p>
        </p:txBody>
      </p:sp>
      <p:sp>
        <p:nvSpPr>
          <p:cNvPr id="10" name="Rectangle 9" hidden="1"/>
          <p:cNvSpPr/>
          <p:nvPr userDrawn="1">
            <p:custDataLst>
              <p:tags r:id="rId2"/>
            </p:custDataLst>
          </p:nvPr>
        </p:nvSpPr>
        <p:spPr>
          <a:xfrm>
            <a:off x="304800" y="6084051"/>
            <a:ext cx="2214664" cy="61787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err="1">
              <a:latin typeface="Arial" panose="020B0604020202020204" pitchFamily="34" charset="0"/>
            </a:endParaRPr>
          </a:p>
        </p:txBody>
      </p:sp>
      <p:sp>
        <p:nvSpPr>
          <p:cNvPr id="11" name="Rectangle 10" hidden="1"/>
          <p:cNvSpPr/>
          <p:nvPr userDrawn="1">
            <p:custDataLst>
              <p:tags r:id="rId3"/>
            </p:custDataLst>
          </p:nvPr>
        </p:nvSpPr>
        <p:spPr>
          <a:xfrm>
            <a:off x="1" y="1"/>
            <a:ext cx="12191999" cy="4180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err="1">
              <a:latin typeface="Arial" panose="020B0604020202020204" pitchFamily="34" charset="0"/>
            </a:endParaRPr>
          </a:p>
        </p:txBody>
      </p:sp>
      <p:sp>
        <p:nvSpPr>
          <p:cNvPr id="12" name="Rectangle 11" hidden="1"/>
          <p:cNvSpPr/>
          <p:nvPr userDrawn="1">
            <p:custDataLst>
              <p:tags r:id="rId4"/>
            </p:custDataLst>
          </p:nvPr>
        </p:nvSpPr>
        <p:spPr>
          <a:xfrm>
            <a:off x="5229225" y="6392988"/>
            <a:ext cx="6648450" cy="51073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800" err="1">
              <a:latin typeface="Arial" panose="020B0604020202020204" pitchFamily="34" charset="0"/>
            </a:endParaRPr>
          </a:p>
        </p:txBody>
      </p:sp>
      <p:sp>
        <p:nvSpPr>
          <p:cNvPr id="4" name="Date Placeholder 3"/>
          <p:cNvSpPr>
            <a:spLocks noGrp="1"/>
          </p:cNvSpPr>
          <p:nvPr>
            <p:ph type="dt" sz="half" idx="14"/>
          </p:nvPr>
        </p:nvSpPr>
        <p:spPr bwMode="gray"/>
        <p:txBody>
          <a:bodyPr/>
          <a:lstStyle/>
          <a:p>
            <a:fld id="{3EECB4B7-92EB-4311-9850-5CB0746BEE39}" type="datetime1">
              <a:rPr lang="en-US" smtClean="0"/>
              <a:t>9/24/26</a:t>
            </a:fld>
            <a:endParaRPr lang="en-US"/>
          </a:p>
        </p:txBody>
      </p:sp>
      <p:sp>
        <p:nvSpPr>
          <p:cNvPr id="6" name="Footer Placeholder 5"/>
          <p:cNvSpPr>
            <a:spLocks noGrp="1"/>
          </p:cNvSpPr>
          <p:nvPr>
            <p:ph type="ftr" sz="quarter" idx="15"/>
          </p:nvPr>
        </p:nvSpPr>
        <p:spPr bwMode="gray">
          <a:xfrm>
            <a:off x="-456855" y="7120437"/>
            <a:ext cx="1641620" cy="30734"/>
          </a:xfrm>
        </p:spPr>
        <p:txBody>
          <a:bodyPr/>
          <a:lstStyle/>
          <a:p>
            <a:pPr algn="r"/>
            <a:r>
              <a:rPr lang="en-US"/>
              <a:t>© 2021 Optum, Inc. All rights reserved. Confidential property of Optum. Do not distribute or reproduce without express permission from Optum.</a:t>
            </a:r>
          </a:p>
        </p:txBody>
      </p:sp>
      <p:sp>
        <p:nvSpPr>
          <p:cNvPr id="7" name="Slide Number Placeholder 6"/>
          <p:cNvSpPr>
            <a:spLocks noGrp="1"/>
          </p:cNvSpPr>
          <p:nvPr>
            <p:ph type="sldNum" sz="quarter" idx="16"/>
          </p:nvPr>
        </p:nvSpPr>
        <p:spPr bwMode="gray"/>
        <p:txBody>
          <a:bodyPr/>
          <a:lstStyle/>
          <a:p>
            <a:fld id="{901F1369-4AEB-4520-96C0-9F78886180C1}" type="slidenum">
              <a:rPr lang="en-US" smtClean="0"/>
              <a:pPr/>
              <a:t>‹#›</a:t>
            </a:fld>
            <a:endParaRPr lang="en-US"/>
          </a:p>
        </p:txBody>
      </p:sp>
    </p:spTree>
    <p:extLst>
      <p:ext uri="{BB962C8B-B14F-4D97-AF65-F5344CB8AC3E}">
        <p14:creationId xmlns:p14="http://schemas.microsoft.com/office/powerpoint/2010/main" val="3418142090"/>
      </p:ext>
    </p:extLst>
  </p:cSld>
  <p:clrMapOvr>
    <a:masterClrMapping/>
  </p:clrMapOvr>
  <p:extLst>
    <p:ext uri="{DCECCB84-F9BA-43D5-87BE-67443E8EF086}">
      <p15:sldGuideLst xmlns:p15="http://schemas.microsoft.com/office/powerpoint/2012/main">
        <p15:guide id="1" orient="horz" pos="664">
          <p15:clr>
            <a:srgbClr val="FFC000"/>
          </p15:clr>
        </p15:guide>
        <p15:guide id="2" orient="horz" pos="3792">
          <p15:clr>
            <a:srgbClr val="C35EA4"/>
          </p15:clr>
        </p15:guide>
        <p15:guide id="3" orient="horz" pos="720">
          <p15:clr>
            <a:srgbClr val="FFC00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388377"/>
            <a:ext cx="3211725" cy="1384995"/>
          </a:xfrm>
          <a:prstGeom prst="rect">
            <a:avLst/>
          </a:prstGeom>
          <a:noFill/>
        </p:spPr>
        <p:txBody>
          <a:bodyPr wrap="square" lIns="0" tIns="0" rIns="0" bIns="0" rtlCol="0">
            <a:spAutoFit/>
          </a:bodyPr>
          <a:lstStyle/>
          <a:p>
            <a:pPr algn="l">
              <a:lnSpc>
                <a:spcPct val="90000"/>
              </a:lnSpc>
              <a:spcBef>
                <a:spcPts val="0"/>
              </a:spcBef>
            </a:pPr>
            <a:r>
              <a:rPr lang="en-US" sz="5000" b="0" spc="0" baseline="0">
                <a:solidFill>
                  <a:schemeClr val="tx1"/>
                </a:solidFill>
                <a:latin typeface="+mj-lt"/>
              </a:rPr>
              <a:t>On-screen 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January 2026</a:t>
            </a:r>
          </a:p>
        </p:txBody>
      </p:sp>
      <p:pic>
        <p:nvPicPr>
          <p:cNvPr id="5" name="Picture 15">
            <a:extLst>
              <a:ext uri="{FF2B5EF4-FFF2-40B4-BE49-F238E27FC236}">
                <a16:creationId xmlns:a16="http://schemas.microsoft.com/office/drawing/2014/main" id="{988C516D-72E0-1E11-8DEB-841DAEC518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1572" r="1572"/>
          <a:stretch/>
        </p:blipFill>
        <p:spPr bwMode="gray">
          <a:xfrm>
            <a:off x="827390" y="4941778"/>
            <a:ext cx="585216" cy="604208"/>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tx1"/>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29" r="29"/>
          <a:stretch/>
        </p:blipFill>
        <p:spPr bwMode="gray">
          <a:xfrm>
            <a:off x="5121967" y="525529"/>
            <a:ext cx="6609434" cy="3720283"/>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134" r="134"/>
          <a:stretch/>
        </p:blipFill>
        <p:spPr bwMode="gray">
          <a:xfrm>
            <a:off x="5122888" y="4248012"/>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rcRect l="24" r="24"/>
          <a:stretch/>
        </p:blipFill>
        <p:spPr bwMode="gray">
          <a:xfrm>
            <a:off x="8421497" y="4245508"/>
            <a:ext cx="3309903" cy="1859623"/>
          </a:xfrm>
          <a:prstGeom prst="rect">
            <a:avLst/>
          </a:prstGeom>
          <a:ln w="6350">
            <a:solidFill>
              <a:schemeClr val="accent2"/>
            </a:solidFill>
          </a:ln>
        </p:spPr>
      </p:pic>
    </p:spTree>
    <p:extLst>
      <p:ext uri="{BB962C8B-B14F-4D97-AF65-F5344CB8AC3E}">
        <p14:creationId xmlns:p14="http://schemas.microsoft.com/office/powerpoint/2010/main" val="32633201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8788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pic>
        <p:nvPicPr>
          <p:cNvPr id="14" name="Effervescent Os">
            <a:extLst>
              <a:ext uri="{FF2B5EF4-FFF2-40B4-BE49-F238E27FC236}">
                <a16:creationId xmlns:a16="http://schemas.microsoft.com/office/drawing/2014/main" id="{D1C60B49-87D9-5317-CAB6-BAA4F3ABDF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9" name="Optum Logo" descr="Optum">
            <a:extLst>
              <a:ext uri="{FF2B5EF4-FFF2-40B4-BE49-F238E27FC236}">
                <a16:creationId xmlns:a16="http://schemas.microsoft.com/office/drawing/2014/main" id="{EA1167EF-E311-C282-E3BA-7E1A3F1F9C6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2181661" y="860296"/>
            <a:ext cx="1913130" cy="553943"/>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187967" y="2193123"/>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187967" y="4125732"/>
            <a:ext cx="45720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187967" y="5334953"/>
            <a:ext cx="45720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8926312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368">
          <p15:clr>
            <a:srgbClr val="5ACBF0"/>
          </p15:clr>
        </p15:guide>
        <p15:guide id="3" orient="horz" pos="2431">
          <p15:clr>
            <a:srgbClr val="5ACBF0"/>
          </p15:clr>
        </p15:guide>
        <p15:guide id="4" orient="horz" pos="2590">
          <p15:clr>
            <a:srgbClr val="5ACBF0"/>
          </p15:clr>
        </p15:guide>
        <p15:guide id="5" pos="6280">
          <p15:clr>
            <a:srgbClr val="5ACBF0"/>
          </p15:clr>
        </p15:guide>
        <p15:guide id="6" pos="42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5" name="Optum Logo" descr="Optum">
            <a:extLst>
              <a:ext uri="{FF2B5EF4-FFF2-40B4-BE49-F238E27FC236}">
                <a16:creationId xmlns:a16="http://schemas.microsoft.com/office/drawing/2014/main" id="{DF18BD8F-34A2-D1E4-F62D-FAB96200D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956816" cy="685800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797608" y="1614065"/>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797608" y="3478603"/>
            <a:ext cx="59436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r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2797608" y="4654602"/>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797608" y="4993156"/>
            <a:ext cx="59436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559199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752">
          <p15:clr>
            <a:srgbClr val="5ACBF0"/>
          </p15:clr>
        </p15:guide>
        <p15:guide id="3" orient="horz" pos="2068">
          <p15:clr>
            <a:srgbClr val="5ACBF0"/>
          </p15:clr>
        </p15:guide>
        <p15:guide id="4" orient="horz" pos="2180">
          <p15:clr>
            <a:srgbClr val="5ACBF0"/>
          </p15:clr>
        </p15:guide>
        <p15:guide id="5" pos="6666">
          <p15:clr>
            <a:srgbClr val="5ACBF0"/>
          </p15:clr>
        </p15:guide>
        <p15:guide id="6" pos="551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grpSp>
        <p:nvGrpSpPr>
          <p:cNvPr id="20" name="Stadium and circles">
            <a:extLst>
              <a:ext uri="{FF2B5EF4-FFF2-40B4-BE49-F238E27FC236}">
                <a16:creationId xmlns:a16="http://schemas.microsoft.com/office/drawing/2014/main" id="{23BC9AAE-0BEC-DEC5-9E59-ABD1E467B4DF}"/>
              </a:ext>
              <a:ext uri="{C183D7F6-B498-43B3-948B-1728B52AA6E4}">
                <adec:decorative xmlns:adec="http://schemas.microsoft.com/office/drawing/2017/decorative" val="1"/>
              </a:ext>
            </a:extLst>
          </p:cNvPr>
          <p:cNvGrpSpPr/>
          <p:nvPr userDrawn="1"/>
        </p:nvGrpSpPr>
        <p:grpSpPr bwMode="gray">
          <a:xfrm>
            <a:off x="6377781" y="552369"/>
            <a:ext cx="5814219" cy="5797909"/>
            <a:chOff x="6377781" y="552369"/>
            <a:chExt cx="5814219" cy="5797909"/>
          </a:xfrm>
        </p:grpSpPr>
        <p:sp>
          <p:nvSpPr>
            <p:cNvPr id="36" name="Oval 35">
              <a:extLst>
                <a:ext uri="{FF2B5EF4-FFF2-40B4-BE49-F238E27FC236}">
                  <a16:creationId xmlns:a16="http://schemas.microsoft.com/office/drawing/2014/main" id="{F89AB704-FC51-EB86-838F-E814A0310B37}"/>
                </a:ext>
              </a:extLst>
            </p:cNvPr>
            <p:cNvSpPr/>
            <p:nvPr userDrawn="1"/>
          </p:nvSpPr>
          <p:spPr bwMode="gray">
            <a:xfrm>
              <a:off x="9869185" y="5188990"/>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Rectangle: Rounded Corners 36">
              <a:extLst>
                <a:ext uri="{FF2B5EF4-FFF2-40B4-BE49-F238E27FC236}">
                  <a16:creationId xmlns:a16="http://schemas.microsoft.com/office/drawing/2014/main" id="{4842FE88-32AA-5F17-A770-3F78643AAEC7}"/>
                </a:ext>
              </a:extLst>
            </p:cNvPr>
            <p:cNvSpPr/>
            <p:nvPr userDrawn="1"/>
          </p:nvSpPr>
          <p:spPr bwMode="gray">
            <a:xfrm>
              <a:off x="6377781" y="5188990"/>
              <a:ext cx="3493785"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34469358-F45B-0BF7-73BA-787CF55C2CE0}"/>
                </a:ext>
              </a:extLst>
            </p:cNvPr>
            <p:cNvSpPr/>
            <p:nvPr userDrawn="1"/>
          </p:nvSpPr>
          <p:spPr bwMode="gray">
            <a:xfrm>
              <a:off x="11032577" y="5188990"/>
              <a:ext cx="1159423" cy="115942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5E1253CA-8370-4395-2B7B-3C392688BA8F}"/>
                </a:ext>
              </a:extLst>
            </p:cNvPr>
            <p:cNvSpPr/>
            <p:nvPr userDrawn="1"/>
          </p:nvSpPr>
          <p:spPr bwMode="gray">
            <a:xfrm>
              <a:off x="11032577"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0" name="Oval 39">
              <a:extLst>
                <a:ext uri="{FF2B5EF4-FFF2-40B4-BE49-F238E27FC236}">
                  <a16:creationId xmlns:a16="http://schemas.microsoft.com/office/drawing/2014/main" id="{05638A30-970F-56A6-1ABF-5C22B175E163}"/>
                </a:ext>
              </a:extLst>
            </p:cNvPr>
            <p:cNvSpPr/>
            <p:nvPr userDrawn="1"/>
          </p:nvSpPr>
          <p:spPr bwMode="gray">
            <a:xfrm>
              <a:off x="11032577"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1" name="Oval 40">
              <a:extLst>
                <a:ext uri="{FF2B5EF4-FFF2-40B4-BE49-F238E27FC236}">
                  <a16:creationId xmlns:a16="http://schemas.microsoft.com/office/drawing/2014/main" id="{2D46F4D7-4BDD-4F15-7D64-3F1E2AF080A5}"/>
                </a:ext>
              </a:extLst>
            </p:cNvPr>
            <p:cNvSpPr/>
            <p:nvPr userDrawn="1"/>
          </p:nvSpPr>
          <p:spPr bwMode="gray">
            <a:xfrm>
              <a:off x="11032577"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Oval 41">
              <a:extLst>
                <a:ext uri="{FF2B5EF4-FFF2-40B4-BE49-F238E27FC236}">
                  <a16:creationId xmlns:a16="http://schemas.microsoft.com/office/drawing/2014/main" id="{C8B6397E-9EB7-A830-5A0D-B8A8CA659419}"/>
                </a:ext>
              </a:extLst>
            </p:cNvPr>
            <p:cNvSpPr/>
            <p:nvPr userDrawn="1"/>
          </p:nvSpPr>
          <p:spPr bwMode="gray">
            <a:xfrm>
              <a:off x="11032577"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6" name="Oval 45">
              <a:extLst>
                <a:ext uri="{FF2B5EF4-FFF2-40B4-BE49-F238E27FC236}">
                  <a16:creationId xmlns:a16="http://schemas.microsoft.com/office/drawing/2014/main" id="{C3FE14A0-6A0F-4F3A-E7B1-2B16FA868838}"/>
                </a:ext>
              </a:extLst>
            </p:cNvPr>
            <p:cNvSpPr/>
            <p:nvPr userDrawn="1"/>
          </p:nvSpPr>
          <p:spPr bwMode="gray">
            <a:xfrm>
              <a:off x="9869185"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7" name="Oval 46">
              <a:extLst>
                <a:ext uri="{FF2B5EF4-FFF2-40B4-BE49-F238E27FC236}">
                  <a16:creationId xmlns:a16="http://schemas.microsoft.com/office/drawing/2014/main" id="{3907818E-9997-DA31-93E5-CACD64CE77CE}"/>
                </a:ext>
              </a:extLst>
            </p:cNvPr>
            <p:cNvSpPr/>
            <p:nvPr userDrawn="1"/>
          </p:nvSpPr>
          <p:spPr bwMode="gray">
            <a:xfrm>
              <a:off x="9869185"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8" name="Oval 47">
              <a:extLst>
                <a:ext uri="{FF2B5EF4-FFF2-40B4-BE49-F238E27FC236}">
                  <a16:creationId xmlns:a16="http://schemas.microsoft.com/office/drawing/2014/main" id="{67BD36F9-6CE0-A542-A13E-C1CBE043FB9B}"/>
                </a:ext>
              </a:extLst>
            </p:cNvPr>
            <p:cNvSpPr/>
            <p:nvPr userDrawn="1"/>
          </p:nvSpPr>
          <p:spPr bwMode="gray">
            <a:xfrm>
              <a:off x="9869185"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9" name="Oval 48">
              <a:extLst>
                <a:ext uri="{FF2B5EF4-FFF2-40B4-BE49-F238E27FC236}">
                  <a16:creationId xmlns:a16="http://schemas.microsoft.com/office/drawing/2014/main" id="{1EF8455A-96B8-65CB-A60F-AB7829229569}"/>
                </a:ext>
              </a:extLst>
            </p:cNvPr>
            <p:cNvSpPr/>
            <p:nvPr userDrawn="1"/>
          </p:nvSpPr>
          <p:spPr bwMode="gray">
            <a:xfrm>
              <a:off x="8713731"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Oval 17">
              <a:extLst>
                <a:ext uri="{FF2B5EF4-FFF2-40B4-BE49-F238E27FC236}">
                  <a16:creationId xmlns:a16="http://schemas.microsoft.com/office/drawing/2014/main" id="{8A5C6592-3390-2352-5BB3-19C2E3A5BE2C}"/>
                </a:ext>
              </a:extLst>
            </p:cNvPr>
            <p:cNvSpPr/>
            <p:nvPr userDrawn="1"/>
          </p:nvSpPr>
          <p:spPr bwMode="gray">
            <a:xfrm>
              <a:off x="7718424"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1" name="Rectangle: Rounded Corners 50">
              <a:extLst>
                <a:ext uri="{FF2B5EF4-FFF2-40B4-BE49-F238E27FC236}">
                  <a16:creationId xmlns:a16="http://schemas.microsoft.com/office/drawing/2014/main" id="{9B51F2C6-228A-6780-2DE0-376C52812942}"/>
                </a:ext>
              </a:extLst>
            </p:cNvPr>
            <p:cNvSpPr/>
            <p:nvPr userDrawn="1"/>
          </p:nvSpPr>
          <p:spPr bwMode="gray">
            <a:xfrm>
              <a:off x="7720805" y="2872493"/>
              <a:ext cx="2148840"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2" name="Rectangle: Rounded Corners 51">
              <a:extLst>
                <a:ext uri="{FF2B5EF4-FFF2-40B4-BE49-F238E27FC236}">
                  <a16:creationId xmlns:a16="http://schemas.microsoft.com/office/drawing/2014/main" id="{7E1F60E6-4807-72F1-B01E-3E5BB3CA28BA}"/>
                </a:ext>
              </a:extLst>
            </p:cNvPr>
            <p:cNvSpPr/>
            <p:nvPr userDrawn="1"/>
          </p:nvSpPr>
          <p:spPr bwMode="gray">
            <a:xfrm>
              <a:off x="8877054" y="4030741"/>
              <a:ext cx="2151554"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7943081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grpSp>
        <p:nvGrpSpPr>
          <p:cNvPr id="3" name="Stadiums and circles">
            <a:extLst>
              <a:ext uri="{FF2B5EF4-FFF2-40B4-BE49-F238E27FC236}">
                <a16:creationId xmlns:a16="http://schemas.microsoft.com/office/drawing/2014/main" id="{A13497BD-EDFC-01BC-7BC9-2367A53F38A7}"/>
              </a:ext>
              <a:ext uri="{C183D7F6-B498-43B3-948B-1728B52AA6E4}">
                <adec:decorative xmlns:adec="http://schemas.microsoft.com/office/drawing/2017/decorative" val="1"/>
              </a:ext>
            </a:extLst>
          </p:cNvPr>
          <p:cNvGrpSpPr/>
          <p:nvPr userDrawn="1"/>
        </p:nvGrpSpPr>
        <p:grpSpPr bwMode="gray">
          <a:xfrm>
            <a:off x="0" y="0"/>
            <a:ext cx="11220824" cy="5921203"/>
            <a:chOff x="0" y="0"/>
            <a:chExt cx="11220824" cy="5921203"/>
          </a:xfrm>
          <a:solidFill>
            <a:schemeClr val="bg1"/>
          </a:solidFill>
        </p:grpSpPr>
        <p:sp>
          <p:nvSpPr>
            <p:cNvPr id="5" name="Oval 4">
              <a:extLst>
                <a:ext uri="{FF2B5EF4-FFF2-40B4-BE49-F238E27FC236}">
                  <a16:creationId xmlns:a16="http://schemas.microsoft.com/office/drawing/2014/main" id="{D8485C0F-EFFA-23F6-667B-A4BC678A67CD}"/>
                </a:ext>
              </a:extLst>
            </p:cNvPr>
            <p:cNvSpPr/>
            <p:nvPr userDrawn="1"/>
          </p:nvSpPr>
          <p:spPr bwMode="gray">
            <a:xfrm>
              <a:off x="9559365"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9" name="Oval 8">
              <a:extLst>
                <a:ext uri="{FF2B5EF4-FFF2-40B4-BE49-F238E27FC236}">
                  <a16:creationId xmlns:a16="http://schemas.microsoft.com/office/drawing/2014/main" id="{6EC73BA9-913A-5069-D0F9-F943C501567B}"/>
                </a:ext>
              </a:extLst>
            </p:cNvPr>
            <p:cNvSpPr/>
            <p:nvPr userDrawn="1"/>
          </p:nvSpPr>
          <p:spPr bwMode="gray">
            <a:xfrm>
              <a:off x="7897906"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1" name="Oval 10">
              <a:extLst>
                <a:ext uri="{FF2B5EF4-FFF2-40B4-BE49-F238E27FC236}">
                  <a16:creationId xmlns:a16="http://schemas.microsoft.com/office/drawing/2014/main" id="{C268D53C-A768-7CB8-26AF-10AD3978E58D}"/>
                </a:ext>
              </a:extLst>
            </p:cNvPr>
            <p:cNvSpPr/>
            <p:nvPr userDrawn="1"/>
          </p:nvSpPr>
          <p:spPr bwMode="gray">
            <a:xfrm>
              <a:off x="6236447"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84F7029-5753-9BD3-7D9D-B600046394F3}"/>
                </a:ext>
              </a:extLst>
            </p:cNvPr>
            <p:cNvSpPr/>
            <p:nvPr userDrawn="1"/>
          </p:nvSpPr>
          <p:spPr bwMode="gray">
            <a:xfrm>
              <a:off x="4574988"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CB469DEC-AD2E-11CE-6BA2-FC7DCD007312}"/>
                </a:ext>
              </a:extLst>
            </p:cNvPr>
            <p:cNvSpPr/>
            <p:nvPr userDrawn="1"/>
          </p:nvSpPr>
          <p:spPr bwMode="gray">
            <a:xfrm>
              <a:off x="2913529"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Oval 18">
              <a:extLst>
                <a:ext uri="{FF2B5EF4-FFF2-40B4-BE49-F238E27FC236}">
                  <a16:creationId xmlns:a16="http://schemas.microsoft.com/office/drawing/2014/main" id="{152344B4-8287-5830-A317-7313DE62E20D}"/>
                </a:ext>
              </a:extLst>
            </p:cNvPr>
            <p:cNvSpPr/>
            <p:nvPr userDrawn="1"/>
          </p:nvSpPr>
          <p:spPr bwMode="gray">
            <a:xfrm>
              <a:off x="1252070"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Freeform: Shape 20">
              <a:extLst>
                <a:ext uri="{FF2B5EF4-FFF2-40B4-BE49-F238E27FC236}">
                  <a16:creationId xmlns:a16="http://schemas.microsoft.com/office/drawing/2014/main" id="{EA48D75A-FB42-145B-0910-A4A480961F18}"/>
                </a:ext>
              </a:extLst>
            </p:cNvPr>
            <p:cNvSpPr/>
            <p:nvPr userDrawn="1"/>
          </p:nvSpPr>
          <p:spPr bwMode="gray">
            <a:xfrm>
              <a:off x="0" y="4259743"/>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7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4ED6C9DA-4658-F236-AEAF-031AAACC8B13}"/>
                </a:ext>
              </a:extLst>
            </p:cNvPr>
            <p:cNvSpPr/>
            <p:nvPr userDrawn="1"/>
          </p:nvSpPr>
          <p:spPr bwMode="gray">
            <a:xfrm>
              <a:off x="9559365"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Oval 22">
              <a:extLst>
                <a:ext uri="{FF2B5EF4-FFF2-40B4-BE49-F238E27FC236}">
                  <a16:creationId xmlns:a16="http://schemas.microsoft.com/office/drawing/2014/main" id="{54D2A8A2-15A9-6A6B-7D39-7BA9ABA5F342}"/>
                </a:ext>
              </a:extLst>
            </p:cNvPr>
            <p:cNvSpPr/>
            <p:nvPr userDrawn="1"/>
          </p:nvSpPr>
          <p:spPr bwMode="gray">
            <a:xfrm>
              <a:off x="7897906"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3036C069-2C31-15CB-7D8B-FA4C4F7D9CCE}"/>
                </a:ext>
              </a:extLst>
            </p:cNvPr>
            <p:cNvSpPr/>
            <p:nvPr userDrawn="1"/>
          </p:nvSpPr>
          <p:spPr bwMode="gray">
            <a:xfrm>
              <a:off x="6236447"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Oval 24">
              <a:extLst>
                <a:ext uri="{FF2B5EF4-FFF2-40B4-BE49-F238E27FC236}">
                  <a16:creationId xmlns:a16="http://schemas.microsoft.com/office/drawing/2014/main" id="{7FA47BA6-459F-B694-8013-B5B563D39B44}"/>
                </a:ext>
              </a:extLst>
            </p:cNvPr>
            <p:cNvSpPr/>
            <p:nvPr userDrawn="1"/>
          </p:nvSpPr>
          <p:spPr bwMode="gray">
            <a:xfrm>
              <a:off x="4574988"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6" name="Oval 25">
              <a:extLst>
                <a:ext uri="{FF2B5EF4-FFF2-40B4-BE49-F238E27FC236}">
                  <a16:creationId xmlns:a16="http://schemas.microsoft.com/office/drawing/2014/main" id="{5B3E158A-2E27-4756-25B7-E0FAB636E006}"/>
                </a:ext>
              </a:extLst>
            </p:cNvPr>
            <p:cNvSpPr/>
            <p:nvPr userDrawn="1"/>
          </p:nvSpPr>
          <p:spPr bwMode="gray">
            <a:xfrm>
              <a:off x="2913529"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6106B5C9-2CB0-48C5-9804-85FAE5358A04}"/>
                </a:ext>
              </a:extLst>
            </p:cNvPr>
            <p:cNvSpPr/>
            <p:nvPr userDrawn="1"/>
          </p:nvSpPr>
          <p:spPr bwMode="gray">
            <a:xfrm>
              <a:off x="1252070"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8" name="Freeform: Shape 27">
              <a:extLst>
                <a:ext uri="{FF2B5EF4-FFF2-40B4-BE49-F238E27FC236}">
                  <a16:creationId xmlns:a16="http://schemas.microsoft.com/office/drawing/2014/main" id="{B69DA9D7-A15C-1C04-3DB5-B89AEE4C149E}"/>
                </a:ext>
              </a:extLst>
            </p:cNvPr>
            <p:cNvSpPr/>
            <p:nvPr userDrawn="1"/>
          </p:nvSpPr>
          <p:spPr bwMode="gray">
            <a:xfrm>
              <a:off x="0" y="2598269"/>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Oval 28">
              <a:extLst>
                <a:ext uri="{FF2B5EF4-FFF2-40B4-BE49-F238E27FC236}">
                  <a16:creationId xmlns:a16="http://schemas.microsoft.com/office/drawing/2014/main" id="{391221E8-EA2B-ED43-9D07-4FFA6AD5E04A}"/>
                </a:ext>
              </a:extLst>
            </p:cNvPr>
            <p:cNvSpPr/>
            <p:nvPr userDrawn="1"/>
          </p:nvSpPr>
          <p:spPr bwMode="gray">
            <a:xfrm>
              <a:off x="9559365"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0" name="Oval 29">
              <a:extLst>
                <a:ext uri="{FF2B5EF4-FFF2-40B4-BE49-F238E27FC236}">
                  <a16:creationId xmlns:a16="http://schemas.microsoft.com/office/drawing/2014/main" id="{D9B75DCC-2FF0-EE80-94BE-D90D5D588A97}"/>
                </a:ext>
              </a:extLst>
            </p:cNvPr>
            <p:cNvSpPr/>
            <p:nvPr userDrawn="1"/>
          </p:nvSpPr>
          <p:spPr bwMode="gray">
            <a:xfrm>
              <a:off x="7897906"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1" name="Oval 30">
              <a:extLst>
                <a:ext uri="{FF2B5EF4-FFF2-40B4-BE49-F238E27FC236}">
                  <a16:creationId xmlns:a16="http://schemas.microsoft.com/office/drawing/2014/main" id="{D0B0A03E-06CA-DE72-15DC-022BAE9AB78A}"/>
                </a:ext>
              </a:extLst>
            </p:cNvPr>
            <p:cNvSpPr/>
            <p:nvPr userDrawn="1"/>
          </p:nvSpPr>
          <p:spPr bwMode="gray">
            <a:xfrm>
              <a:off x="6236447"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2" name="Oval 31">
              <a:extLst>
                <a:ext uri="{FF2B5EF4-FFF2-40B4-BE49-F238E27FC236}">
                  <a16:creationId xmlns:a16="http://schemas.microsoft.com/office/drawing/2014/main" id="{D7EC66BF-2D9E-61D5-A5DC-FA01643CFC9B}"/>
                </a:ext>
              </a:extLst>
            </p:cNvPr>
            <p:cNvSpPr/>
            <p:nvPr userDrawn="1"/>
          </p:nvSpPr>
          <p:spPr bwMode="gray">
            <a:xfrm>
              <a:off x="4574988"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Oval 32">
              <a:extLst>
                <a:ext uri="{FF2B5EF4-FFF2-40B4-BE49-F238E27FC236}">
                  <a16:creationId xmlns:a16="http://schemas.microsoft.com/office/drawing/2014/main" id="{FB5A41BC-C1BE-4D0A-937D-CCDFDC17AECF}"/>
                </a:ext>
              </a:extLst>
            </p:cNvPr>
            <p:cNvSpPr/>
            <p:nvPr userDrawn="1"/>
          </p:nvSpPr>
          <p:spPr bwMode="gray">
            <a:xfrm>
              <a:off x="2913529"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4" name="Oval 33">
              <a:extLst>
                <a:ext uri="{FF2B5EF4-FFF2-40B4-BE49-F238E27FC236}">
                  <a16:creationId xmlns:a16="http://schemas.microsoft.com/office/drawing/2014/main" id="{FE3E6B1A-F095-E087-8B92-44041A25EB45}"/>
                </a:ext>
              </a:extLst>
            </p:cNvPr>
            <p:cNvSpPr/>
            <p:nvPr userDrawn="1"/>
          </p:nvSpPr>
          <p:spPr bwMode="gray">
            <a:xfrm>
              <a:off x="1252070"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Freeform: Shape 34">
              <a:extLst>
                <a:ext uri="{FF2B5EF4-FFF2-40B4-BE49-F238E27FC236}">
                  <a16:creationId xmlns:a16="http://schemas.microsoft.com/office/drawing/2014/main" id="{98D2546C-E18C-46AC-B8FF-ACEF4C909A48}"/>
                </a:ext>
              </a:extLst>
            </p:cNvPr>
            <p:cNvSpPr/>
            <p:nvPr userDrawn="1"/>
          </p:nvSpPr>
          <p:spPr bwMode="gray">
            <a:xfrm>
              <a:off x="0" y="936795"/>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8" name="Freeform: Shape 37">
              <a:extLst>
                <a:ext uri="{FF2B5EF4-FFF2-40B4-BE49-F238E27FC236}">
                  <a16:creationId xmlns:a16="http://schemas.microsoft.com/office/drawing/2014/main" id="{19654A5F-9FCF-4BAC-3C58-AF666C8EFEFA}"/>
                </a:ext>
              </a:extLst>
            </p:cNvPr>
            <p:cNvSpPr/>
            <p:nvPr userDrawn="1"/>
          </p:nvSpPr>
          <p:spPr bwMode="gray">
            <a:xfrm>
              <a:off x="9559364"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10B5BB75-0167-66D5-4F3C-8000D5182C9F}"/>
                </a:ext>
              </a:extLst>
            </p:cNvPr>
            <p:cNvSpPr/>
            <p:nvPr userDrawn="1"/>
          </p:nvSpPr>
          <p:spPr bwMode="gray">
            <a:xfrm>
              <a:off x="7897905"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0528863C-CFF0-BFF7-83D2-8AE71EC094F3}"/>
                </a:ext>
              </a:extLst>
            </p:cNvPr>
            <p:cNvSpPr/>
            <p:nvPr userDrawn="1"/>
          </p:nvSpPr>
          <p:spPr bwMode="gray">
            <a:xfrm>
              <a:off x="6236446"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Freeform: Shape 43">
              <a:extLst>
                <a:ext uri="{FF2B5EF4-FFF2-40B4-BE49-F238E27FC236}">
                  <a16:creationId xmlns:a16="http://schemas.microsoft.com/office/drawing/2014/main" id="{80114763-24E8-65F1-FD20-BEC2DD15993E}"/>
                </a:ext>
              </a:extLst>
            </p:cNvPr>
            <p:cNvSpPr/>
            <p:nvPr userDrawn="1"/>
          </p:nvSpPr>
          <p:spPr bwMode="gray">
            <a:xfrm>
              <a:off x="4574987"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Freeform: Shape 44">
              <a:extLst>
                <a:ext uri="{FF2B5EF4-FFF2-40B4-BE49-F238E27FC236}">
                  <a16:creationId xmlns:a16="http://schemas.microsoft.com/office/drawing/2014/main" id="{22CCBE72-BF65-E4C0-A522-CEB74B4A25F7}"/>
                </a:ext>
              </a:extLst>
            </p:cNvPr>
            <p:cNvSpPr/>
            <p:nvPr userDrawn="1"/>
          </p:nvSpPr>
          <p:spPr bwMode="gray">
            <a:xfrm>
              <a:off x="2913528"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Freeform: Shape 49">
              <a:extLst>
                <a:ext uri="{FF2B5EF4-FFF2-40B4-BE49-F238E27FC236}">
                  <a16:creationId xmlns:a16="http://schemas.microsoft.com/office/drawing/2014/main" id="{A9C7495F-6A7E-4C4B-E491-39B263A91183}"/>
                </a:ext>
              </a:extLst>
            </p:cNvPr>
            <p:cNvSpPr/>
            <p:nvPr userDrawn="1"/>
          </p:nvSpPr>
          <p:spPr bwMode="gray">
            <a:xfrm>
              <a:off x="1252069"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3" name="Freeform: Shape 52">
              <a:extLst>
                <a:ext uri="{FF2B5EF4-FFF2-40B4-BE49-F238E27FC236}">
                  <a16:creationId xmlns:a16="http://schemas.microsoft.com/office/drawing/2014/main" id="{C1ECD438-911A-89DE-3692-3731FDAE84B9}"/>
                </a:ext>
              </a:extLst>
            </p:cNvPr>
            <p:cNvSpPr/>
            <p:nvPr userDrawn="1"/>
          </p:nvSpPr>
          <p:spPr bwMode="gray">
            <a:xfrm>
              <a:off x="0" y="0"/>
              <a:ext cx="1252071" cy="936789"/>
            </a:xfrm>
            <a:custGeom>
              <a:avLst/>
              <a:gdLst>
                <a:gd name="connsiteX0" fmla="*/ 0 w 1252071"/>
                <a:gd name="connsiteY0" fmla="*/ 0 h 936789"/>
                <a:gd name="connsiteX1" fmla="*/ 1244559 w 1252071"/>
                <a:gd name="connsiteY1" fmla="*/ 0 h 936789"/>
                <a:gd name="connsiteX2" fmla="*/ 1247782 w 1252071"/>
                <a:gd name="connsiteY2" fmla="*/ 21122 h 936789"/>
                <a:gd name="connsiteX3" fmla="*/ 1252071 w 1252071"/>
                <a:gd name="connsiteY3" fmla="*/ 106059 h 936789"/>
                <a:gd name="connsiteX4" fmla="*/ 421341 w 1252071"/>
                <a:gd name="connsiteY4" fmla="*/ 936789 h 936789"/>
                <a:gd name="connsiteX5" fmla="*/ 97983 w 1252071"/>
                <a:gd name="connsiteY5" fmla="*/ 871506 h 936789"/>
                <a:gd name="connsiteX6" fmla="*/ 0 w 1252071"/>
                <a:gd name="connsiteY6" fmla="*/ 818323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8999557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Sky Blue">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5798582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Dawn">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9/24/26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897560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7921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pic>
        <p:nvPicPr>
          <p:cNvPr id="17" name="Effervescent Background">
            <a:extLst>
              <a:ext uri="{FF2B5EF4-FFF2-40B4-BE49-F238E27FC236}">
                <a16:creationId xmlns:a16="http://schemas.microsoft.com/office/drawing/2014/main" id="{77505517-54EF-7E54-5259-EE37C36DD28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37543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186206"/>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2724098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459">
          <p15:clr>
            <a:srgbClr val="5ACBF0"/>
          </p15:clr>
        </p15:guide>
        <p15:guide id="4" orient="horz" pos="263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secHead" preserve="1">
  <p:cSld name="Section Header 02">
    <p:bg>
      <p:bgPr>
        <a:solidFill>
          <a:schemeClr val="bg1"/>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395D6C80-30F4-E89F-4785-D24A52C579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7422525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secHead" preserve="1">
  <p:cSld name="Section Header 03">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B182F32D-9E08-7913-D9C1-F4408AF9F96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1171068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secHead" preserve="1">
  <p:cSld name="Section Header 04">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a:solidFill>
            <a:schemeClr val="bg1"/>
          </a:solidFill>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7D20C80F-10C6-380F-767C-5DE5099AFED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1019501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Header 05">
    <p:bg>
      <p:bgPr>
        <a:solidFill>
          <a:schemeClr val="bg2"/>
        </a:solidFill>
        <a:effectLst/>
      </p:bgPr>
    </p:bg>
    <p:spTree>
      <p:nvGrpSpPr>
        <p:cNvPr id="1" name=""/>
        <p:cNvGrpSpPr/>
        <p:nvPr/>
      </p:nvGrpSpPr>
      <p:grpSpPr>
        <a:xfrm>
          <a:off x="0" y="0"/>
          <a:ext cx="0" cy="0"/>
          <a:chOff x="0" y="0"/>
          <a:chExt cx="0" cy="0"/>
        </a:xfrm>
      </p:grpSpPr>
      <p:sp>
        <p:nvSpPr>
          <p:cNvPr id="13" name="Orange Title Block">
            <a:extLst>
              <a:ext uri="{FF2B5EF4-FFF2-40B4-BE49-F238E27FC236}">
                <a16:creationId xmlns:a16="http://schemas.microsoft.com/office/drawing/2014/main" id="{28BF8FD6-F40C-8C7C-FF94-4DA25C3DA2C3}"/>
              </a:ext>
              <a:ext uri="{C183D7F6-B498-43B3-948B-1728B52AA6E4}">
                <adec:decorative xmlns:adec="http://schemas.microsoft.com/office/drawing/2017/decorative" val="1"/>
              </a:ext>
            </a:extLst>
          </p:cNvPr>
          <p:cNvSpPr/>
          <p:nvPr userDrawn="1"/>
        </p:nvSpPr>
        <p:spPr bwMode="gray">
          <a:xfrm>
            <a:off x="0" y="2456160"/>
            <a:ext cx="140027" cy="1377898"/>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44043"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4027063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48">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Header 06">
    <p:bg>
      <p:bgPr>
        <a:solidFill>
          <a:schemeClr val="bg2"/>
        </a:solidFill>
        <a:effectLst/>
      </p:bgPr>
    </p:bg>
    <p:spTree>
      <p:nvGrpSpPr>
        <p:cNvPr id="1" name=""/>
        <p:cNvGrpSpPr/>
        <p:nvPr/>
      </p:nvGrpSpPr>
      <p:grpSpPr>
        <a:xfrm>
          <a:off x="0" y="0"/>
          <a:ext cx="0" cy="0"/>
          <a:chOff x="0" y="0"/>
          <a:chExt cx="0" cy="0"/>
        </a:xfrm>
      </p:grpSpPr>
      <p:sp>
        <p:nvSpPr>
          <p:cNvPr id="11" name="Dynamic O">
            <a:extLst>
              <a:ext uri="{FF2B5EF4-FFF2-40B4-BE49-F238E27FC236}">
                <a16:creationId xmlns:a16="http://schemas.microsoft.com/office/drawing/2014/main" id="{FA219C5D-76EB-3271-5225-511B46D0905B}"/>
              </a:ext>
              <a:ext uri="{C183D7F6-B498-43B3-948B-1728B52AA6E4}">
                <adec:decorative xmlns:adec="http://schemas.microsoft.com/office/drawing/2017/decorative" val="1"/>
              </a:ext>
            </a:extLst>
          </p:cNvPr>
          <p:cNvSpPr/>
          <p:nvPr userDrawn="1"/>
        </p:nvSpPr>
        <p:spPr bwMode="gray">
          <a:xfrm>
            <a:off x="0" y="1814381"/>
            <a:ext cx="1105958" cy="2661455"/>
          </a:xfrm>
          <a:custGeom>
            <a:avLst/>
            <a:gdLst>
              <a:gd name="connsiteX0" fmla="*/ 0 w 1105958"/>
              <a:gd name="connsiteY0" fmla="*/ 0 h 2661455"/>
              <a:gd name="connsiteX1" fmla="*/ 24371 w 1105958"/>
              <a:gd name="connsiteY1" fmla="*/ 3721 h 2661455"/>
              <a:gd name="connsiteX2" fmla="*/ 1105958 w 1105958"/>
              <a:gd name="connsiteY2" fmla="*/ 1330728 h 2661455"/>
              <a:gd name="connsiteX3" fmla="*/ 24371 w 1105958"/>
              <a:gd name="connsiteY3" fmla="*/ 2657734 h 2661455"/>
              <a:gd name="connsiteX4" fmla="*/ 0 w 1105958"/>
              <a:gd name="connsiteY4" fmla="*/ 2661455 h 2661455"/>
              <a:gd name="connsiteX5" fmla="*/ 0 w 1105958"/>
              <a:gd name="connsiteY5" fmla="*/ 1981014 h 2661455"/>
              <a:gd name="connsiteX6" fmla="*/ 23235 w 1105958"/>
              <a:gd name="connsiteY6" fmla="*/ 1973802 h 2661455"/>
              <a:gd name="connsiteX7" fmla="*/ 449371 w 1105958"/>
              <a:gd name="connsiteY7" fmla="*/ 1330728 h 2661455"/>
              <a:gd name="connsiteX8" fmla="*/ 23235 w 1105958"/>
              <a:gd name="connsiteY8" fmla="*/ 687655 h 2661455"/>
              <a:gd name="connsiteX9" fmla="*/ 0 w 1105958"/>
              <a:gd name="connsiteY9" fmla="*/ 680442 h 266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551912" y="2397212"/>
            <a:ext cx="3610638"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2645671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96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Header 07">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D676019-CFD3-FD0A-81AC-A6D13354F759}"/>
              </a:ext>
              <a:ext uri="{C183D7F6-B498-43B3-948B-1728B52AA6E4}">
                <adec:decorative xmlns:adec="http://schemas.microsoft.com/office/drawing/2017/decorative" val="1"/>
              </a:ext>
            </a:extLst>
          </p:cNvPr>
          <p:cNvSpPr/>
          <p:nvPr/>
        </p:nvSpPr>
        <p:spPr bwMode="gray">
          <a:xfrm>
            <a:off x="10272839" y="0"/>
            <a:ext cx="1919161" cy="1848256"/>
          </a:xfrm>
          <a:custGeom>
            <a:avLst/>
            <a:gdLst>
              <a:gd name="connsiteX0" fmla="*/ 0 w 1919161"/>
              <a:gd name="connsiteY0" fmla="*/ 0 h 1848256"/>
              <a:gd name="connsiteX1" fmla="*/ 928773 w 1919161"/>
              <a:gd name="connsiteY1" fmla="*/ 0 h 1848256"/>
              <a:gd name="connsiteX2" fmla="*/ 930451 w 1919161"/>
              <a:gd name="connsiteY2" fmla="*/ 33244 h 1848256"/>
              <a:gd name="connsiteX3" fmla="*/ 1912618 w 1919161"/>
              <a:gd name="connsiteY3" fmla="*/ 919488 h 1848256"/>
              <a:gd name="connsiteX4" fmla="*/ 1919161 w 1919161"/>
              <a:gd name="connsiteY4" fmla="*/ 919158 h 1848256"/>
              <a:gd name="connsiteX5" fmla="*/ 1919161 w 1919161"/>
              <a:gd name="connsiteY5" fmla="*/ 1847926 h 1848256"/>
              <a:gd name="connsiteX6" fmla="*/ 1912618 w 1919161"/>
              <a:gd name="connsiteY6" fmla="*/ 1848256 h 1848256"/>
              <a:gd name="connsiteX7" fmla="*/ 6471 w 1919161"/>
              <a:gd name="connsiteY7" fmla="*/ 128094 h 184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2443461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Header 08">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454858E-F681-1D4B-86DB-CAC8E494A65D}"/>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7415739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52">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ection Header 09">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F55B9041-0F47-9F80-6CDD-3B89753F446F}"/>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185082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4">
          <p15:clr>
            <a:srgbClr val="5ACBF0"/>
          </p15:clr>
        </p15:guide>
        <p15:guide id="5" pos="652">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ection Header 10">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D04B8F56-963D-7D87-B3A4-F13FC8B0B209}"/>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9" name="Picture Placeholder">
            <a:extLst>
              <a:ext uri="{FF2B5EF4-FFF2-40B4-BE49-F238E27FC236}">
                <a16:creationId xmlns:a16="http://schemas.microsoft.com/office/drawing/2014/main" id="{12375231-D91B-0897-471C-42A4E82A50C8}"/>
              </a:ext>
            </a:extLst>
          </p:cNvPr>
          <p:cNvSpPr>
            <a:spLocks noGrp="1" noRot="1" noMove="1" noResize="1" noEditPoints="1" noAdjustHandles="1" noChangeArrowheads="1" noChangeShapeType="1"/>
          </p:cNvSpPr>
          <p:nvPr>
            <p:ph type="pic" sz="quarter" idx="13" hasCustomPrompt="1"/>
          </p:nvPr>
        </p:nvSpPr>
        <p:spPr bwMode="gray">
          <a:xfrm>
            <a:off x="906051" y="800100"/>
            <a:ext cx="5257800" cy="5257800"/>
          </a:xfrm>
          <a:custGeom>
            <a:avLst/>
            <a:gdLst>
              <a:gd name="connsiteX0" fmla="*/ 885245 w 5257800"/>
              <a:gd name="connsiteY0" fmla="*/ 0 h 5257800"/>
              <a:gd name="connsiteX1" fmla="*/ 5257800 w 5257800"/>
              <a:gd name="connsiteY1" fmla="*/ 0 h 5257800"/>
              <a:gd name="connsiteX2" fmla="*/ 5257800 w 5257800"/>
              <a:gd name="connsiteY2" fmla="*/ 5257800 h 5257800"/>
              <a:gd name="connsiteX3" fmla="*/ 0 w 5257800"/>
              <a:gd name="connsiteY3" fmla="*/ 5257800 h 5257800"/>
              <a:gd name="connsiteX4" fmla="*/ 0 w 5257800"/>
              <a:gd name="connsiteY4" fmla="*/ 980303 h 5257800"/>
              <a:gd name="connsiteX5" fmla="*/ 21473 w 5257800"/>
              <a:gd name="connsiteY5" fmla="*/ 969957 h 5257800"/>
              <a:gd name="connsiteX6" fmla="*/ 874061 w 5257800"/>
              <a:gd name="connsiteY6" fmla="*/ 30549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0" h="5257800">
                <a:moveTo>
                  <a:pt x="885245" y="0"/>
                </a:moveTo>
                <a:lnTo>
                  <a:pt x="5257800" y="0"/>
                </a:lnTo>
                <a:lnTo>
                  <a:pt x="5257800" y="5257800"/>
                </a:lnTo>
                <a:lnTo>
                  <a:pt x="0" y="5257800"/>
                </a:lnTo>
                <a:lnTo>
                  <a:pt x="0" y="980303"/>
                </a:lnTo>
                <a:lnTo>
                  <a:pt x="21473" y="969957"/>
                </a:lnTo>
                <a:cubicBezTo>
                  <a:pt x="401710" y="763364"/>
                  <a:pt x="704285" y="431849"/>
                  <a:pt x="874061" y="30549"/>
                </a:cubicBezTo>
                <a:close/>
              </a:path>
            </a:pathLst>
          </a:custGeom>
        </p:spPr>
        <p:txBody>
          <a:bodyPr wrap="square" lIns="0" rIns="0">
            <a:noAutofit/>
          </a:bodyPr>
          <a:lstStyle>
            <a:lvl1pPr algn="ctr">
              <a:defRPr sz="1400"/>
            </a:lvl1pPr>
          </a:lstStyle>
          <a:p>
            <a:br>
              <a:rPr lang="en-US"/>
            </a:br>
            <a:br>
              <a:rPr lang="en-US"/>
            </a:br>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0772519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Header 11">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017E2C4C-635A-5655-9467-072CF55397B5}"/>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257492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ection Header 12">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pic>
        <p:nvPicPr>
          <p:cNvPr id="3" name="Optum Logo" descr="Optum">
            <a:extLst>
              <a:ext uri="{FF2B5EF4-FFF2-40B4-BE49-F238E27FC236}">
                <a16:creationId xmlns:a16="http://schemas.microsoft.com/office/drawing/2014/main" id="{CB4EB4D9-021E-309E-E9AB-13969D40271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6171821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ection Header 13">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sp>
        <p:nvSpPr>
          <p:cNvPr id="8" name="Picture Placeholder">
            <a:extLst>
              <a:ext uri="{FF2B5EF4-FFF2-40B4-BE49-F238E27FC236}">
                <a16:creationId xmlns:a16="http://schemas.microsoft.com/office/drawing/2014/main" id="{FE81ABCA-5D37-ECA2-D05A-2E2C8ECB6EBE}"/>
              </a:ext>
            </a:extLst>
          </p:cNvPr>
          <p:cNvSpPr>
            <a:spLocks noGrp="1"/>
          </p:cNvSpPr>
          <p:nvPr>
            <p:ph type="pic" sz="quarter" idx="13" hasCustomPrompt="1"/>
          </p:nvPr>
        </p:nvSpPr>
        <p:spPr bwMode="gray">
          <a:xfrm>
            <a:off x="6419850" y="274320"/>
            <a:ext cx="5486400" cy="6583680"/>
          </a:xfrm>
        </p:spPr>
        <p:txBody>
          <a:bodyPr lIns="457200" rIns="457200"/>
          <a:lstStyle>
            <a:lvl1pPr algn="ctr">
              <a:defRPr sz="1400"/>
            </a:lvl1pPr>
          </a:lstStyle>
          <a:p>
            <a:br>
              <a:rPr lang="en-US"/>
            </a:br>
            <a:r>
              <a:rPr lang="en-US"/>
              <a:t>Traditional, grayscale portraiture with removed background to be inserted into this placeholder with unchanged dimensions (7.2” H x 6.0”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9" name="Optum Logo" descr="Optum">
            <a:extLst>
              <a:ext uri="{FF2B5EF4-FFF2-40B4-BE49-F238E27FC236}">
                <a16:creationId xmlns:a16="http://schemas.microsoft.com/office/drawing/2014/main" id="{E26ADF6D-5767-1CA6-A7AA-4DF77A8D44B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9/24/26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6835863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a:t>
            </a:r>
            <a:r>
              <a:rPr lang="en-US" sz="15000" b="0">
                <a:solidFill>
                  <a:schemeClr val="bg1"/>
                </a:solidFill>
              </a:rPr>
              <a:t>(Themes)</a:t>
            </a:r>
            <a:endParaRPr lang="en-US" sz="15000" b="1">
              <a:solidFill>
                <a:schemeClr val="bg1"/>
              </a:solidFill>
            </a:endParaRP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9161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64317576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hoto">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9" name="Picture Placeholder">
            <a:extLst>
              <a:ext uri="{FF2B5EF4-FFF2-40B4-BE49-F238E27FC236}">
                <a16:creationId xmlns:a16="http://schemas.microsoft.com/office/drawing/2014/main" id="{8FD5E99F-A0CE-C07B-347B-4E35F401E345}"/>
              </a:ext>
            </a:extLst>
          </p:cNvPr>
          <p:cNvSpPr>
            <a:spLocks noGrp="1"/>
          </p:cNvSpPr>
          <p:nvPr>
            <p:ph type="pic" sz="quarter" idx="13" hasCustomPrompt="1"/>
          </p:nvPr>
        </p:nvSpPr>
        <p:spPr bwMode="gray">
          <a:xfrm>
            <a:off x="7528560" y="0"/>
            <a:ext cx="4663440" cy="6858000"/>
          </a:xfrm>
        </p:spPr>
        <p:txBody>
          <a:bodyPr lIns="457200" rIns="457200"/>
          <a:lstStyle>
            <a:lvl1pPr algn="ctr">
              <a:defRPr sz="1400"/>
            </a:lvl1pPr>
          </a:lstStyle>
          <a:p>
            <a:br>
              <a:rPr lang="en-US"/>
            </a:br>
            <a:r>
              <a:rPr lang="en-US"/>
              <a:t>Photography should be inserted into this placeholder with unchanged dimensions (7.5” H x 5.1”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a:p>
            <a:endParaRPr lang="en-US"/>
          </a:p>
        </p:txBody>
      </p:sp>
      <p:sp>
        <p:nvSpPr>
          <p:cNvPr id="10" name="Page # Hide Box">
            <a:extLst>
              <a:ext uri="{FF2B5EF4-FFF2-40B4-BE49-F238E27FC236}">
                <a16:creationId xmlns:a16="http://schemas.microsoft.com/office/drawing/2014/main" id="{3A3E004B-6BE7-6816-DB37-9CA2FEFA1422}"/>
              </a:ext>
              <a:ext uri="{C183D7F6-B498-43B3-948B-1728B52AA6E4}">
                <adec:decorative xmlns:adec="http://schemas.microsoft.com/office/drawing/2017/decorative" val="1"/>
              </a:ext>
            </a:extLst>
          </p:cNvPr>
          <p:cNvSpPr/>
          <p:nvPr userDrawn="1"/>
        </p:nvSpPr>
        <p:spPr bwMode="gray">
          <a:xfrm>
            <a:off x="11347450" y="6362700"/>
            <a:ext cx="463550" cy="22225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79884892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head">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9/24/26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51544484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9/24/26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449577292"/>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9/24/26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96544820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9/24/26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627563733"/>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213156"/>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667201268"/>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ubhead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9/24/26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2163866"/>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Two Lines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a:xfrm>
            <a:off x="0" y="7177230"/>
            <a:ext cx="914400" cy="30778"/>
          </a:xfrm>
        </p:spPr>
        <p:txBody>
          <a:bodyPr/>
          <a:lstStyle/>
          <a:p>
            <a:fld id="{E602961C-62DA-4519-8757-A8A16E4ED84D}" type="datetime1">
              <a:rPr lang="en-US" smtClean="0"/>
              <a:t>9/24/26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134630910"/>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1013">
          <p15:clr>
            <a:srgbClr val="5ACBF0"/>
          </p15:clr>
        </p15:guide>
        <p15:guide id="4" orient="horz" pos="344">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257300"/>
            <a:ext cx="9144000" cy="3964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9/24/26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069443243"/>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9/24/26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700248188"/>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34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305537"/>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 Effervescent">
    <p:spTree>
      <p:nvGrpSpPr>
        <p:cNvPr id="1" name=""/>
        <p:cNvGrpSpPr/>
        <p:nvPr/>
      </p:nvGrpSpPr>
      <p:grpSpPr>
        <a:xfrm>
          <a:off x="0" y="0"/>
          <a:ext cx="0" cy="0"/>
          <a:chOff x="0" y="0"/>
          <a:chExt cx="0" cy="0"/>
        </a:xfrm>
      </p:grpSpPr>
      <p:sp>
        <p:nvSpPr>
          <p:cNvPr id="10" name="Warm White Header">
            <a:extLst>
              <a:ext uri="{FF2B5EF4-FFF2-40B4-BE49-F238E27FC236}">
                <a16:creationId xmlns:a16="http://schemas.microsoft.com/office/drawing/2014/main" id="{DD73845D-CD64-79D1-8425-96318ACE26B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8" name="Effervescent Os">
            <a:extLst>
              <a:ext uri="{FF2B5EF4-FFF2-40B4-BE49-F238E27FC236}">
                <a16:creationId xmlns:a16="http://schemas.microsoft.com/office/drawing/2014/main" id="{E615D592-124C-83E3-A66F-9E644040DC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217570401"/>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56">
          <p15:clr>
            <a:srgbClr val="5ACBF0"/>
          </p15:clr>
        </p15:guide>
        <p15:guide id="4" orient="horz" pos="34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ubhead - Effervescent">
    <p:bg>
      <p:bgPr>
        <a:solidFill>
          <a:schemeClr val="bg1"/>
        </a:solidFill>
        <a:effectLst/>
      </p:bgPr>
    </p:bg>
    <p:spTree>
      <p:nvGrpSpPr>
        <p:cNvPr id="1" name=""/>
        <p:cNvGrpSpPr/>
        <p:nvPr/>
      </p:nvGrpSpPr>
      <p:grpSpPr>
        <a:xfrm>
          <a:off x="0" y="0"/>
          <a:ext cx="0" cy="0"/>
          <a:chOff x="0" y="0"/>
          <a:chExt cx="0" cy="0"/>
        </a:xfrm>
      </p:grpSpPr>
      <p:sp>
        <p:nvSpPr>
          <p:cNvPr id="7" name="Warm White Header">
            <a:extLst>
              <a:ext uri="{FF2B5EF4-FFF2-40B4-BE49-F238E27FC236}">
                <a16:creationId xmlns:a16="http://schemas.microsoft.com/office/drawing/2014/main" id="{5E699A90-2986-06DD-E06B-2752FC311656}"/>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 name="Effervescent Os">
            <a:extLst>
              <a:ext uri="{FF2B5EF4-FFF2-40B4-BE49-F238E27FC236}">
                <a16:creationId xmlns:a16="http://schemas.microsoft.com/office/drawing/2014/main" id="{1A1059DC-B75D-C98B-CC52-8E14BE9763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(1 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9/24/26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65334176"/>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56">
          <p15:clr>
            <a:srgbClr val="5ACBF0"/>
          </p15:clr>
        </p15:guide>
        <p15:guide id="4" orient="horz" pos="344">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Two Lines - Effervescent">
    <p:spTree>
      <p:nvGrpSpPr>
        <p:cNvPr id="1" name=""/>
        <p:cNvGrpSpPr/>
        <p:nvPr/>
      </p:nvGrpSpPr>
      <p:grpSpPr>
        <a:xfrm>
          <a:off x="0" y="0"/>
          <a:ext cx="0" cy="0"/>
          <a:chOff x="0" y="0"/>
          <a:chExt cx="0" cy="0"/>
        </a:xfrm>
      </p:grpSpPr>
      <p:sp>
        <p:nvSpPr>
          <p:cNvPr id="4" name="Warm White Header">
            <a:extLst>
              <a:ext uri="{FF2B5EF4-FFF2-40B4-BE49-F238E27FC236}">
                <a16:creationId xmlns:a16="http://schemas.microsoft.com/office/drawing/2014/main" id="{1882A4AD-148D-013D-7533-0E6CBEDA2F8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3" name="Effervescent Os">
            <a:extLst>
              <a:ext uri="{FF2B5EF4-FFF2-40B4-BE49-F238E27FC236}">
                <a16:creationId xmlns:a16="http://schemas.microsoft.com/office/drawing/2014/main" id="{A6D485F7-A9E9-B8F1-3134-F2EF4A5616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9/24/26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960405876"/>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056">
          <p15:clr>
            <a:srgbClr val="5ACBF0"/>
          </p15:clr>
        </p15:guide>
        <p15:guide id="3" orient="horz" pos="34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 Effervescent">
    <p:bg bwMode="gray">
      <p:bgRef idx="1001">
        <a:schemeClr val="bg1"/>
      </p:bgRef>
    </p:bg>
    <p:spTree>
      <p:nvGrpSpPr>
        <p:cNvPr id="1" name=""/>
        <p:cNvGrpSpPr/>
        <p:nvPr/>
      </p:nvGrpSpPr>
      <p:grpSpPr>
        <a:xfrm>
          <a:off x="0" y="0"/>
          <a:ext cx="0" cy="0"/>
          <a:chOff x="0" y="0"/>
          <a:chExt cx="0" cy="0"/>
        </a:xfrm>
      </p:grpSpPr>
      <p:pic>
        <p:nvPicPr>
          <p:cNvPr id="7" name="Effervescent Os">
            <a:extLst>
              <a:ext uri="{FF2B5EF4-FFF2-40B4-BE49-F238E27FC236}">
                <a16:creationId xmlns:a16="http://schemas.microsoft.com/office/drawing/2014/main" id="{71C2CAC8-6FDD-6AAD-5324-0AEE67268C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9/24/26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212167719"/>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922030"/>
      </p:ext>
    </p:extLst>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3"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9916517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02 - Left Rail">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11" name="Warm White Box">
            <a:extLst>
              <a:ext uri="{FF2B5EF4-FFF2-40B4-BE49-F238E27FC236}">
                <a16:creationId xmlns:a16="http://schemas.microsoft.com/office/drawing/2014/main" id="{011336AB-7999-186F-DE45-125C45C42903}"/>
              </a:ext>
              <a:ext uri="{C183D7F6-B498-43B3-948B-1728B52AA6E4}">
                <adec:decorative xmlns:adec="http://schemas.microsoft.com/office/drawing/2017/decorative" val="1"/>
              </a:ext>
            </a:extLst>
          </p:cNvPr>
          <p:cNvSpPr/>
          <p:nvPr userDrawn="1"/>
        </p:nvSpPr>
        <p:spPr bwMode="gray">
          <a:xfrm>
            <a:off x="7525684" y="2875"/>
            <a:ext cx="4663439" cy="6852249"/>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 name="Page Number">
            <a:extLst>
              <a:ext uri="{FF2B5EF4-FFF2-40B4-BE49-F238E27FC236}">
                <a16:creationId xmlns:a16="http://schemas.microsoft.com/office/drawing/2014/main" id="{77442741-A3C6-CDFF-AE9F-1DCB6CB5608E}"/>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1491223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Only 03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 name="Orange Title Block">
            <a:extLst>
              <a:ext uri="{FF2B5EF4-FFF2-40B4-BE49-F238E27FC236}">
                <a16:creationId xmlns:a16="http://schemas.microsoft.com/office/drawing/2014/main" id="{37CCE16F-69CB-62C6-2C39-8169483F6862}"/>
              </a:ext>
              <a:ext uri="{C183D7F6-B498-43B3-948B-1728B52AA6E4}">
                <adec:decorative xmlns:adec="http://schemas.microsoft.com/office/drawing/2017/decorative" val="1"/>
              </a:ext>
            </a:extLst>
          </p:cNvPr>
          <p:cNvSpPr/>
          <p:nvPr userDrawn="1"/>
        </p:nvSpPr>
        <p:spPr bwMode="gray">
          <a:xfrm>
            <a:off x="0" y="2150388"/>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4" y="2176437"/>
            <a:ext cx="3840480" cy="304699"/>
          </a:xfrm>
        </p:spPr>
        <p:txBody>
          <a:bodyPr/>
          <a:lstStyle>
            <a:lvl1pPr>
              <a:defRPr>
                <a:solidFill>
                  <a:schemeClr val="tx1"/>
                </a:solidFill>
                <a:latin typeface="+mj-lt"/>
              </a:defRPr>
            </a:lvl1pPr>
          </a:lstStyle>
          <a:p>
            <a:r>
              <a:rPr lang="en-US"/>
              <a:t>Slide title; Georgia Pro 22pt.</a:t>
            </a:r>
          </a:p>
        </p:txBody>
      </p:sp>
      <p:sp>
        <p:nvSpPr>
          <p:cNvPr id="14" name="Text Placeholder 13">
            <a:extLst>
              <a:ext uri="{FF2B5EF4-FFF2-40B4-BE49-F238E27FC236}">
                <a16:creationId xmlns:a16="http://schemas.microsoft.com/office/drawing/2014/main" id="{1F10D86D-52E8-A8B6-AAFC-D4A919C77F6A}"/>
              </a:ext>
            </a:extLst>
          </p:cNvPr>
          <p:cNvSpPr>
            <a:spLocks noGrp="1"/>
          </p:cNvSpPr>
          <p:nvPr>
            <p:ph type="body" sz="quarter" idx="13" hasCustomPrompt="1"/>
          </p:nvPr>
        </p:nvSpPr>
        <p:spPr bwMode="gray">
          <a:xfrm>
            <a:off x="467924" y="2676747"/>
            <a:ext cx="3840480" cy="1491101"/>
          </a:xfrm>
        </p:spPr>
        <p:txBody>
          <a:bodyPr/>
          <a:lstStyle>
            <a:lvl1pPr>
              <a:defRPr sz="1400"/>
            </a:lvl1pPr>
            <a:lvl2pPr>
              <a:defRPr sz="1400"/>
            </a:lvl2pPr>
            <a:lvl3pPr>
              <a:defRPr sz="1400"/>
            </a:lvl3pPr>
            <a:lvl4pPr>
              <a:defRPr sz="1400"/>
            </a:lvl4pPr>
            <a:lvl5pPr>
              <a:defRPr sz="1400"/>
            </a:lvl5pPr>
          </a:lstStyle>
          <a:p>
            <a:pPr lvl="0"/>
            <a:r>
              <a:rPr lang="en-US"/>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6486350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guide id="4" pos="2720">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ubhead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581331F8-6172-016F-FC39-27F13F84DD18}"/>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840480" cy="609398"/>
          </a:xfrm>
        </p:spPr>
        <p:txBody>
          <a:bodyPr/>
          <a:lstStyle>
            <a:lvl1pPr>
              <a:defRPr>
                <a:solidFill>
                  <a:schemeClr val="tx1"/>
                </a:solidFill>
                <a:latin typeface="+mj-lt"/>
              </a:defRPr>
            </a:lvl1pPr>
          </a:lstStyle>
          <a:p>
            <a:r>
              <a:rPr lang="en-US"/>
              <a:t>Slide title; Georgia Pro 22pt regular,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840480" cy="492443"/>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9/24/26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783639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 Left Rail">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9/24/26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7831498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8312632"/>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 Dynamic O">
    <p:spTree>
      <p:nvGrpSpPr>
        <p:cNvPr id="1" name=""/>
        <p:cNvGrpSpPr/>
        <p:nvPr/>
      </p:nvGrpSpPr>
      <p:grpSpPr>
        <a:xfrm>
          <a:off x="0" y="0"/>
          <a:ext cx="0" cy="0"/>
          <a:chOff x="0" y="0"/>
          <a:chExt cx="0" cy="0"/>
        </a:xfrm>
      </p:grpSpPr>
      <p:cxnSp>
        <p:nvCxnSpPr>
          <p:cNvPr id="10" name="Stroke">
            <a:extLst>
              <a:ext uri="{FF2B5EF4-FFF2-40B4-BE49-F238E27FC236}">
                <a16:creationId xmlns:a16="http://schemas.microsoft.com/office/drawing/2014/main" id="{2B3D0455-97C9-6B15-468A-48954B80E220}"/>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pic>
        <p:nvPicPr>
          <p:cNvPr id="9" name="Dynamic O">
            <a:extLst>
              <a:ext uri="{FF2B5EF4-FFF2-40B4-BE49-F238E27FC236}">
                <a16:creationId xmlns:a16="http://schemas.microsoft.com/office/drawing/2014/main" id="{2DAEF8D2-19A9-6266-45C3-0C543F40669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9/24/26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99315457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head - Dynamic O">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7" name="Dynamic O">
            <a:extLst>
              <a:ext uri="{FF2B5EF4-FFF2-40B4-BE49-F238E27FC236}">
                <a16:creationId xmlns:a16="http://schemas.microsoft.com/office/drawing/2014/main" id="{B6360653-C8FF-57B1-C6F2-74B14BEF6D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9/24/26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212497626"/>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Two Lines - Dynamic O">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pic>
        <p:nvPicPr>
          <p:cNvPr id="4" name="Dynamic O">
            <a:extLst>
              <a:ext uri="{FF2B5EF4-FFF2-40B4-BE49-F238E27FC236}">
                <a16:creationId xmlns:a16="http://schemas.microsoft.com/office/drawing/2014/main" id="{C7D6EF7F-409E-5E5A-0010-087530584C3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9/24/26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361333549"/>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 Dynamic O">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398201" y="1557210"/>
            <a:ext cx="774065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8" name="Dynamic O">
            <a:extLst>
              <a:ext uri="{FF2B5EF4-FFF2-40B4-BE49-F238E27FC236}">
                <a16:creationId xmlns:a16="http://schemas.microsoft.com/office/drawing/2014/main" id="{B7010C59-C99C-6A30-D988-20EDF6E7BC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9/24/26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53433476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 Dynamic O">
    <p:bg bwMode="gray">
      <p:bgRef idx="1001">
        <a:schemeClr val="bg1"/>
      </p:bgRef>
    </p:bg>
    <p:spTree>
      <p:nvGrpSpPr>
        <p:cNvPr id="1" name=""/>
        <p:cNvGrpSpPr/>
        <p:nvPr/>
      </p:nvGrpSpPr>
      <p:grpSpPr>
        <a:xfrm>
          <a:off x="0" y="0"/>
          <a:ext cx="0" cy="0"/>
          <a:chOff x="0" y="0"/>
          <a:chExt cx="0" cy="0"/>
        </a:xfrm>
      </p:grpSpPr>
      <p:pic>
        <p:nvPicPr>
          <p:cNvPr id="5" name="Dynamic O">
            <a:extLst>
              <a:ext uri="{FF2B5EF4-FFF2-40B4-BE49-F238E27FC236}">
                <a16:creationId xmlns:a16="http://schemas.microsoft.com/office/drawing/2014/main" id="{43D14A94-F29C-229F-3EC0-7FEF399A9B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9/24/26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899855519"/>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699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SpPr/>
          <p:nvPr/>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46619" cy="2871369"/>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Georgia Pro 32pt, sentence case. Don’t modify size or placement of textbox.”</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5713686" y="5207977"/>
            <a:ext cx="4800600" cy="215444"/>
          </a:xfrm>
        </p:spPr>
        <p:txBody>
          <a:bodyPr wrap="square" anchor="b">
            <a:spAutoFit/>
          </a:bodyPr>
          <a:lstStyle>
            <a:lvl1pPr algn="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5713686" y="5449865"/>
            <a:ext cx="4800600" cy="184666"/>
          </a:xfrm>
        </p:spPr>
        <p:txBody>
          <a:bodyPr wrap="square" anchor="t">
            <a:spAutoFit/>
          </a:bodyPr>
          <a:lstStyle>
            <a:lvl1pPr algn="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6B997ACD-FFD4-42B7-9BA4-F3C2403892BC}"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946228009"/>
      </p:ext>
    </p:extLst>
  </p:cSld>
  <p:clrMapOvr>
    <a:masterClrMapping/>
  </p:clrMapOvr>
  <p:extLst>
    <p:ext uri="{DCECCB84-F9BA-43D5-87BE-67443E8EF086}">
      <p15:sldGuideLst xmlns:p15="http://schemas.microsoft.com/office/powerpoint/2012/main">
        <p15:guide id="1" orient="horz" pos="1251">
          <p15:clr>
            <a:srgbClr val="5ACBF0"/>
          </p15:clr>
        </p15:guide>
        <p15:guide id="2" pos="1053">
          <p15:clr>
            <a:srgbClr val="5ACBF0"/>
          </p15:clr>
        </p15:guide>
        <p15:guide id="3" pos="6630">
          <p15:clr>
            <a:srgbClr val="5ACBF0"/>
          </p15:clr>
        </p15:guide>
        <p15:guide id="4" orient="horz" pos="307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2" name="Quotemark">
            <a:extLst>
              <a:ext uri="{FF2B5EF4-FFF2-40B4-BE49-F238E27FC236}">
                <a16:creationId xmlns:a16="http://schemas.microsoft.com/office/drawing/2014/main" id="{D0DB7721-8B40-E9C3-9C0E-F32FEBBA4C5D}"/>
              </a:ext>
              <a:ext uri="{C183D7F6-B498-43B3-948B-1728B52AA6E4}">
                <adec:decorative xmlns:adec="http://schemas.microsoft.com/office/drawing/2017/decorative" val="1"/>
              </a:ext>
            </a:extLst>
          </p:cNvPr>
          <p:cNvSpPr/>
          <p:nvPr userDrawn="1"/>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51392" cy="2011126"/>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Georgia Pro 32pt, sentence case. Don’t modify size or placement of textbox.”</a:t>
            </a:r>
          </a:p>
        </p:txBody>
      </p:sp>
      <p:sp>
        <p:nvSpPr>
          <p:cNvPr id="13" name="Headshot Placeholder">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3337823" y="4492053"/>
            <a:ext cx="1046830" cy="1046830"/>
          </a:xfrm>
          <a:prstGeom prst="ellipse">
            <a:avLst/>
          </a:prstGeom>
        </p:spPr>
        <p:txBody>
          <a:bodyPr>
            <a:normAutofit/>
          </a:bodyPr>
          <a:lstStyle>
            <a:lvl1pPr algn="ctr">
              <a:spcBef>
                <a:spcPts val="0"/>
              </a:spcBef>
              <a:defRPr sz="800">
                <a:solidFill>
                  <a:schemeClr val="tx1"/>
                </a:solidFill>
              </a:defRPr>
            </a:lvl1pPr>
          </a:lstStyle>
          <a:p>
            <a:r>
              <a:rPr lang="en-US"/>
              <a:t>Insert attribution</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4673162" y="4786149"/>
            <a:ext cx="3657600" cy="215444"/>
          </a:xfrm>
        </p:spPr>
        <p:txBody>
          <a:bodyPr wrap="square" anchor="b">
            <a:spAutoFit/>
          </a:bodyPr>
          <a:lstStyle>
            <a:lvl1pPr algn="l">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4673162" y="5028037"/>
            <a:ext cx="3657600" cy="184666"/>
          </a:xfrm>
        </p:spPr>
        <p:txBody>
          <a:bodyPr wrap="square" anchor="t">
            <a:spAutoFit/>
          </a:bodyPr>
          <a:lstStyle>
            <a:lvl1pPr algn="l">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2BD6EE-B5F9-44F3-A830-8ED994B9F4E4}"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604523959"/>
      </p:ext>
    </p:extLst>
  </p:cSld>
  <p:clrMapOvr>
    <a:masterClrMapping/>
  </p:clrMapOvr>
  <p:extLst>
    <p:ext uri="{DCECCB84-F9BA-43D5-87BE-67443E8EF086}">
      <p15:sldGuideLst xmlns:p15="http://schemas.microsoft.com/office/powerpoint/2012/main">
        <p15:guide id="1" pos="1053">
          <p15:clr>
            <a:srgbClr val="5ACBF0"/>
          </p15:clr>
        </p15:guide>
        <p15:guide id="2" pos="6632">
          <p15:clr>
            <a:srgbClr val="5ACBF0"/>
          </p15:clr>
        </p15:guide>
        <p15:guide id="3" orient="horz" pos="1248">
          <p15:clr>
            <a:srgbClr val="5ACBF0"/>
          </p15:clr>
        </p15:guide>
        <p15:guide id="4" orient="horz" pos="252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28940840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ig Fact - Sky Blue">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71235055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ig Fact - Dawn">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7422284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6F5C39BF-69B3-2837-3539-9EC6AC63B6E4}"/>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1">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1">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7" name="Fact Placeholder 2">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8" name="Content Placeholder 2">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188F3D36-6F24-466D-BEC2-9B7949FEAF1E}" type="datetime1">
              <a:rPr lang="en-US" smtClean="0"/>
              <a:t>9/24/26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16106390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2351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0"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361669238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Closing Slide - Alt">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0" name="Optum Logo" descr="Optum">
            <a:extLst>
              <a:ext uri="{FF2B5EF4-FFF2-40B4-BE49-F238E27FC236}">
                <a16:creationId xmlns:a16="http://schemas.microsoft.com/office/drawing/2014/main" id="{1A7A9804-2478-CD00-E2AF-A61CDE018953}"/>
              </a:ext>
              <a:ext uri="{C183D7F6-B498-43B3-948B-1728B52AA6E4}">
                <adec:decorative xmlns:adec="http://schemas.microsoft.com/office/drawing/2017/decorative" val="0"/>
              </a:ext>
            </a:extLst>
          </p:cNvPr>
          <p:cNvSpPr/>
          <p:nvPr/>
        </p:nvSpPr>
        <p:spPr bwMode="gray">
          <a:xfrm>
            <a:off x="184404" y="1349116"/>
            <a:ext cx="11823192" cy="3534131"/>
          </a:xfrm>
          <a:custGeom>
            <a:avLst/>
            <a:gdLst>
              <a:gd name="connsiteX0" fmla="*/ 3997943 w 11823192"/>
              <a:gd name="connsiteY0" fmla="*/ 1184415 h 3534131"/>
              <a:gd name="connsiteX1" fmla="*/ 3511808 w 11823192"/>
              <a:gd name="connsiteY1" fmla="*/ 1697581 h 3534131"/>
              <a:gd name="connsiteX2" fmla="*/ 3997943 w 11823192"/>
              <a:gd name="connsiteY2" fmla="*/ 2214536 h 3534131"/>
              <a:gd name="connsiteX3" fmla="*/ 4480290 w 11823192"/>
              <a:gd name="connsiteY3" fmla="*/ 1697581 h 3534131"/>
              <a:gd name="connsiteX4" fmla="*/ 3997943 w 11823192"/>
              <a:gd name="connsiteY4" fmla="*/ 1184415 h 3534131"/>
              <a:gd name="connsiteX5" fmla="*/ 6725845 w 11823192"/>
              <a:gd name="connsiteY5" fmla="*/ 663672 h 3534131"/>
              <a:gd name="connsiteX6" fmla="*/ 7397273 w 11823192"/>
              <a:gd name="connsiteY6" fmla="*/ 663672 h 3534131"/>
              <a:gd name="connsiteX7" fmla="*/ 7397273 w 11823192"/>
              <a:gd name="connsiteY7" fmla="*/ 1925406 h 3534131"/>
              <a:gd name="connsiteX8" fmla="*/ 7690538 w 11823192"/>
              <a:gd name="connsiteY8" fmla="*/ 2222457 h 3534131"/>
              <a:gd name="connsiteX9" fmla="*/ 7983804 w 11823192"/>
              <a:gd name="connsiteY9" fmla="*/ 1925406 h 3534131"/>
              <a:gd name="connsiteX10" fmla="*/ 7983804 w 11823192"/>
              <a:gd name="connsiteY10" fmla="*/ 663672 h 3534131"/>
              <a:gd name="connsiteX11" fmla="*/ 8655232 w 11823192"/>
              <a:gd name="connsiteY11" fmla="*/ 663672 h 3534131"/>
              <a:gd name="connsiteX12" fmla="*/ 8655232 w 11823192"/>
              <a:gd name="connsiteY12" fmla="*/ 1944521 h 3534131"/>
              <a:gd name="connsiteX13" fmla="*/ 8654887 w 11823192"/>
              <a:gd name="connsiteY13" fmla="*/ 1944521 h 3534131"/>
              <a:gd name="connsiteX14" fmla="*/ 7690366 w 11823192"/>
              <a:gd name="connsiteY14" fmla="*/ 2777986 h 3534131"/>
              <a:gd name="connsiteX15" fmla="*/ 6725845 w 11823192"/>
              <a:gd name="connsiteY15" fmla="*/ 1944521 h 3534131"/>
              <a:gd name="connsiteX16" fmla="*/ 1227678 w 11823192"/>
              <a:gd name="connsiteY16" fmla="*/ 640425 h 3534131"/>
              <a:gd name="connsiteX17" fmla="*/ 525426 w 11823192"/>
              <a:gd name="connsiteY17" fmla="*/ 1381244 h 3534131"/>
              <a:gd name="connsiteX18" fmla="*/ 1227678 w 11823192"/>
              <a:gd name="connsiteY18" fmla="*/ 2122063 h 3534131"/>
              <a:gd name="connsiteX19" fmla="*/ 1929931 w 11823192"/>
              <a:gd name="connsiteY19" fmla="*/ 1381244 h 3534131"/>
              <a:gd name="connsiteX20" fmla="*/ 1227678 w 11823192"/>
              <a:gd name="connsiteY20" fmla="*/ 640425 h 3534131"/>
              <a:gd name="connsiteX21" fmla="*/ 10086256 w 11823192"/>
              <a:gd name="connsiteY21" fmla="*/ 632848 h 3534131"/>
              <a:gd name="connsiteX22" fmla="*/ 10676576 w 11823192"/>
              <a:gd name="connsiteY22" fmla="*/ 968472 h 3534131"/>
              <a:gd name="connsiteX23" fmla="*/ 11309258 w 11823192"/>
              <a:gd name="connsiteY23" fmla="*/ 632848 h 3534131"/>
              <a:gd name="connsiteX24" fmla="*/ 11728549 w 11823192"/>
              <a:gd name="connsiteY24" fmla="*/ 762880 h 3534131"/>
              <a:gd name="connsiteX25" fmla="*/ 11823192 w 11823192"/>
              <a:gd name="connsiteY25" fmla="*/ 851969 h 3534131"/>
              <a:gd name="connsiteX26" fmla="*/ 11823192 w 11823192"/>
              <a:gd name="connsiteY26" fmla="*/ 2731835 h 3534131"/>
              <a:gd name="connsiteX27" fmla="*/ 11340082 w 11823192"/>
              <a:gd name="connsiteY27" fmla="*/ 2731835 h 3534131"/>
              <a:gd name="connsiteX28" fmla="*/ 11340082 w 11823192"/>
              <a:gd name="connsiteY28" fmla="*/ 1500925 h 3534131"/>
              <a:gd name="connsiteX29" fmla="*/ 11058355 w 11823192"/>
              <a:gd name="connsiteY29" fmla="*/ 1180627 h 3534131"/>
              <a:gd name="connsiteX30" fmla="*/ 10776627 w 11823192"/>
              <a:gd name="connsiteY30" fmla="*/ 1500925 h 3534131"/>
              <a:gd name="connsiteX31" fmla="*/ 10776627 w 11823192"/>
              <a:gd name="connsiteY31" fmla="*/ 2731663 h 3534131"/>
              <a:gd name="connsiteX32" fmla="*/ 10109160 w 11823192"/>
              <a:gd name="connsiteY32" fmla="*/ 2731663 h 3534131"/>
              <a:gd name="connsiteX33" fmla="*/ 10109160 w 11823192"/>
              <a:gd name="connsiteY33" fmla="*/ 1500925 h 3534131"/>
              <a:gd name="connsiteX34" fmla="*/ 9827432 w 11823192"/>
              <a:gd name="connsiteY34" fmla="*/ 1180627 h 3534131"/>
              <a:gd name="connsiteX35" fmla="*/ 9545705 w 11823192"/>
              <a:gd name="connsiteY35" fmla="*/ 1500925 h 3534131"/>
              <a:gd name="connsiteX36" fmla="*/ 9545705 w 11823192"/>
              <a:gd name="connsiteY36" fmla="*/ 2731663 h 3534131"/>
              <a:gd name="connsiteX37" fmla="*/ 8878581 w 11823192"/>
              <a:gd name="connsiteY37" fmla="*/ 2731663 h 3534131"/>
              <a:gd name="connsiteX38" fmla="*/ 8878581 w 11823192"/>
              <a:gd name="connsiteY38" fmla="*/ 663672 h 3534131"/>
              <a:gd name="connsiteX39" fmla="*/ 9534511 w 11823192"/>
              <a:gd name="connsiteY39" fmla="*/ 663672 h 3534131"/>
              <a:gd name="connsiteX40" fmla="*/ 9538299 w 11823192"/>
              <a:gd name="connsiteY40" fmla="*/ 910612 h 3534131"/>
              <a:gd name="connsiteX41" fmla="*/ 10086256 w 11823192"/>
              <a:gd name="connsiteY41" fmla="*/ 632848 h 3534131"/>
              <a:gd name="connsiteX42" fmla="*/ 4152239 w 11823192"/>
              <a:gd name="connsiteY42" fmla="*/ 632675 h 3534131"/>
              <a:gd name="connsiteX43" fmla="*/ 5151545 w 11823192"/>
              <a:gd name="connsiteY43" fmla="*/ 1697581 h 3534131"/>
              <a:gd name="connsiteX44" fmla="*/ 4152239 w 11823192"/>
              <a:gd name="connsiteY44" fmla="*/ 2766276 h 3534131"/>
              <a:gd name="connsiteX45" fmla="*/ 3511808 w 11823192"/>
              <a:gd name="connsiteY45" fmla="*/ 2515548 h 3534131"/>
              <a:gd name="connsiteX46" fmla="*/ 3511808 w 11823192"/>
              <a:gd name="connsiteY46" fmla="*/ 3534131 h 3534131"/>
              <a:gd name="connsiteX47" fmla="*/ 2840552 w 11823192"/>
              <a:gd name="connsiteY47" fmla="*/ 3534131 h 3534131"/>
              <a:gd name="connsiteX48" fmla="*/ 2840552 w 11823192"/>
              <a:gd name="connsiteY48" fmla="*/ 663500 h 3534131"/>
              <a:gd name="connsiteX49" fmla="*/ 3488732 w 11823192"/>
              <a:gd name="connsiteY49" fmla="*/ 663500 h 3534131"/>
              <a:gd name="connsiteX50" fmla="*/ 3492521 w 11823192"/>
              <a:gd name="connsiteY50" fmla="*/ 902690 h 3534131"/>
              <a:gd name="connsiteX51" fmla="*/ 4152239 w 11823192"/>
              <a:gd name="connsiteY51" fmla="*/ 632675 h 3534131"/>
              <a:gd name="connsiteX52" fmla="*/ 5325128 w 11823192"/>
              <a:gd name="connsiteY52" fmla="*/ 135007 h 3534131"/>
              <a:gd name="connsiteX53" fmla="*/ 5992596 w 11823192"/>
              <a:gd name="connsiteY53" fmla="*/ 135007 h 3534131"/>
              <a:gd name="connsiteX54" fmla="*/ 5992596 w 11823192"/>
              <a:gd name="connsiteY54" fmla="*/ 663672 h 3534131"/>
              <a:gd name="connsiteX55" fmla="*/ 6544341 w 11823192"/>
              <a:gd name="connsiteY55" fmla="*/ 663672 h 3534131"/>
              <a:gd name="connsiteX56" fmla="*/ 6544341 w 11823192"/>
              <a:gd name="connsiteY56" fmla="*/ 1196125 h 3534131"/>
              <a:gd name="connsiteX57" fmla="*/ 5992596 w 11823192"/>
              <a:gd name="connsiteY57" fmla="*/ 1196125 h 3534131"/>
              <a:gd name="connsiteX58" fmla="*/ 5992596 w 11823192"/>
              <a:gd name="connsiteY58" fmla="*/ 1936772 h 3534131"/>
              <a:gd name="connsiteX59" fmla="*/ 6289650 w 11823192"/>
              <a:gd name="connsiteY59" fmla="*/ 2206787 h 3534131"/>
              <a:gd name="connsiteX60" fmla="*/ 6544341 w 11823192"/>
              <a:gd name="connsiteY60" fmla="*/ 2164425 h 3534131"/>
              <a:gd name="connsiteX61" fmla="*/ 6544341 w 11823192"/>
              <a:gd name="connsiteY61" fmla="*/ 2693089 h 3534131"/>
              <a:gd name="connsiteX62" fmla="*/ 6119855 w 11823192"/>
              <a:gd name="connsiteY62" fmla="*/ 2762487 h 3534131"/>
              <a:gd name="connsiteX63" fmla="*/ 5325128 w 11823192"/>
              <a:gd name="connsiteY63" fmla="*/ 1990844 h 3534131"/>
              <a:gd name="connsiteX64" fmla="*/ 1227678 w 11823192"/>
              <a:gd name="connsiteY64" fmla="*/ 0 h 3534131"/>
              <a:gd name="connsiteX65" fmla="*/ 2639761 w 11823192"/>
              <a:gd name="connsiteY65" fmla="*/ 1381244 h 3534131"/>
              <a:gd name="connsiteX66" fmla="*/ 1227678 w 11823192"/>
              <a:gd name="connsiteY66" fmla="*/ 2762487 h 3534131"/>
              <a:gd name="connsiteX67" fmla="*/ 53840 w 11823192"/>
              <a:gd name="connsiteY67" fmla="*/ 2155714 h 3534131"/>
              <a:gd name="connsiteX68" fmla="*/ 0 w 11823192"/>
              <a:gd name="connsiteY68" fmla="*/ 2068189 h 3534131"/>
              <a:gd name="connsiteX69" fmla="*/ 0 w 11823192"/>
              <a:gd name="connsiteY69" fmla="*/ 694299 h 3534131"/>
              <a:gd name="connsiteX70" fmla="*/ 53840 w 11823192"/>
              <a:gd name="connsiteY70" fmla="*/ 606774 h 3534131"/>
              <a:gd name="connsiteX71" fmla="*/ 1227678 w 11823192"/>
              <a:gd name="connsiteY71" fmla="*/ 0 h 353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cap="flat">
            <a:noFill/>
            <a:prstDash val="solid"/>
            <a:miter/>
          </a:ln>
        </p:spPr>
        <p:txBody>
          <a:bodyPr rtlCol="0" anchor="ctr"/>
          <a:lstStyle/>
          <a:p>
            <a:endParaRPr lang="en-US"/>
          </a:p>
        </p:txBody>
      </p:sp>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234865238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2813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65.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slideLayout" Target="../slideLayouts/slideLayout81.xml"/><Relationship Id="rId47" Type="http://schemas.openxmlformats.org/officeDocument/2006/relationships/slideLayout" Target="../slideLayouts/slideLayout86.xml"/><Relationship Id="rId50" Type="http://schemas.openxmlformats.org/officeDocument/2006/relationships/slideLayout" Target="../slideLayouts/slideLayout89.xml"/><Relationship Id="rId55" Type="http://schemas.openxmlformats.org/officeDocument/2006/relationships/slideLayout" Target="../slideLayouts/slideLayout94.xml"/><Relationship Id="rId63" Type="http://schemas.openxmlformats.org/officeDocument/2006/relationships/slideLayout" Target="../slideLayouts/slideLayout102.xml"/><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slideLayout" Target="../slideLayouts/slideLayout84.xml"/><Relationship Id="rId53" Type="http://schemas.openxmlformats.org/officeDocument/2006/relationships/slideLayout" Target="../slideLayouts/slideLayout92.xml"/><Relationship Id="rId58" Type="http://schemas.openxmlformats.org/officeDocument/2006/relationships/slideLayout" Target="../slideLayouts/slideLayout97.xml"/><Relationship Id="rId5" Type="http://schemas.openxmlformats.org/officeDocument/2006/relationships/slideLayout" Target="../slideLayouts/slideLayout44.xml"/><Relationship Id="rId61" Type="http://schemas.openxmlformats.org/officeDocument/2006/relationships/slideLayout" Target="../slideLayouts/slideLayout100.xml"/><Relationship Id="rId19" Type="http://schemas.openxmlformats.org/officeDocument/2006/relationships/slideLayout" Target="../slideLayouts/slideLayout5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slideLayout" Target="../slideLayouts/slideLayout82.xml"/><Relationship Id="rId48" Type="http://schemas.openxmlformats.org/officeDocument/2006/relationships/slideLayout" Target="../slideLayouts/slideLayout87.xml"/><Relationship Id="rId56" Type="http://schemas.openxmlformats.org/officeDocument/2006/relationships/slideLayout" Target="../slideLayouts/slideLayout95.xml"/><Relationship Id="rId64" Type="http://schemas.openxmlformats.org/officeDocument/2006/relationships/theme" Target="../theme/theme2.xml"/><Relationship Id="rId8" Type="http://schemas.openxmlformats.org/officeDocument/2006/relationships/slideLayout" Target="../slideLayouts/slideLayout47.xml"/><Relationship Id="rId51" Type="http://schemas.openxmlformats.org/officeDocument/2006/relationships/slideLayout" Target="../slideLayouts/slideLayout90.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slideLayout" Target="../slideLayouts/slideLayout85.xml"/><Relationship Id="rId59" Type="http://schemas.openxmlformats.org/officeDocument/2006/relationships/slideLayout" Target="../slideLayouts/slideLayout98.xml"/><Relationship Id="rId20" Type="http://schemas.openxmlformats.org/officeDocument/2006/relationships/slideLayout" Target="../slideLayouts/slideLayout59.xml"/><Relationship Id="rId41" Type="http://schemas.openxmlformats.org/officeDocument/2006/relationships/slideLayout" Target="../slideLayouts/slideLayout80.xml"/><Relationship Id="rId54" Type="http://schemas.openxmlformats.org/officeDocument/2006/relationships/slideLayout" Target="../slideLayouts/slideLayout93.xml"/><Relationship Id="rId62" Type="http://schemas.openxmlformats.org/officeDocument/2006/relationships/slideLayout" Target="../slideLayouts/slideLayout10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49" Type="http://schemas.openxmlformats.org/officeDocument/2006/relationships/slideLayout" Target="../slideLayouts/slideLayout88.xml"/><Relationship Id="rId57" Type="http://schemas.openxmlformats.org/officeDocument/2006/relationships/slideLayout" Target="../slideLayouts/slideLayout96.xml"/><Relationship Id="rId10" Type="http://schemas.openxmlformats.org/officeDocument/2006/relationships/slideLayout" Target="../slideLayouts/slideLayout49.xml"/><Relationship Id="rId31" Type="http://schemas.openxmlformats.org/officeDocument/2006/relationships/slideLayout" Target="../slideLayouts/slideLayout70.xml"/><Relationship Id="rId44" Type="http://schemas.openxmlformats.org/officeDocument/2006/relationships/slideLayout" Target="../slideLayouts/slideLayout83.xml"/><Relationship Id="rId52" Type="http://schemas.openxmlformats.org/officeDocument/2006/relationships/slideLayout" Target="../slideLayouts/slideLayout91.xml"/><Relationship Id="rId60" Type="http://schemas.openxmlformats.org/officeDocument/2006/relationships/slideLayout" Target="../slideLayouts/slideLayout99.xml"/><Relationship Id="rId65" Type="http://schemas.openxmlformats.org/officeDocument/2006/relationships/image" Target="../media/image14.svg"/><Relationship Id="rId4" Type="http://schemas.openxmlformats.org/officeDocument/2006/relationships/slideLayout" Target="../slideLayouts/slideLayout43.xml"/><Relationship Id="rId9" Type="http://schemas.openxmlformats.org/officeDocument/2006/relationships/slideLayout" Target="../slideLayouts/slideLayout48.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F36062A-1655-4530-ACBD-3C58ED2B33A6}"/>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F05F61D3-6EEE-4B43-A90B-FDAB6329CC17}" type="datetime1">
              <a:rPr lang="en-US" smtClean="0"/>
              <a:t>9/24/26</a:t>
            </a:fld>
            <a:endParaRPr lang="en-US" dirty="0"/>
          </a:p>
        </p:txBody>
      </p:sp>
      <p:sp>
        <p:nvSpPr>
          <p:cNvPr id="6" name="Slide Number Placeholder 5">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dirty="0"/>
          </a:p>
        </p:txBody>
      </p:sp>
      <p:sp>
        <p:nvSpPr>
          <p:cNvPr id="5" name="Footer Placeholder 4">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dirty="0"/>
              <a:t>Confidential property of Optum. Do not distribute or reproduce without express permission from Optum.</a:t>
            </a:r>
          </a:p>
        </p:txBody>
      </p:sp>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dirty="0">
              <a:solidFill>
                <a:schemeClr val="tx1"/>
              </a:solidFill>
            </a:endParaRPr>
          </a:p>
        </p:txBody>
      </p:sp>
      <p:sp>
        <p:nvSpPr>
          <p:cNvPr id="3" name="Text Placeholder 2">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116AB501-2D32-4243-9F5D-C56CB3493024}"/>
              </a:ext>
            </a:extLst>
          </p:cNvPr>
          <p:cNvSpPr>
            <a:spLocks noGrp="1"/>
          </p:cNvSpPr>
          <p:nvPr>
            <p:ph type="title"/>
          </p:nvPr>
        </p:nvSpPr>
        <p:spPr bwMode="gray">
          <a:xfrm>
            <a:off x="457199" y="555639"/>
            <a:ext cx="9601200" cy="304699"/>
          </a:xfrm>
          <a:prstGeom prst="rect">
            <a:avLst/>
          </a:prstGeom>
        </p:spPr>
        <p:txBody>
          <a:bodyPr vert="horz" wrap="square" lIns="0" tIns="0" rIns="0" bIns="0" rtlCol="0" anchor="t" anchorCtr="0">
            <a:spAutoFit/>
          </a:bodyPr>
          <a:lstStyle/>
          <a:p>
            <a:r>
              <a:rPr lang="en-US"/>
              <a:t>Click to edit Master title style</a:t>
            </a:r>
          </a:p>
        </p:txBody>
      </p:sp>
      <p:pic>
        <p:nvPicPr>
          <p:cNvPr id="10" name="Picture 9">
            <a:extLst>
              <a:ext uri="{FF2B5EF4-FFF2-40B4-BE49-F238E27FC236}">
                <a16:creationId xmlns:a16="http://schemas.microsoft.com/office/drawing/2014/main" id="{BA83B7AF-C417-F1B3-51C4-4C744DEDC593}"/>
              </a:ext>
            </a:extLst>
          </p:cNvPr>
          <p:cNvPicPr>
            <a:picLocks noChangeAspect="1"/>
          </p:cNvPicPr>
          <p:nvPr userDrawn="1"/>
        </p:nvPicPr>
        <p:blipFill rotWithShape="1">
          <a:blip r:embed="rId41" cstate="screen">
            <a:extLst>
              <a:ext uri="{28A0092B-C50C-407E-A947-70E740481C1C}">
                <a14:useLocalDpi xmlns:a14="http://schemas.microsoft.com/office/drawing/2010/main"/>
              </a:ext>
            </a:extLst>
          </a:blip>
          <a:srcRect t="-1" r="15061" b="-16987"/>
          <a:stretch/>
        </p:blipFill>
        <p:spPr>
          <a:xfrm>
            <a:off x="457199" y="6369226"/>
            <a:ext cx="2244437" cy="208614"/>
          </a:xfrm>
          <a:prstGeom prst="rect">
            <a:avLst/>
          </a:prstGeom>
        </p:spPr>
      </p:pic>
      <p:sp>
        <p:nvSpPr>
          <p:cNvPr id="15" name="Copyright">
            <a:extLst>
              <a:ext uri="{FF2B5EF4-FFF2-40B4-BE49-F238E27FC236}">
                <a16:creationId xmlns:a16="http://schemas.microsoft.com/office/drawing/2014/main" id="{D36BFCB8-6962-F335-A94B-464D3150213A}"/>
              </a:ext>
            </a:extLst>
          </p:cNvPr>
          <p:cNvSpPr txBox="1"/>
          <p:nvPr userDrawn="1"/>
        </p:nvSpPr>
        <p:spPr bwMode="gray">
          <a:xfrm>
            <a:off x="9170168" y="6420875"/>
            <a:ext cx="2793997" cy="107722"/>
          </a:xfrm>
          <a:prstGeom prst="rect">
            <a:avLst/>
          </a:prstGeom>
          <a:noFill/>
        </p:spPr>
        <p:txBody>
          <a:bodyPr wrap="square" lIns="0" tIns="0" rIns="0" bIns="0" rtlCol="0">
            <a:spAutoFit/>
          </a:bodyPr>
          <a:lstStyle/>
          <a:p>
            <a:pPr algn="ctr"/>
            <a:r>
              <a:rPr lang="en-US" sz="700" b="0" spc="0" baseline="0" dirty="0">
                <a:solidFill>
                  <a:schemeClr val="tx1"/>
                </a:solidFill>
              </a:rPr>
              <a:t>© 2023 Optum, Inc. All rights reserved.</a:t>
            </a:r>
          </a:p>
        </p:txBody>
      </p:sp>
    </p:spTree>
    <p:extLst>
      <p:ext uri="{BB962C8B-B14F-4D97-AF65-F5344CB8AC3E}">
        <p14:creationId xmlns:p14="http://schemas.microsoft.com/office/powerpoint/2010/main" val="18810177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Lst>
  <p:hf sldNum="0" hdr="0" ftr="0" dt="0"/>
  <p:txStyles>
    <p:titleStyle>
      <a:lvl1pPr algn="l" defTabSz="914400" rtl="0" eaLnBrk="1" latinLnBrk="0" hangingPunct="1">
        <a:lnSpc>
          <a:spcPct val="90000"/>
        </a:lnSpc>
        <a:spcBef>
          <a:spcPct val="0"/>
        </a:spcBef>
        <a:buNone/>
        <a:defRPr sz="2200" b="1" kern="1200">
          <a:solidFill>
            <a:schemeClr val="accent6"/>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231775" indent="0" algn="l" defTabSz="914400" rtl="0" eaLnBrk="1" latinLnBrk="0" hangingPunct="1">
        <a:lnSpc>
          <a:spcPct val="100000"/>
        </a:lnSpc>
        <a:spcBef>
          <a:spcPts val="600"/>
        </a:spcBef>
        <a:buFontTx/>
        <a:buNone/>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688975" indent="-2286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16AB501-2D32-4243-9F5D-C56CB3493024}"/>
              </a:ext>
            </a:extLst>
          </p:cNvPr>
          <p:cNvSpPr>
            <a:spLocks noGrp="1"/>
          </p:cNvSpPr>
          <p:nvPr>
            <p:ph type="title"/>
          </p:nvPr>
        </p:nvSpPr>
        <p:spPr bwMode="gray">
          <a:xfrm>
            <a:off x="467926" y="555639"/>
            <a:ext cx="9601200" cy="304699"/>
          </a:xfrm>
          <a:prstGeom prst="rect">
            <a:avLst/>
          </a:prstGeom>
        </p:spPr>
        <p:txBody>
          <a:bodyPr vert="horz" wrap="square" lIns="0" tIns="0" rIns="0" bIns="0" rtlCol="0" anchor="t" anchorCtr="0">
            <a:spAutoFit/>
          </a:bodyPr>
          <a:lstStyle/>
          <a:p>
            <a:r>
              <a:rPr lang="en-US"/>
              <a:t>Click to edit Primary title style</a:t>
            </a:r>
          </a:p>
        </p:txBody>
      </p:sp>
      <p:sp>
        <p:nvSpPr>
          <p:cNvPr id="3" name="Text Placeholder">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Primary text styles</a:t>
            </a:r>
          </a:p>
          <a:p>
            <a:pPr lvl="1"/>
            <a:r>
              <a:rPr lang="en-US"/>
              <a:t>Second level</a:t>
            </a:r>
          </a:p>
          <a:p>
            <a:pPr lvl="2"/>
            <a:r>
              <a:rPr lang="en-US"/>
              <a:t>Third level</a:t>
            </a:r>
          </a:p>
          <a:p>
            <a:pPr lvl="3"/>
            <a:r>
              <a:rPr lang="en-US"/>
              <a:t>Fourth level</a:t>
            </a:r>
          </a:p>
          <a:p>
            <a:pPr lvl="4"/>
            <a:r>
              <a:rPr lang="en-US"/>
              <a:t>Fifth level</a:t>
            </a:r>
          </a:p>
          <a:p>
            <a:pPr lvl="4"/>
            <a:r>
              <a:rPr lang="en-US"/>
              <a:t>Sixth level</a:t>
            </a:r>
          </a:p>
          <a:p>
            <a:pPr lvl="4"/>
            <a:r>
              <a:rPr lang="en-US"/>
              <a:t>Seventh level</a:t>
            </a:r>
          </a:p>
          <a:p>
            <a:pPr lvl="4"/>
            <a:r>
              <a:rPr lang="en-US"/>
              <a:t>Eighth level</a:t>
            </a:r>
          </a:p>
          <a:p>
            <a:pPr lvl="4"/>
            <a:r>
              <a:rPr lang="en-US"/>
              <a:t>Nineth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2026 Optum, Inc. All rights reserved.</a:t>
            </a:r>
          </a:p>
        </p:txBody>
      </p:sp>
      <p:sp>
        <p:nvSpPr>
          <p:cNvPr id="5" name="Footer Placeholder">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830A57F3-210F-48D5-90D0-3AA9C6D87045}" type="datetime1">
              <a:rPr lang="en-US" smtClean="0"/>
              <a:t>9/24/26</a:t>
            </a:fld>
            <a:endParaRPr lang="en-US"/>
          </a:p>
        </p:txBody>
      </p:sp>
    </p:spTree>
    <p:extLst>
      <p:ext uri="{BB962C8B-B14F-4D97-AF65-F5344CB8AC3E}">
        <p14:creationId xmlns:p14="http://schemas.microsoft.com/office/powerpoint/2010/main" val="156982627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758" r:id="rId57"/>
    <p:sldLayoutId id="2147483759" r:id="rId58"/>
    <p:sldLayoutId id="2147483760" r:id="rId59"/>
    <p:sldLayoutId id="2147483761" r:id="rId60"/>
    <p:sldLayoutId id="2147483762" r:id="rId61"/>
    <p:sldLayoutId id="2147483763" r:id="rId62"/>
    <p:sldLayoutId id="2147483764" r:id="rId63"/>
  </p:sldLayoutIdLst>
  <p:hf sldNum="0" hdr="0" ftr="0" dt="0"/>
  <p:txStyles>
    <p:titleStyle>
      <a:lvl1pPr algn="l" defTabSz="914400" rtl="0" eaLnBrk="1" latinLnBrk="0" hangingPunct="1">
        <a:lnSpc>
          <a:spcPct val="90000"/>
        </a:lnSpc>
        <a:spcBef>
          <a:spcPct val="0"/>
        </a:spcBef>
        <a:buNone/>
        <a:defRPr sz="2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313D6-A84B-4A83-1E69-AC92C058F9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01ED99-D4D5-D15E-BF2B-44BB6C306388}"/>
              </a:ext>
            </a:extLst>
          </p:cNvPr>
          <p:cNvSpPr>
            <a:spLocks noGrp="1"/>
          </p:cNvSpPr>
          <p:nvPr>
            <p:ph type="title"/>
          </p:nvPr>
        </p:nvSpPr>
        <p:spPr>
          <a:xfrm>
            <a:off x="468355" y="1637013"/>
            <a:ext cx="4663440" cy="1994392"/>
          </a:xfrm>
        </p:spPr>
        <p:txBody>
          <a:bodyPr wrap="square" anchor="ctr">
            <a:normAutofit/>
          </a:bodyPr>
          <a:lstStyle/>
          <a:p>
            <a:r>
              <a:rPr lang="en-US" dirty="0" err="1"/>
              <a:t>SnowFabric</a:t>
            </a:r>
            <a:r>
              <a:rPr lang="en-US" dirty="0"/>
              <a:t> - One Framework</a:t>
            </a:r>
          </a:p>
        </p:txBody>
      </p:sp>
      <p:sp>
        <p:nvSpPr>
          <p:cNvPr id="5" name="Text Placeholder 4">
            <a:extLst>
              <a:ext uri="{FF2B5EF4-FFF2-40B4-BE49-F238E27FC236}">
                <a16:creationId xmlns:a16="http://schemas.microsoft.com/office/drawing/2014/main" id="{DBFDA51F-71A3-8E00-313C-AB5BC493DF15}"/>
              </a:ext>
            </a:extLst>
          </p:cNvPr>
          <p:cNvSpPr>
            <a:spLocks noGrp="1"/>
          </p:cNvSpPr>
          <p:nvPr>
            <p:ph type="body" sz="quarter" idx="10"/>
          </p:nvPr>
        </p:nvSpPr>
        <p:spPr>
          <a:xfrm>
            <a:off x="468355" y="4057067"/>
            <a:ext cx="4663440" cy="553998"/>
          </a:xfrm>
        </p:spPr>
        <p:txBody>
          <a:bodyPr>
            <a:normAutofit/>
          </a:bodyPr>
          <a:lstStyle/>
          <a:p>
            <a:pPr>
              <a:spcAft>
                <a:spcPts val="600"/>
              </a:spcAft>
            </a:pPr>
            <a:r>
              <a:rPr lang="en-US" dirty="0"/>
              <a:t>Team Aurors</a:t>
            </a:r>
            <a:br>
              <a:rPr lang="en-US" dirty="0"/>
            </a:br>
            <a:r>
              <a:rPr lang="en-US" sz="800" dirty="0"/>
              <a:t>Maruthi </a:t>
            </a:r>
            <a:r>
              <a:rPr lang="en-US" sz="800" dirty="0" err="1"/>
              <a:t>Lakkamraju</a:t>
            </a:r>
            <a:r>
              <a:rPr lang="en-US" sz="800" dirty="0"/>
              <a:t> – Shanmuk Aluri – Srinivas Krishnan – Balaji </a:t>
            </a:r>
            <a:r>
              <a:rPr lang="en-US" sz="800" dirty="0" err="1"/>
              <a:t>Beliary</a:t>
            </a:r>
            <a:r>
              <a:rPr lang="en-US" sz="800" dirty="0"/>
              <a:t> Nunna – Bharathi Vedula</a:t>
            </a:r>
          </a:p>
        </p:txBody>
      </p:sp>
      <p:pic>
        <p:nvPicPr>
          <p:cNvPr id="8" name="Picture 7">
            <a:extLst>
              <a:ext uri="{FF2B5EF4-FFF2-40B4-BE49-F238E27FC236}">
                <a16:creationId xmlns:a16="http://schemas.microsoft.com/office/drawing/2014/main" id="{81F92661-A24A-BBC3-583F-BF331D135299}"/>
              </a:ext>
            </a:extLst>
          </p:cNvPr>
          <p:cNvPicPr>
            <a:picLocks noChangeAspect="1"/>
          </p:cNvPicPr>
          <p:nvPr/>
        </p:nvPicPr>
        <p:blipFill>
          <a:blip r:embed="rId2"/>
          <a:stretch>
            <a:fillRect/>
          </a:stretch>
        </p:blipFill>
        <p:spPr>
          <a:xfrm>
            <a:off x="5840505" y="770710"/>
            <a:ext cx="5387788" cy="5387788"/>
          </a:xfrm>
          <a:prstGeom prst="ellipse">
            <a:avLst/>
          </a:prstGeom>
        </p:spPr>
      </p:pic>
    </p:spTree>
    <p:extLst>
      <p:ext uri="{BB962C8B-B14F-4D97-AF65-F5344CB8AC3E}">
        <p14:creationId xmlns:p14="http://schemas.microsoft.com/office/powerpoint/2010/main" val="304638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FB8C24-19CA-7992-B493-A524E3F0589B}"/>
              </a:ext>
            </a:extLst>
          </p:cNvPr>
          <p:cNvSpPr>
            <a:spLocks noGrp="1"/>
          </p:cNvSpPr>
          <p:nvPr>
            <p:ph type="title"/>
          </p:nvPr>
        </p:nvSpPr>
        <p:spPr>
          <a:xfrm>
            <a:off x="457200" y="580000"/>
            <a:ext cx="11277600" cy="560000"/>
          </a:xfrm>
        </p:spPr>
        <p:txBody>
          <a:bodyPr lIns="0" anchor="t">
            <a:normAutofit/>
          </a:bodyPr>
          <a:lstStyle/>
          <a:p>
            <a:pPr algn="l"/>
            <a:r>
              <a:rPr lang="en-US" sz="3600" b="1" dirty="0">
                <a:solidFill>
                  <a:srgbClr val="002677"/>
                </a:solidFill>
              </a:rPr>
              <a:t>The Problem</a:t>
            </a:r>
            <a:endParaRPr lang="en-US" sz="3600" b="1" dirty="0">
              <a:solidFill>
                <a:srgbClr val="002677"/>
              </a:solidFill>
              <a:latin typeface="+mj-lt"/>
            </a:endParaRPr>
          </a:p>
        </p:txBody>
      </p:sp>
      <p:sp>
        <p:nvSpPr>
          <p:cNvPr id="3" name="Text Placeholder 2">
            <a:extLst>
              <a:ext uri="{FF2B5EF4-FFF2-40B4-BE49-F238E27FC236}">
                <a16:creationId xmlns:a16="http://schemas.microsoft.com/office/drawing/2014/main" id="{6FCEBFFD-83EB-98B8-5414-DE604F72BADB}"/>
              </a:ext>
            </a:extLst>
          </p:cNvPr>
          <p:cNvSpPr>
            <a:spLocks noGrp="1"/>
          </p:cNvSpPr>
          <p:nvPr>
            <p:ph type="body" sz="quarter" idx="4294967295"/>
          </p:nvPr>
        </p:nvSpPr>
        <p:spPr>
          <a:xfrm>
            <a:off x="457200" y="1850000"/>
            <a:ext cx="3492533" cy="1650000"/>
          </a:xfrm>
          <a:prstGeom prst="roundRect">
            <a:avLst>
              <a:gd name="adj" fmla="val 8000"/>
            </a:avLst>
          </a:prstGeom>
          <a:solidFill>
            <a:srgbClr val="FAF7F2"/>
          </a:solidFill>
          <a:ln w="12700">
            <a:solidFill>
              <a:srgbClr val="E8E1D9"/>
            </a:solidFill>
          </a:ln>
        </p:spPr>
        <p:txBody>
          <a:bodyPr wrap="square" lIns="320040" tIns="274320" rIns="320040" bIns="274320" anchor="ctr">
            <a:normAutofit/>
          </a:bodyPr>
          <a:lstStyle/>
          <a:p>
            <a:pPr marL="228600" indent="-228600" algn="l">
              <a:lnSpc>
                <a:spcPct val="110000"/>
              </a:lnSpc>
              <a:buClr>
                <a:srgbClr val="FF612B"/>
              </a:buClr>
              <a:buChar char="■"/>
            </a:pPr>
            <a:r>
              <a:rPr lang="en-US" sz="1400" dirty="0">
                <a:solidFill>
                  <a:srgbClr val="3B3B3B"/>
                </a:solidFill>
                <a:latin typeface="+mn-lt"/>
              </a:rPr>
              <a:t>Mine the insights, not the data. </a:t>
            </a:r>
          </a:p>
        </p:txBody>
      </p:sp>
      <p:sp>
        <p:nvSpPr>
          <p:cNvPr id="11" name="Card 2"/>
          <p:cNvSpPr/>
          <p:nvPr/>
        </p:nvSpPr>
        <p:spPr>
          <a:xfrm>
            <a:off x="4349733" y="1850000"/>
            <a:ext cx="3492533" cy="1650000"/>
          </a:xfrm>
          <a:prstGeom prst="roundRect">
            <a:avLst>
              <a:gd name="adj" fmla="val 8000"/>
            </a:avLst>
          </a:prstGeom>
          <a:solidFill>
            <a:srgbClr val="FAF7F2"/>
          </a:solidFill>
          <a:ln w="12700">
            <a:solidFill>
              <a:srgbClr val="E8E1D9"/>
            </a:solidFill>
          </a:ln>
        </p:spPr>
        <p:txBody>
          <a:bodyPr wrap="square" lIns="320040" tIns="274320" rIns="320040" bIns="274320" anchor="ctr">
            <a:normAutofit/>
          </a:bodyPr>
          <a:lstStyle/>
          <a:p>
            <a:pPr marL="228600" indent="-228600" algn="l">
              <a:lnSpc>
                <a:spcPct val="110000"/>
              </a:lnSpc>
              <a:buClr>
                <a:srgbClr val="FF612B"/>
              </a:buClr>
              <a:buChar char="■"/>
            </a:pPr>
            <a:r>
              <a:rPr lang="en-US" sz="1400" dirty="0">
                <a:solidFill>
                  <a:srgbClr val="3B3B3B"/>
                </a:solidFill>
                <a:latin typeface="+mn-lt"/>
              </a:rPr>
              <a:t>Impacts AI delivery on data stored on snowflake</a:t>
            </a:r>
          </a:p>
        </p:txBody>
      </p:sp>
      <p:sp>
        <p:nvSpPr>
          <p:cNvPr id="12" name="Card 3"/>
          <p:cNvSpPr/>
          <p:nvPr/>
        </p:nvSpPr>
        <p:spPr>
          <a:xfrm>
            <a:off x="8242266" y="1850000"/>
            <a:ext cx="3492533" cy="1650000"/>
          </a:xfrm>
          <a:prstGeom prst="roundRect">
            <a:avLst>
              <a:gd name="adj" fmla="val 8000"/>
            </a:avLst>
          </a:prstGeom>
          <a:solidFill>
            <a:srgbClr val="FAF7F2"/>
          </a:solidFill>
          <a:ln w="12700">
            <a:solidFill>
              <a:srgbClr val="E8E1D9"/>
            </a:solidFill>
          </a:ln>
        </p:spPr>
        <p:txBody>
          <a:bodyPr wrap="square" lIns="320040" tIns="274320" rIns="320040" bIns="274320" anchor="ctr">
            <a:normAutofit/>
          </a:bodyPr>
          <a:lstStyle/>
          <a:p>
            <a:pPr marL="228600" indent="-228600" algn="l">
              <a:lnSpc>
                <a:spcPct val="110000"/>
              </a:lnSpc>
              <a:buClr>
                <a:srgbClr val="FF612B"/>
              </a:buClr>
              <a:buChar char="■"/>
            </a:pPr>
            <a:r>
              <a:rPr lang="en-US" sz="1400" dirty="0">
                <a:solidFill>
                  <a:srgbClr val="3B3B3B"/>
                </a:solidFill>
                <a:latin typeface="+mn-lt"/>
              </a:rPr>
              <a:t>Why is this a data problem aka opportunity ?</a:t>
            </a:r>
          </a:p>
        </p:txBody>
      </p:sp>
      <p:sp>
        <p:nvSpPr>
          <p:cNvPr id="10" name="Accent Rule"/>
          <p:cNvSpPr/>
          <p:nvPr/>
        </p:nvSpPr>
        <p:spPr>
          <a:xfrm>
            <a:off x="457200" y="1140000"/>
            <a:ext cx="685800" cy="45720"/>
          </a:xfrm>
          <a:prstGeom prst="rect">
            <a:avLst/>
          </a:prstGeom>
          <a:solidFill>
            <a:srgbClr val="FF612B"/>
          </a:solidFill>
          <a:ln>
            <a:noFill/>
          </a:ln>
        </p:spPr>
        <p:txBody>
          <a:bodyPr/>
          <a:lstStyle/>
          <a:p>
            <a:endParaRPr lang="en-US"/>
          </a:p>
        </p:txBody>
      </p:sp>
      <p:sp>
        <p:nvSpPr>
          <p:cNvPr id="5" name="Rectangle 4">
            <a:extLst>
              <a:ext uri="{FF2B5EF4-FFF2-40B4-BE49-F238E27FC236}">
                <a16:creationId xmlns:a16="http://schemas.microsoft.com/office/drawing/2014/main" id="{6DB3CE11-F703-6A45-FDB5-61E3BE5EF882}"/>
              </a:ext>
            </a:extLst>
          </p:cNvPr>
          <p:cNvSpPr/>
          <p:nvPr/>
        </p:nvSpPr>
        <p:spPr bwMode="gray">
          <a:xfrm>
            <a:off x="9709265" y="6331132"/>
            <a:ext cx="1812175" cy="296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6" name="TextBox 5">
            <a:extLst>
              <a:ext uri="{FF2B5EF4-FFF2-40B4-BE49-F238E27FC236}">
                <a16:creationId xmlns:a16="http://schemas.microsoft.com/office/drawing/2014/main" id="{87EC3A2E-886F-62A2-CBBF-8D5E871EAB80}"/>
              </a:ext>
            </a:extLst>
          </p:cNvPr>
          <p:cNvSpPr txBox="1"/>
          <p:nvPr/>
        </p:nvSpPr>
        <p:spPr bwMode="gray">
          <a:xfrm>
            <a:off x="457200" y="3614848"/>
            <a:ext cx="3492533" cy="1954381"/>
          </a:xfrm>
          <a:prstGeom prst="rect">
            <a:avLst/>
          </a:prstGeom>
          <a:noFill/>
        </p:spPr>
        <p:txBody>
          <a:bodyPr vert="horz" wrap="square" lIns="0" tIns="0" rIns="0" bIns="0" rtlCol="0" anchor="ctr">
            <a:spAutoFit/>
          </a:bodyPr>
          <a:lstStyle/>
          <a:p>
            <a:pPr algn="ctr">
              <a:spcBef>
                <a:spcPts val="600"/>
              </a:spcBef>
            </a:pPr>
            <a:r>
              <a:rPr lang="en-US" sz="1200" dirty="0">
                <a:solidFill>
                  <a:srgbClr val="3B3B3B"/>
                </a:solidFill>
              </a:rPr>
              <a:t>Enterprises spend millions governing data inside Snowflake, then let AI agents bypass all of it with SELECT * over JDBC. Our framework uses Snowflake's native MCP server, Cortex Agents, and Semantic Views to create a single entry point where external AI systems send questions and receive answers — never raw data. Result: zero data exfiltration, consistent metrics, and one integration instead of dozens.</a:t>
            </a:r>
          </a:p>
          <a:p>
            <a:pPr algn="l">
              <a:spcBef>
                <a:spcPts val="600"/>
              </a:spcBef>
            </a:pPr>
            <a:endParaRPr lang="en-US" sz="1400" dirty="0"/>
          </a:p>
        </p:txBody>
      </p:sp>
      <p:sp>
        <p:nvSpPr>
          <p:cNvPr id="8" name="TextBox 7">
            <a:extLst>
              <a:ext uri="{FF2B5EF4-FFF2-40B4-BE49-F238E27FC236}">
                <a16:creationId xmlns:a16="http://schemas.microsoft.com/office/drawing/2014/main" id="{8F27CF26-3FD4-79B6-3031-0DB522C1A1E8}"/>
              </a:ext>
            </a:extLst>
          </p:cNvPr>
          <p:cNvSpPr txBox="1"/>
          <p:nvPr/>
        </p:nvSpPr>
        <p:spPr bwMode="gray">
          <a:xfrm>
            <a:off x="4349733" y="3667683"/>
            <a:ext cx="3492533" cy="1848711"/>
          </a:xfrm>
          <a:prstGeom prst="rect">
            <a:avLst/>
          </a:prstGeom>
          <a:noFill/>
        </p:spPr>
        <p:txBody>
          <a:bodyPr vert="horz" wrap="square" lIns="0" tIns="0" rIns="0" bIns="0" rtlCol="0" anchor="ctr">
            <a:spAutoFit/>
          </a:bodyPr>
          <a:lstStyle/>
          <a:p>
            <a:pPr algn="ctr">
              <a:lnSpc>
                <a:spcPct val="115000"/>
              </a:lnSpc>
              <a:spcBef>
                <a:spcPts val="600"/>
              </a:spcBef>
              <a:spcAft>
                <a:spcPts val="800"/>
              </a:spcAft>
            </a:pPr>
            <a:r>
              <a:rPr lang="en-US" sz="1200" dirty="0">
                <a:solidFill>
                  <a:srgbClr val="3B3B3B"/>
                </a:solidFill>
              </a:rPr>
              <a:t>Each product team are the SMEs of their data. They define what can be exposed &amp; what are the rules and what insights the data could produce. </a:t>
            </a:r>
          </a:p>
          <a:p>
            <a:pPr algn="ctr">
              <a:lnSpc>
                <a:spcPct val="115000"/>
              </a:lnSpc>
              <a:spcBef>
                <a:spcPts val="600"/>
              </a:spcBef>
              <a:spcAft>
                <a:spcPts val="800"/>
              </a:spcAft>
            </a:pPr>
            <a:r>
              <a:rPr lang="en-US" sz="1200" dirty="0">
                <a:solidFill>
                  <a:srgbClr val="3B3B3B"/>
                </a:solidFill>
              </a:rPr>
              <a:t>One shared framework = no duplicate agents, consistent governance, secure, cost-efficient &amp; enterprise-wide.</a:t>
            </a:r>
          </a:p>
          <a:p>
            <a:pPr algn="l">
              <a:spcBef>
                <a:spcPts val="600"/>
              </a:spcBef>
            </a:pPr>
            <a:endParaRPr lang="en-US" sz="1400" dirty="0"/>
          </a:p>
        </p:txBody>
      </p:sp>
      <p:sp>
        <p:nvSpPr>
          <p:cNvPr id="9" name="TextBox 8">
            <a:extLst>
              <a:ext uri="{FF2B5EF4-FFF2-40B4-BE49-F238E27FC236}">
                <a16:creationId xmlns:a16="http://schemas.microsoft.com/office/drawing/2014/main" id="{849C28F0-7762-B21F-36EA-49197BD64F43}"/>
              </a:ext>
            </a:extLst>
          </p:cNvPr>
          <p:cNvSpPr txBox="1"/>
          <p:nvPr/>
        </p:nvSpPr>
        <p:spPr bwMode="gray">
          <a:xfrm>
            <a:off x="9071811" y="3753853"/>
            <a:ext cx="65" cy="215444"/>
          </a:xfrm>
          <a:prstGeom prst="rect">
            <a:avLst/>
          </a:prstGeom>
          <a:noFill/>
        </p:spPr>
        <p:txBody>
          <a:bodyPr vert="horz" wrap="none" lIns="0" tIns="0" rIns="0" bIns="0" rtlCol="0">
            <a:spAutoFit/>
          </a:bodyPr>
          <a:lstStyle/>
          <a:p>
            <a:pPr algn="l">
              <a:spcBef>
                <a:spcPts val="600"/>
              </a:spcBef>
            </a:pPr>
            <a:endParaRPr lang="en-US" sz="1400" dirty="0"/>
          </a:p>
        </p:txBody>
      </p:sp>
      <p:sp>
        <p:nvSpPr>
          <p:cNvPr id="13" name="TextBox 12">
            <a:extLst>
              <a:ext uri="{FF2B5EF4-FFF2-40B4-BE49-F238E27FC236}">
                <a16:creationId xmlns:a16="http://schemas.microsoft.com/office/drawing/2014/main" id="{538E25AC-AAE1-20C3-0200-12FF370357A8}"/>
              </a:ext>
            </a:extLst>
          </p:cNvPr>
          <p:cNvSpPr txBox="1"/>
          <p:nvPr/>
        </p:nvSpPr>
        <p:spPr bwMode="gray">
          <a:xfrm>
            <a:off x="8242265" y="3614848"/>
            <a:ext cx="3492533" cy="2877711"/>
          </a:xfrm>
          <a:prstGeom prst="rect">
            <a:avLst/>
          </a:prstGeom>
          <a:noFill/>
        </p:spPr>
        <p:txBody>
          <a:bodyPr vert="horz" wrap="square" lIns="0" tIns="0" rIns="0" bIns="0" rtlCol="0" anchor="ctr">
            <a:spAutoFit/>
          </a:bodyPr>
          <a:lstStyle/>
          <a:p>
            <a:pPr algn="ctr">
              <a:lnSpc>
                <a:spcPct val="115000"/>
              </a:lnSpc>
              <a:spcBef>
                <a:spcPts val="600"/>
              </a:spcBef>
              <a:spcAft>
                <a:spcPts val="800"/>
              </a:spcAft>
            </a:pPr>
            <a:r>
              <a:rPr lang="en-US" sz="1200" dirty="0">
                <a:solidFill>
                  <a:srgbClr val="3B3B3B"/>
                </a:solidFill>
              </a:rPr>
              <a:t>"One shared server fronts every product's agent”. This is the one endpoint for the asset which contains the best contextual awareness, comprehensive authentication &amp; robust product governance.</a:t>
            </a:r>
          </a:p>
          <a:p>
            <a:pPr algn="ctr">
              <a:lnSpc>
                <a:spcPct val="115000"/>
              </a:lnSpc>
              <a:spcBef>
                <a:spcPts val="600"/>
              </a:spcBef>
              <a:spcAft>
                <a:spcPts val="800"/>
              </a:spcAft>
            </a:pPr>
            <a:r>
              <a:rPr lang="en-US" sz="1200" dirty="0">
                <a:solidFill>
                  <a:srgbClr val="3B3B3B"/>
                </a:solidFill>
              </a:rPr>
              <a:t>An enterprise-wide pattern — every future data product uses it, not a one-off build.</a:t>
            </a:r>
          </a:p>
          <a:p>
            <a:pPr algn="ctr">
              <a:lnSpc>
                <a:spcPct val="115000"/>
              </a:lnSpc>
              <a:spcBef>
                <a:spcPts val="600"/>
              </a:spcBef>
              <a:spcAft>
                <a:spcPts val="800"/>
              </a:spcAft>
            </a:pPr>
            <a:r>
              <a:rPr lang="en-US" sz="1200" dirty="0">
                <a:solidFill>
                  <a:srgbClr val="3B3B3B"/>
                </a:solidFill>
              </a:rPr>
              <a:t>No duplicate agents, Snowflake reads and interprets the ask; only the outcome leaves, never raw data.</a:t>
            </a:r>
          </a:p>
          <a:p>
            <a:pPr algn="l">
              <a:spcBef>
                <a:spcPts val="600"/>
              </a:spcBef>
            </a:pPr>
            <a:endParaRPr lang="en-US" sz="1400" dirty="0"/>
          </a:p>
        </p:txBody>
      </p:sp>
    </p:spTree>
    <p:extLst>
      <p:ext uri="{BB962C8B-B14F-4D97-AF65-F5344CB8AC3E}">
        <p14:creationId xmlns:p14="http://schemas.microsoft.com/office/powerpoint/2010/main" val="3481642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439201-DF9D-7981-2B79-95B1BD1D3791}"/>
              </a:ext>
            </a:extLst>
          </p:cNvPr>
          <p:cNvSpPr>
            <a:spLocks noGrp="1"/>
          </p:cNvSpPr>
          <p:nvPr>
            <p:ph type="title"/>
          </p:nvPr>
        </p:nvSpPr>
        <p:spPr>
          <a:xfrm>
            <a:off x="457200" y="500000"/>
            <a:ext cx="11201400" cy="560000"/>
          </a:xfrm>
        </p:spPr>
        <p:txBody>
          <a:bodyPr anchor="t">
            <a:normAutofit/>
          </a:bodyPr>
          <a:lstStyle/>
          <a:p>
            <a:pPr algn="l"/>
            <a:r>
              <a:rPr lang="en-US" sz="3600" b="1" dirty="0">
                <a:solidFill>
                  <a:srgbClr val="002677"/>
                </a:solidFill>
                <a:latin typeface="+mj-lt"/>
              </a:rPr>
              <a:t>Aha Moment</a:t>
            </a:r>
          </a:p>
        </p:txBody>
      </p:sp>
      <p:sp>
        <p:nvSpPr>
          <p:cNvPr id="6" name="Title Rule"/>
          <p:cNvSpPr/>
          <p:nvPr/>
        </p:nvSpPr>
        <p:spPr>
          <a:xfrm>
            <a:off x="457200" y="1060000"/>
            <a:ext cx="685800" cy="45720"/>
          </a:xfrm>
          <a:prstGeom prst="rect">
            <a:avLst/>
          </a:prstGeom>
          <a:solidFill>
            <a:srgbClr val="FF612B"/>
          </a:solidFill>
          <a:ln>
            <a:noFill/>
          </a:ln>
        </p:spPr>
        <p:txBody>
          <a:bodyPr/>
          <a:lstStyle/>
          <a:p>
            <a:endParaRPr lang="en-US"/>
          </a:p>
        </p:txBody>
      </p:sp>
      <p:sp>
        <p:nvSpPr>
          <p:cNvPr id="5" name="Rectangle 4">
            <a:extLst>
              <a:ext uri="{FF2B5EF4-FFF2-40B4-BE49-F238E27FC236}">
                <a16:creationId xmlns:a16="http://schemas.microsoft.com/office/drawing/2014/main" id="{DE5B2E91-4560-89A9-66A0-33A1C85FDC9C}"/>
              </a:ext>
            </a:extLst>
          </p:cNvPr>
          <p:cNvSpPr/>
          <p:nvPr/>
        </p:nvSpPr>
        <p:spPr bwMode="gray">
          <a:xfrm>
            <a:off x="9709265" y="6331132"/>
            <a:ext cx="1812175" cy="296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9" name="Rounded Rectangle 8">
            <a:extLst>
              <a:ext uri="{FF2B5EF4-FFF2-40B4-BE49-F238E27FC236}">
                <a16:creationId xmlns:a16="http://schemas.microsoft.com/office/drawing/2014/main" id="{0E6FC35E-7F26-9EC1-A59F-EBC4362C8A15}"/>
              </a:ext>
            </a:extLst>
          </p:cNvPr>
          <p:cNvSpPr/>
          <p:nvPr/>
        </p:nvSpPr>
        <p:spPr>
          <a:xfrm>
            <a:off x="7259753" y="2021683"/>
            <a:ext cx="3529584" cy="1298448"/>
          </a:xfrm>
          <a:prstGeom prst="roundRect">
            <a:avLst>
              <a:gd name="adj" fmla="val 8000"/>
            </a:avLst>
          </a:prstGeom>
          <a:solidFill>
            <a:schemeClr val="bg1"/>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18D95BEB-D30B-6AB3-1AD1-5D945DB29B78}"/>
              </a:ext>
            </a:extLst>
          </p:cNvPr>
          <p:cNvSpPr/>
          <p:nvPr/>
        </p:nvSpPr>
        <p:spPr>
          <a:xfrm>
            <a:off x="7443376" y="2119896"/>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CF68169-7CF4-3AD4-A002-AC2F8A1BFF2F}"/>
              </a:ext>
            </a:extLst>
          </p:cNvPr>
          <p:cNvSpPr txBox="1"/>
          <p:nvPr/>
        </p:nvSpPr>
        <p:spPr>
          <a:xfrm>
            <a:off x="7443376" y="2101608"/>
            <a:ext cx="365760" cy="365760"/>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Calibri"/>
              </a:rPr>
              <a:t>1</a:t>
            </a:r>
          </a:p>
        </p:txBody>
      </p:sp>
      <p:sp>
        <p:nvSpPr>
          <p:cNvPr id="12" name="TextBox 11">
            <a:extLst>
              <a:ext uri="{FF2B5EF4-FFF2-40B4-BE49-F238E27FC236}">
                <a16:creationId xmlns:a16="http://schemas.microsoft.com/office/drawing/2014/main" id="{1795838C-71CC-11E5-C6B3-F27A2DE677D8}"/>
              </a:ext>
            </a:extLst>
          </p:cNvPr>
          <p:cNvSpPr txBox="1"/>
          <p:nvPr/>
        </p:nvSpPr>
        <p:spPr>
          <a:xfrm>
            <a:off x="7972985" y="2192032"/>
            <a:ext cx="2633472" cy="176972"/>
          </a:xfrm>
          <a:prstGeom prst="rect">
            <a:avLst/>
          </a:prstGeom>
          <a:noFill/>
        </p:spPr>
        <p:txBody>
          <a:bodyPr wrap="square" lIns="0" tIns="0" rIns="0" bIns="0" anchor="t">
            <a:spAutoFit/>
          </a:bodyPr>
          <a:lstStyle/>
          <a:p>
            <a:pPr algn="l">
              <a:spcBef>
                <a:spcPts val="0"/>
              </a:spcBef>
              <a:spcAft>
                <a:spcPts val="0"/>
              </a:spcAft>
            </a:pPr>
            <a:r>
              <a:rPr lang="en-US" sz="1150" b="1" i="0" dirty="0">
                <a:solidFill>
                  <a:srgbClr val="002060"/>
                </a:solidFill>
                <a:latin typeface="Calibri"/>
              </a:rPr>
              <a:t>External Client (Sage, UAIS)</a:t>
            </a:r>
            <a:endParaRPr sz="1150" b="1" i="0" dirty="0">
              <a:solidFill>
                <a:srgbClr val="002060"/>
              </a:solidFill>
              <a:latin typeface="Calibri"/>
            </a:endParaRPr>
          </a:p>
        </p:txBody>
      </p:sp>
      <p:sp>
        <p:nvSpPr>
          <p:cNvPr id="13" name="TextBox 12">
            <a:extLst>
              <a:ext uri="{FF2B5EF4-FFF2-40B4-BE49-F238E27FC236}">
                <a16:creationId xmlns:a16="http://schemas.microsoft.com/office/drawing/2014/main" id="{7341F018-4A22-81B9-E865-630856260A09}"/>
              </a:ext>
            </a:extLst>
          </p:cNvPr>
          <p:cNvSpPr txBox="1"/>
          <p:nvPr/>
        </p:nvSpPr>
        <p:spPr>
          <a:xfrm>
            <a:off x="7460921" y="2591476"/>
            <a:ext cx="3127248" cy="18319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dirty="0">
                <a:latin typeface="Calibri"/>
              </a:rPr>
              <a:t>Data asset specific client tool (MCP)</a:t>
            </a:r>
            <a:endParaRPr sz="1100" b="0" i="0" dirty="0">
              <a:latin typeface="Calibri"/>
            </a:endParaRPr>
          </a:p>
        </p:txBody>
      </p:sp>
      <p:sp>
        <p:nvSpPr>
          <p:cNvPr id="14" name="TextBox 13">
            <a:extLst>
              <a:ext uri="{FF2B5EF4-FFF2-40B4-BE49-F238E27FC236}">
                <a16:creationId xmlns:a16="http://schemas.microsoft.com/office/drawing/2014/main" id="{BFE3C049-F863-E0CC-F1D2-ECEDC1FC601C}"/>
              </a:ext>
            </a:extLst>
          </p:cNvPr>
          <p:cNvSpPr txBox="1"/>
          <p:nvPr/>
        </p:nvSpPr>
        <p:spPr>
          <a:xfrm>
            <a:off x="7259753" y="3362464"/>
            <a:ext cx="3529584" cy="201168"/>
          </a:xfrm>
          <a:prstGeom prst="rect">
            <a:avLst/>
          </a:prstGeom>
          <a:noFill/>
        </p:spPr>
        <p:txBody>
          <a:bodyPr wrap="square" lIns="0" tIns="0" rIns="0" bIns="0" anchor="t">
            <a:spAutoFit/>
          </a:bodyPr>
          <a:lstStyle/>
          <a:p>
            <a:pPr algn="ctr">
              <a:spcBef>
                <a:spcPts val="0"/>
              </a:spcBef>
              <a:spcAft>
                <a:spcPts val="0"/>
              </a:spcAft>
            </a:pPr>
            <a:r>
              <a:rPr sz="1600" b="1" i="0">
                <a:solidFill>
                  <a:srgbClr val="7C89A8"/>
                </a:solidFill>
                <a:latin typeface="Calibri"/>
              </a:rPr>
              <a:t>↓</a:t>
            </a:r>
          </a:p>
        </p:txBody>
      </p:sp>
      <p:sp>
        <p:nvSpPr>
          <p:cNvPr id="15" name="Rounded Rectangle 14">
            <a:extLst>
              <a:ext uri="{FF2B5EF4-FFF2-40B4-BE49-F238E27FC236}">
                <a16:creationId xmlns:a16="http://schemas.microsoft.com/office/drawing/2014/main" id="{73D2A60E-4D11-2489-A6D5-CA6BA9FECE6F}"/>
              </a:ext>
            </a:extLst>
          </p:cNvPr>
          <p:cNvSpPr/>
          <p:nvPr/>
        </p:nvSpPr>
        <p:spPr>
          <a:xfrm>
            <a:off x="7259753" y="3600207"/>
            <a:ext cx="3529584" cy="1298448"/>
          </a:xfrm>
          <a:prstGeom prst="roundRect">
            <a:avLst>
              <a:gd name="adj" fmla="val 8000"/>
            </a:avLst>
          </a:prstGeom>
          <a:solidFill>
            <a:schemeClr val="bg1"/>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E10F8AA0-BDB8-C974-CA5C-9CC0E0209440}"/>
              </a:ext>
            </a:extLst>
          </p:cNvPr>
          <p:cNvSpPr/>
          <p:nvPr/>
        </p:nvSpPr>
        <p:spPr>
          <a:xfrm>
            <a:off x="7449778" y="3673360"/>
            <a:ext cx="365760" cy="36576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F40E94F-611B-0D8E-16D1-6AA3D2FF21AB}"/>
              </a:ext>
            </a:extLst>
          </p:cNvPr>
          <p:cNvSpPr txBox="1"/>
          <p:nvPr/>
        </p:nvSpPr>
        <p:spPr>
          <a:xfrm>
            <a:off x="7449778" y="3655072"/>
            <a:ext cx="365760" cy="365760"/>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Calibri"/>
              </a:rPr>
              <a:t>2</a:t>
            </a:r>
          </a:p>
        </p:txBody>
      </p:sp>
      <p:sp>
        <p:nvSpPr>
          <p:cNvPr id="18" name="TextBox 17">
            <a:extLst>
              <a:ext uri="{FF2B5EF4-FFF2-40B4-BE49-F238E27FC236}">
                <a16:creationId xmlns:a16="http://schemas.microsoft.com/office/drawing/2014/main" id="{E02388A4-E7D8-239F-397A-22866D023C2A}"/>
              </a:ext>
            </a:extLst>
          </p:cNvPr>
          <p:cNvSpPr txBox="1"/>
          <p:nvPr/>
        </p:nvSpPr>
        <p:spPr>
          <a:xfrm>
            <a:off x="7972985" y="3746512"/>
            <a:ext cx="2633472" cy="176972"/>
          </a:xfrm>
          <a:prstGeom prst="rect">
            <a:avLst/>
          </a:prstGeom>
          <a:noFill/>
        </p:spPr>
        <p:txBody>
          <a:bodyPr wrap="square" lIns="0" tIns="0" rIns="0" bIns="0" anchor="t">
            <a:spAutoFit/>
          </a:bodyPr>
          <a:lstStyle/>
          <a:p>
            <a:pPr algn="l">
              <a:spcBef>
                <a:spcPts val="0"/>
              </a:spcBef>
              <a:spcAft>
                <a:spcPts val="0"/>
              </a:spcAft>
            </a:pPr>
            <a:r>
              <a:rPr lang="en-US" sz="1150" b="1" i="0" dirty="0">
                <a:solidFill>
                  <a:srgbClr val="002060"/>
                </a:solidFill>
                <a:latin typeface="Calibri"/>
              </a:rPr>
              <a:t>Asset </a:t>
            </a:r>
            <a:r>
              <a:rPr sz="1150" b="1" i="0" dirty="0">
                <a:solidFill>
                  <a:srgbClr val="002060"/>
                </a:solidFill>
                <a:latin typeface="Calibri"/>
              </a:rPr>
              <a:t>MCP SERVER (IN SNOWFLAKE)</a:t>
            </a:r>
          </a:p>
        </p:txBody>
      </p:sp>
      <p:sp>
        <p:nvSpPr>
          <p:cNvPr id="19" name="TextBox 18">
            <a:extLst>
              <a:ext uri="{FF2B5EF4-FFF2-40B4-BE49-F238E27FC236}">
                <a16:creationId xmlns:a16="http://schemas.microsoft.com/office/drawing/2014/main" id="{C4880AE8-8FB5-7BB0-9945-BF194B65119A}"/>
              </a:ext>
            </a:extLst>
          </p:cNvPr>
          <p:cNvSpPr txBox="1"/>
          <p:nvPr/>
        </p:nvSpPr>
        <p:spPr>
          <a:xfrm>
            <a:off x="7460921" y="4049254"/>
            <a:ext cx="3296986" cy="767198"/>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dirty="0">
                <a:latin typeface="Calibri"/>
              </a:rPr>
              <a:t>"</a:t>
            </a:r>
            <a:r>
              <a:rPr lang="en-US" sz="1100" dirty="0">
                <a:latin typeface="Calibri"/>
              </a:rPr>
              <a:t>One shared server fronts every product's agent”. This is the one endpoint for the asset which contains the best contextual awareness, comprehensive authentication &amp; robust product governance.</a:t>
            </a:r>
            <a:endParaRPr sz="1100" dirty="0">
              <a:latin typeface="Calibri"/>
            </a:endParaRPr>
          </a:p>
        </p:txBody>
      </p:sp>
      <p:sp>
        <p:nvSpPr>
          <p:cNvPr id="26" name="Rounded Rectangle 25">
            <a:extLst>
              <a:ext uri="{FF2B5EF4-FFF2-40B4-BE49-F238E27FC236}">
                <a16:creationId xmlns:a16="http://schemas.microsoft.com/office/drawing/2014/main" id="{3ECE2962-33F0-B241-C6AA-32273821AB49}"/>
              </a:ext>
            </a:extLst>
          </p:cNvPr>
          <p:cNvSpPr/>
          <p:nvPr/>
        </p:nvSpPr>
        <p:spPr>
          <a:xfrm>
            <a:off x="1143000" y="2048604"/>
            <a:ext cx="3529584" cy="1298448"/>
          </a:xfrm>
          <a:prstGeom prst="roundRect">
            <a:avLst>
              <a:gd name="adj" fmla="val 8000"/>
            </a:avLst>
          </a:prstGeom>
          <a:solidFill>
            <a:schemeClr val="bg1"/>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FADAFAFD-7A16-E7F6-806A-1DF9344D3922}"/>
              </a:ext>
            </a:extLst>
          </p:cNvPr>
          <p:cNvSpPr/>
          <p:nvPr/>
        </p:nvSpPr>
        <p:spPr>
          <a:xfrm>
            <a:off x="1326623" y="2146817"/>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A46152D7-F7F9-79CF-568E-8B96DBF875B5}"/>
              </a:ext>
            </a:extLst>
          </p:cNvPr>
          <p:cNvSpPr txBox="1"/>
          <p:nvPr/>
        </p:nvSpPr>
        <p:spPr>
          <a:xfrm>
            <a:off x="1326623" y="2128529"/>
            <a:ext cx="365760" cy="365760"/>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Calibri"/>
              </a:rPr>
              <a:t>1</a:t>
            </a:r>
          </a:p>
        </p:txBody>
      </p:sp>
      <p:sp>
        <p:nvSpPr>
          <p:cNvPr id="29" name="TextBox 28">
            <a:extLst>
              <a:ext uri="{FF2B5EF4-FFF2-40B4-BE49-F238E27FC236}">
                <a16:creationId xmlns:a16="http://schemas.microsoft.com/office/drawing/2014/main" id="{61A41BAF-3294-416E-F454-3785E5CFAF3E}"/>
              </a:ext>
            </a:extLst>
          </p:cNvPr>
          <p:cNvSpPr txBox="1"/>
          <p:nvPr/>
        </p:nvSpPr>
        <p:spPr>
          <a:xfrm>
            <a:off x="1856232" y="2218953"/>
            <a:ext cx="2633472" cy="176972"/>
          </a:xfrm>
          <a:prstGeom prst="rect">
            <a:avLst/>
          </a:prstGeom>
          <a:noFill/>
        </p:spPr>
        <p:txBody>
          <a:bodyPr wrap="square" lIns="0" tIns="0" rIns="0" bIns="0" anchor="t">
            <a:spAutoFit/>
          </a:bodyPr>
          <a:lstStyle/>
          <a:p>
            <a:pPr algn="l">
              <a:spcBef>
                <a:spcPts val="0"/>
              </a:spcBef>
              <a:spcAft>
                <a:spcPts val="0"/>
              </a:spcAft>
            </a:pPr>
            <a:r>
              <a:rPr lang="en-US" sz="1150" b="1" i="0" dirty="0">
                <a:solidFill>
                  <a:srgbClr val="002060"/>
                </a:solidFill>
                <a:latin typeface="Calibri"/>
              </a:rPr>
              <a:t>External clients (Sage , UAIS)</a:t>
            </a:r>
            <a:endParaRPr sz="1150" b="1" i="0" dirty="0">
              <a:solidFill>
                <a:srgbClr val="002060"/>
              </a:solidFill>
              <a:latin typeface="Calibri"/>
            </a:endParaRPr>
          </a:p>
        </p:txBody>
      </p:sp>
      <p:sp>
        <p:nvSpPr>
          <p:cNvPr id="30" name="TextBox 29">
            <a:extLst>
              <a:ext uri="{FF2B5EF4-FFF2-40B4-BE49-F238E27FC236}">
                <a16:creationId xmlns:a16="http://schemas.microsoft.com/office/drawing/2014/main" id="{A5351144-5C20-5C49-DB38-505ED014C007}"/>
              </a:ext>
            </a:extLst>
          </p:cNvPr>
          <p:cNvSpPr txBox="1"/>
          <p:nvPr/>
        </p:nvSpPr>
        <p:spPr>
          <a:xfrm>
            <a:off x="1344168" y="2618397"/>
            <a:ext cx="3127248" cy="377860"/>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dirty="0">
                <a:latin typeface="Calibri"/>
              </a:rPr>
              <a:t>1000s of external client agents connecting to snowflake via JDBC</a:t>
            </a:r>
            <a:endParaRPr sz="1100" b="0" i="0" dirty="0">
              <a:latin typeface="Calibri"/>
            </a:endParaRPr>
          </a:p>
        </p:txBody>
      </p:sp>
      <p:sp>
        <p:nvSpPr>
          <p:cNvPr id="31" name="TextBox 30">
            <a:extLst>
              <a:ext uri="{FF2B5EF4-FFF2-40B4-BE49-F238E27FC236}">
                <a16:creationId xmlns:a16="http://schemas.microsoft.com/office/drawing/2014/main" id="{F089C9A0-8AE4-7558-FE7F-759A8B936D38}"/>
              </a:ext>
            </a:extLst>
          </p:cNvPr>
          <p:cNvSpPr txBox="1"/>
          <p:nvPr/>
        </p:nvSpPr>
        <p:spPr>
          <a:xfrm>
            <a:off x="0" y="3566050"/>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32" name="Rounded Rectangle 31">
            <a:extLst>
              <a:ext uri="{FF2B5EF4-FFF2-40B4-BE49-F238E27FC236}">
                <a16:creationId xmlns:a16="http://schemas.microsoft.com/office/drawing/2014/main" id="{24F35861-DD69-19A9-07F0-FF36B0242B3D}"/>
              </a:ext>
            </a:extLst>
          </p:cNvPr>
          <p:cNvSpPr/>
          <p:nvPr/>
        </p:nvSpPr>
        <p:spPr>
          <a:xfrm>
            <a:off x="1143000" y="3903377"/>
            <a:ext cx="3529584" cy="1298448"/>
          </a:xfrm>
          <a:prstGeom prst="roundRect">
            <a:avLst>
              <a:gd name="adj" fmla="val 8000"/>
            </a:avLst>
          </a:prstGeom>
          <a:solidFill>
            <a:schemeClr val="bg1"/>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Oval 32">
            <a:extLst>
              <a:ext uri="{FF2B5EF4-FFF2-40B4-BE49-F238E27FC236}">
                <a16:creationId xmlns:a16="http://schemas.microsoft.com/office/drawing/2014/main" id="{F9C23AA2-101C-DE31-8E08-B1EF99E21F73}"/>
              </a:ext>
            </a:extLst>
          </p:cNvPr>
          <p:cNvSpPr/>
          <p:nvPr/>
        </p:nvSpPr>
        <p:spPr>
          <a:xfrm>
            <a:off x="1333025" y="3976530"/>
            <a:ext cx="365760" cy="36576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7E46F416-B7F9-5CE3-9FEA-523E205539A0}"/>
              </a:ext>
            </a:extLst>
          </p:cNvPr>
          <p:cNvSpPr txBox="1"/>
          <p:nvPr/>
        </p:nvSpPr>
        <p:spPr>
          <a:xfrm>
            <a:off x="1333025" y="3958242"/>
            <a:ext cx="365760" cy="365760"/>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Calibri"/>
              </a:rPr>
              <a:t>2</a:t>
            </a:r>
          </a:p>
        </p:txBody>
      </p:sp>
      <p:sp>
        <p:nvSpPr>
          <p:cNvPr id="35" name="TextBox 34">
            <a:extLst>
              <a:ext uri="{FF2B5EF4-FFF2-40B4-BE49-F238E27FC236}">
                <a16:creationId xmlns:a16="http://schemas.microsoft.com/office/drawing/2014/main" id="{C32415F7-2A18-1F94-5087-39A4F2066D7E}"/>
              </a:ext>
            </a:extLst>
          </p:cNvPr>
          <p:cNvSpPr txBox="1"/>
          <p:nvPr/>
        </p:nvSpPr>
        <p:spPr>
          <a:xfrm>
            <a:off x="1856232" y="4049682"/>
            <a:ext cx="2633472" cy="176972"/>
          </a:xfrm>
          <a:prstGeom prst="rect">
            <a:avLst/>
          </a:prstGeom>
          <a:noFill/>
        </p:spPr>
        <p:txBody>
          <a:bodyPr wrap="square" lIns="0" tIns="0" rIns="0" bIns="0" anchor="t">
            <a:spAutoFit/>
          </a:bodyPr>
          <a:lstStyle/>
          <a:p>
            <a:pPr algn="l">
              <a:spcBef>
                <a:spcPts val="0"/>
              </a:spcBef>
              <a:spcAft>
                <a:spcPts val="0"/>
              </a:spcAft>
            </a:pPr>
            <a:r>
              <a:rPr lang="en-US" sz="1150" b="1" i="0" dirty="0">
                <a:solidFill>
                  <a:srgbClr val="002060"/>
                </a:solidFill>
                <a:latin typeface="Calibri"/>
              </a:rPr>
              <a:t>Snowflake data exfiltration</a:t>
            </a:r>
            <a:endParaRPr sz="1150" b="1" i="0" dirty="0">
              <a:solidFill>
                <a:srgbClr val="002060"/>
              </a:solidFill>
              <a:latin typeface="Calibri"/>
            </a:endParaRPr>
          </a:p>
        </p:txBody>
      </p:sp>
      <p:sp>
        <p:nvSpPr>
          <p:cNvPr id="36" name="TextBox 35">
            <a:extLst>
              <a:ext uri="{FF2B5EF4-FFF2-40B4-BE49-F238E27FC236}">
                <a16:creationId xmlns:a16="http://schemas.microsoft.com/office/drawing/2014/main" id="{65539078-99DD-BD11-EE28-36FDA8EC0479}"/>
              </a:ext>
            </a:extLst>
          </p:cNvPr>
          <p:cNvSpPr txBox="1"/>
          <p:nvPr/>
        </p:nvSpPr>
        <p:spPr>
          <a:xfrm>
            <a:off x="1344168" y="4352424"/>
            <a:ext cx="3296986" cy="377860"/>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dirty="0">
                <a:latin typeface="Calibri"/>
              </a:rPr>
              <a:t>Millions of records extracted from snowflake as “SELECT * FROM….” and sent back to the client</a:t>
            </a:r>
            <a:endParaRPr sz="1100" dirty="0">
              <a:latin typeface="Calibri"/>
            </a:endParaRPr>
          </a:p>
        </p:txBody>
      </p:sp>
      <p:sp>
        <p:nvSpPr>
          <p:cNvPr id="37" name="TextBox 36">
            <a:extLst>
              <a:ext uri="{FF2B5EF4-FFF2-40B4-BE49-F238E27FC236}">
                <a16:creationId xmlns:a16="http://schemas.microsoft.com/office/drawing/2014/main" id="{92CB4B90-D77D-F4A6-0702-5C9D2BF916D3}"/>
              </a:ext>
            </a:extLst>
          </p:cNvPr>
          <p:cNvSpPr txBox="1"/>
          <p:nvPr/>
        </p:nvSpPr>
        <p:spPr>
          <a:xfrm>
            <a:off x="1143000" y="5220113"/>
            <a:ext cx="3529584" cy="246221"/>
          </a:xfrm>
          <a:prstGeom prst="rect">
            <a:avLst/>
          </a:prstGeom>
          <a:noFill/>
        </p:spPr>
        <p:txBody>
          <a:bodyPr wrap="square" lIns="0" tIns="0" rIns="0" bIns="0" anchor="t">
            <a:spAutoFit/>
          </a:bodyPr>
          <a:lstStyle/>
          <a:p>
            <a:pPr algn="ctr">
              <a:spcBef>
                <a:spcPts val="0"/>
              </a:spcBef>
              <a:spcAft>
                <a:spcPts val="0"/>
              </a:spcAft>
            </a:pPr>
            <a:endParaRPr sz="1600" b="1" i="0" dirty="0">
              <a:solidFill>
                <a:srgbClr val="7C89A8"/>
              </a:solidFill>
              <a:latin typeface="Calibri"/>
            </a:endParaRPr>
          </a:p>
        </p:txBody>
      </p:sp>
      <p:sp>
        <p:nvSpPr>
          <p:cNvPr id="43" name="TextBox 42">
            <a:extLst>
              <a:ext uri="{FF2B5EF4-FFF2-40B4-BE49-F238E27FC236}">
                <a16:creationId xmlns:a16="http://schemas.microsoft.com/office/drawing/2014/main" id="{3C0CA115-9EBB-5A73-1828-5E01F7D3A7E2}"/>
              </a:ext>
            </a:extLst>
          </p:cNvPr>
          <p:cNvSpPr txBox="1"/>
          <p:nvPr/>
        </p:nvSpPr>
        <p:spPr bwMode="gray">
          <a:xfrm>
            <a:off x="2398692" y="1781037"/>
            <a:ext cx="527388" cy="215444"/>
          </a:xfrm>
          <a:prstGeom prst="rect">
            <a:avLst/>
          </a:prstGeom>
          <a:noFill/>
        </p:spPr>
        <p:txBody>
          <a:bodyPr vert="horz" wrap="none" lIns="0" tIns="0" rIns="0" bIns="0" rtlCol="0">
            <a:spAutoFit/>
          </a:bodyPr>
          <a:lstStyle/>
          <a:p>
            <a:pPr algn="l">
              <a:spcBef>
                <a:spcPts val="600"/>
              </a:spcBef>
            </a:pPr>
            <a:r>
              <a:rPr lang="en-US" sz="1400" dirty="0"/>
              <a:t>Before</a:t>
            </a:r>
          </a:p>
        </p:txBody>
      </p:sp>
      <p:sp>
        <p:nvSpPr>
          <p:cNvPr id="44" name="TextBox 43">
            <a:extLst>
              <a:ext uri="{FF2B5EF4-FFF2-40B4-BE49-F238E27FC236}">
                <a16:creationId xmlns:a16="http://schemas.microsoft.com/office/drawing/2014/main" id="{B198A9D5-EE55-3B24-B35A-B18C18056C98}"/>
              </a:ext>
            </a:extLst>
          </p:cNvPr>
          <p:cNvSpPr txBox="1"/>
          <p:nvPr/>
        </p:nvSpPr>
        <p:spPr bwMode="gray">
          <a:xfrm>
            <a:off x="8731105" y="1754116"/>
            <a:ext cx="378309" cy="215444"/>
          </a:xfrm>
          <a:prstGeom prst="rect">
            <a:avLst/>
          </a:prstGeom>
          <a:noFill/>
        </p:spPr>
        <p:txBody>
          <a:bodyPr vert="horz" wrap="none" lIns="0" tIns="0" rIns="0" bIns="0" rtlCol="0">
            <a:spAutoFit/>
          </a:bodyPr>
          <a:lstStyle/>
          <a:p>
            <a:pPr algn="l">
              <a:spcBef>
                <a:spcPts val="600"/>
              </a:spcBef>
            </a:pPr>
            <a:r>
              <a:rPr lang="en-US" sz="1400" dirty="0"/>
              <a:t>After</a:t>
            </a:r>
          </a:p>
        </p:txBody>
      </p:sp>
      <p:pic>
        <p:nvPicPr>
          <p:cNvPr id="45" name="Picture 44">
            <a:extLst>
              <a:ext uri="{FF2B5EF4-FFF2-40B4-BE49-F238E27FC236}">
                <a16:creationId xmlns:a16="http://schemas.microsoft.com/office/drawing/2014/main" id="{17AF7009-799A-0AEF-E8CB-78BD713CB891}"/>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1270318" y="3070185"/>
            <a:ext cx="273749" cy="274320"/>
          </a:xfrm>
          <a:prstGeom prst="rect">
            <a:avLst/>
          </a:prstGeom>
        </p:spPr>
      </p:pic>
      <p:pic>
        <p:nvPicPr>
          <p:cNvPr id="48" name="Picture 47">
            <a:extLst>
              <a:ext uri="{FF2B5EF4-FFF2-40B4-BE49-F238E27FC236}">
                <a16:creationId xmlns:a16="http://schemas.microsoft.com/office/drawing/2014/main" id="{EF6758B7-5569-E26A-BE00-EBDF61BCB29D}"/>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1713121" y="3062754"/>
            <a:ext cx="273749" cy="274320"/>
          </a:xfrm>
          <a:prstGeom prst="rect">
            <a:avLst/>
          </a:prstGeom>
        </p:spPr>
      </p:pic>
      <p:pic>
        <p:nvPicPr>
          <p:cNvPr id="49" name="Picture 48">
            <a:extLst>
              <a:ext uri="{FF2B5EF4-FFF2-40B4-BE49-F238E27FC236}">
                <a16:creationId xmlns:a16="http://schemas.microsoft.com/office/drawing/2014/main" id="{B264AD7B-D8C5-2AB8-A108-D072502183A3}"/>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2202699" y="3080438"/>
            <a:ext cx="273749" cy="274320"/>
          </a:xfrm>
          <a:prstGeom prst="rect">
            <a:avLst/>
          </a:prstGeom>
        </p:spPr>
      </p:pic>
      <p:pic>
        <p:nvPicPr>
          <p:cNvPr id="50" name="Picture 49">
            <a:extLst>
              <a:ext uri="{FF2B5EF4-FFF2-40B4-BE49-F238E27FC236}">
                <a16:creationId xmlns:a16="http://schemas.microsoft.com/office/drawing/2014/main" id="{2093BE0C-E624-E9C6-1327-B6D3C6EFDB46}"/>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2752997" y="3080438"/>
            <a:ext cx="273749" cy="274320"/>
          </a:xfrm>
          <a:prstGeom prst="rect">
            <a:avLst/>
          </a:prstGeom>
        </p:spPr>
      </p:pic>
      <p:pic>
        <p:nvPicPr>
          <p:cNvPr id="51" name="Picture 50">
            <a:extLst>
              <a:ext uri="{FF2B5EF4-FFF2-40B4-BE49-F238E27FC236}">
                <a16:creationId xmlns:a16="http://schemas.microsoft.com/office/drawing/2014/main" id="{D4EBCC0D-3AB4-1DB9-E744-C6DE33700732}"/>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3309475" y="3088144"/>
            <a:ext cx="273749" cy="274320"/>
          </a:xfrm>
          <a:prstGeom prst="rect">
            <a:avLst/>
          </a:prstGeom>
        </p:spPr>
      </p:pic>
      <p:pic>
        <p:nvPicPr>
          <p:cNvPr id="52" name="Picture 51">
            <a:extLst>
              <a:ext uri="{FF2B5EF4-FFF2-40B4-BE49-F238E27FC236}">
                <a16:creationId xmlns:a16="http://schemas.microsoft.com/office/drawing/2014/main" id="{E3E00C17-0D7F-088A-03AF-1DA7759348B5}"/>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3799507" y="3088144"/>
            <a:ext cx="273749" cy="274320"/>
          </a:xfrm>
          <a:prstGeom prst="rect">
            <a:avLst/>
          </a:prstGeom>
        </p:spPr>
      </p:pic>
      <p:pic>
        <p:nvPicPr>
          <p:cNvPr id="53" name="Picture 52">
            <a:extLst>
              <a:ext uri="{FF2B5EF4-FFF2-40B4-BE49-F238E27FC236}">
                <a16:creationId xmlns:a16="http://schemas.microsoft.com/office/drawing/2014/main" id="{A77EBA04-D726-E173-77E1-64270061E961}"/>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4232073" y="3090025"/>
            <a:ext cx="273749" cy="274320"/>
          </a:xfrm>
          <a:prstGeom prst="rect">
            <a:avLst/>
          </a:prstGeom>
        </p:spPr>
      </p:pic>
      <p:sp>
        <p:nvSpPr>
          <p:cNvPr id="54" name="TextBox 53">
            <a:extLst>
              <a:ext uri="{FF2B5EF4-FFF2-40B4-BE49-F238E27FC236}">
                <a16:creationId xmlns:a16="http://schemas.microsoft.com/office/drawing/2014/main" id="{3ABDAE84-C547-AB1C-EFB0-BDEE79616586}"/>
              </a:ext>
            </a:extLst>
          </p:cNvPr>
          <p:cNvSpPr txBox="1"/>
          <p:nvPr/>
        </p:nvSpPr>
        <p:spPr bwMode="gray">
          <a:xfrm>
            <a:off x="4592093" y="3625660"/>
            <a:ext cx="509755" cy="153888"/>
          </a:xfrm>
          <a:prstGeom prst="rect">
            <a:avLst/>
          </a:prstGeom>
          <a:solidFill>
            <a:schemeClr val="tx2">
              <a:lumMod val="60000"/>
              <a:lumOff val="40000"/>
            </a:schemeClr>
          </a:solidFill>
        </p:spPr>
        <p:txBody>
          <a:bodyPr vert="horz" wrap="none" lIns="0" tIns="0" rIns="0" bIns="0" rtlCol="0">
            <a:spAutoFit/>
          </a:bodyPr>
          <a:lstStyle/>
          <a:p>
            <a:pPr algn="l">
              <a:spcBef>
                <a:spcPts val="600"/>
              </a:spcBef>
            </a:pPr>
            <a:r>
              <a:rPr lang="en-US" sz="1000" dirty="0"/>
              <a:t>Huge I/O</a:t>
            </a:r>
          </a:p>
        </p:txBody>
      </p:sp>
      <p:sp>
        <p:nvSpPr>
          <p:cNvPr id="55" name="TextBox 54">
            <a:extLst>
              <a:ext uri="{FF2B5EF4-FFF2-40B4-BE49-F238E27FC236}">
                <a16:creationId xmlns:a16="http://schemas.microsoft.com/office/drawing/2014/main" id="{9C32A713-EC90-A6C7-6A19-56A192F9150A}"/>
              </a:ext>
            </a:extLst>
          </p:cNvPr>
          <p:cNvSpPr txBox="1"/>
          <p:nvPr/>
        </p:nvSpPr>
        <p:spPr bwMode="gray">
          <a:xfrm>
            <a:off x="3936381" y="2225832"/>
            <a:ext cx="602729" cy="153888"/>
          </a:xfrm>
          <a:prstGeom prst="rect">
            <a:avLst/>
          </a:prstGeom>
          <a:solidFill>
            <a:schemeClr val="tx2">
              <a:lumMod val="60000"/>
              <a:lumOff val="40000"/>
            </a:schemeClr>
          </a:solidFill>
        </p:spPr>
        <p:txBody>
          <a:bodyPr vert="horz" wrap="none" lIns="0" tIns="0" rIns="0" bIns="0" rtlCol="0">
            <a:spAutoFit/>
          </a:bodyPr>
          <a:lstStyle>
            <a:defPPr>
              <a:defRPr lang="en-US"/>
            </a:defPPr>
            <a:lvl1pPr>
              <a:spcBef>
                <a:spcPts val="600"/>
              </a:spcBef>
              <a:defRPr sz="1000"/>
            </a:lvl1pPr>
          </a:lstStyle>
          <a:p>
            <a:r>
              <a:rPr lang="en-US" dirty="0"/>
              <a:t>Huge Cost</a:t>
            </a:r>
          </a:p>
        </p:txBody>
      </p:sp>
      <p:sp>
        <p:nvSpPr>
          <p:cNvPr id="56" name="TextBox 55">
            <a:extLst>
              <a:ext uri="{FF2B5EF4-FFF2-40B4-BE49-F238E27FC236}">
                <a16:creationId xmlns:a16="http://schemas.microsoft.com/office/drawing/2014/main" id="{E5C89A8C-9A7E-37E6-465C-C4911F8F4557}"/>
              </a:ext>
            </a:extLst>
          </p:cNvPr>
          <p:cNvSpPr txBox="1"/>
          <p:nvPr/>
        </p:nvSpPr>
        <p:spPr bwMode="gray">
          <a:xfrm>
            <a:off x="3556287" y="2451080"/>
            <a:ext cx="1033937" cy="153888"/>
          </a:xfrm>
          <a:prstGeom prst="rect">
            <a:avLst/>
          </a:prstGeom>
          <a:solidFill>
            <a:schemeClr val="tx2">
              <a:lumMod val="60000"/>
              <a:lumOff val="40000"/>
            </a:schemeClr>
          </a:solidFill>
        </p:spPr>
        <p:txBody>
          <a:bodyPr vert="horz" wrap="none" lIns="0" tIns="0" rIns="0" bIns="0" rtlCol="0">
            <a:spAutoFit/>
          </a:bodyPr>
          <a:lstStyle/>
          <a:p>
            <a:pPr algn="l">
              <a:spcBef>
                <a:spcPts val="600"/>
              </a:spcBef>
            </a:pPr>
            <a:r>
              <a:rPr lang="en-US" sz="1000" dirty="0"/>
              <a:t>High Token usage</a:t>
            </a:r>
          </a:p>
        </p:txBody>
      </p:sp>
      <p:sp>
        <p:nvSpPr>
          <p:cNvPr id="60" name="TextBox 59">
            <a:extLst>
              <a:ext uri="{FF2B5EF4-FFF2-40B4-BE49-F238E27FC236}">
                <a16:creationId xmlns:a16="http://schemas.microsoft.com/office/drawing/2014/main" id="{B85F2C75-DF6A-A360-18E1-544E024CDCE9}"/>
              </a:ext>
            </a:extLst>
          </p:cNvPr>
          <p:cNvSpPr txBox="1"/>
          <p:nvPr/>
        </p:nvSpPr>
        <p:spPr bwMode="gray">
          <a:xfrm>
            <a:off x="7891455" y="3404798"/>
            <a:ext cx="915315" cy="153888"/>
          </a:xfrm>
          <a:prstGeom prst="rect">
            <a:avLst/>
          </a:prstGeom>
          <a:solidFill>
            <a:srgbClr val="4EC3AD"/>
          </a:solidFill>
        </p:spPr>
        <p:txBody>
          <a:bodyPr vert="horz" wrap="none" lIns="0" tIns="0" rIns="0" bIns="0" rtlCol="0">
            <a:spAutoFit/>
          </a:bodyPr>
          <a:lstStyle/>
          <a:p>
            <a:pPr>
              <a:spcBef>
                <a:spcPts val="600"/>
              </a:spcBef>
            </a:pPr>
            <a:r>
              <a:rPr lang="en-US" sz="1000" dirty="0"/>
              <a:t>less network I/O</a:t>
            </a:r>
          </a:p>
        </p:txBody>
      </p:sp>
      <p:sp>
        <p:nvSpPr>
          <p:cNvPr id="66" name="TextBox 65">
            <a:extLst>
              <a:ext uri="{FF2B5EF4-FFF2-40B4-BE49-F238E27FC236}">
                <a16:creationId xmlns:a16="http://schemas.microsoft.com/office/drawing/2014/main" id="{D6484506-2104-B1B5-4A5A-1A651377894F}"/>
              </a:ext>
            </a:extLst>
          </p:cNvPr>
          <p:cNvSpPr txBox="1"/>
          <p:nvPr/>
        </p:nvSpPr>
        <p:spPr bwMode="gray">
          <a:xfrm>
            <a:off x="7460921" y="2946617"/>
            <a:ext cx="1232710" cy="153888"/>
          </a:xfrm>
          <a:prstGeom prst="rect">
            <a:avLst/>
          </a:prstGeom>
          <a:solidFill>
            <a:srgbClr val="4EC3AD"/>
          </a:solidFill>
        </p:spPr>
        <p:txBody>
          <a:bodyPr vert="horz" wrap="none" lIns="0" tIns="0" rIns="0" bIns="0" rtlCol="0">
            <a:spAutoFit/>
          </a:bodyPr>
          <a:lstStyle/>
          <a:p>
            <a:pPr>
              <a:spcBef>
                <a:spcPts val="600"/>
              </a:spcBef>
            </a:pPr>
            <a:r>
              <a:rPr lang="en-US" sz="1000" dirty="0"/>
              <a:t>Controlled token cost</a:t>
            </a:r>
          </a:p>
        </p:txBody>
      </p:sp>
      <p:sp>
        <p:nvSpPr>
          <p:cNvPr id="67" name="TextBox 66">
            <a:extLst>
              <a:ext uri="{FF2B5EF4-FFF2-40B4-BE49-F238E27FC236}">
                <a16:creationId xmlns:a16="http://schemas.microsoft.com/office/drawing/2014/main" id="{460BA3DF-4520-699A-3120-F751D41AB2A9}"/>
              </a:ext>
            </a:extLst>
          </p:cNvPr>
          <p:cNvSpPr txBox="1"/>
          <p:nvPr/>
        </p:nvSpPr>
        <p:spPr bwMode="gray">
          <a:xfrm>
            <a:off x="9471525" y="2931199"/>
            <a:ext cx="1027525" cy="153888"/>
          </a:xfrm>
          <a:prstGeom prst="rect">
            <a:avLst/>
          </a:prstGeom>
          <a:solidFill>
            <a:srgbClr val="4EC3AD"/>
          </a:solidFill>
        </p:spPr>
        <p:txBody>
          <a:bodyPr vert="horz" wrap="none" lIns="0" tIns="0" rIns="0" bIns="0" rtlCol="0">
            <a:spAutoFit/>
          </a:bodyPr>
          <a:lstStyle/>
          <a:p>
            <a:pPr>
              <a:spcBef>
                <a:spcPts val="600"/>
              </a:spcBef>
            </a:pPr>
            <a:r>
              <a:rPr lang="en-US" sz="1000" dirty="0"/>
              <a:t>Accurate outcome</a:t>
            </a:r>
          </a:p>
        </p:txBody>
      </p:sp>
      <p:sp>
        <p:nvSpPr>
          <p:cNvPr id="69" name="TextBox 68">
            <a:extLst>
              <a:ext uri="{FF2B5EF4-FFF2-40B4-BE49-F238E27FC236}">
                <a16:creationId xmlns:a16="http://schemas.microsoft.com/office/drawing/2014/main" id="{1D0D38A1-6512-44DC-D078-0F365BCA97BB}"/>
              </a:ext>
            </a:extLst>
          </p:cNvPr>
          <p:cNvSpPr txBox="1"/>
          <p:nvPr/>
        </p:nvSpPr>
        <p:spPr>
          <a:xfrm rot="10800000">
            <a:off x="806575" y="3607107"/>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1" name="TextBox 70">
            <a:extLst>
              <a:ext uri="{FF2B5EF4-FFF2-40B4-BE49-F238E27FC236}">
                <a16:creationId xmlns:a16="http://schemas.microsoft.com/office/drawing/2014/main" id="{33A1F3E6-99B2-C6E0-3C22-A4D915018F63}"/>
              </a:ext>
            </a:extLst>
          </p:cNvPr>
          <p:cNvSpPr txBox="1"/>
          <p:nvPr/>
        </p:nvSpPr>
        <p:spPr>
          <a:xfrm rot="10800000">
            <a:off x="385892" y="3609061"/>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3" name="Down Arrow 72">
            <a:extLst>
              <a:ext uri="{FF2B5EF4-FFF2-40B4-BE49-F238E27FC236}">
                <a16:creationId xmlns:a16="http://schemas.microsoft.com/office/drawing/2014/main" id="{B429317C-1484-4C23-2701-1C22D072F5F8}"/>
              </a:ext>
            </a:extLst>
          </p:cNvPr>
          <p:cNvSpPr/>
          <p:nvPr/>
        </p:nvSpPr>
        <p:spPr bwMode="gray">
          <a:xfrm>
            <a:off x="2398692" y="3794780"/>
            <a:ext cx="198379" cy="45719"/>
          </a:xfrm>
          <a:prstGeom prst="downArrow">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74" name="TextBox 73">
            <a:extLst>
              <a:ext uri="{FF2B5EF4-FFF2-40B4-BE49-F238E27FC236}">
                <a16:creationId xmlns:a16="http://schemas.microsoft.com/office/drawing/2014/main" id="{B9662107-D6EE-DF3A-1072-A8E8D8FA6EE5}"/>
              </a:ext>
            </a:extLst>
          </p:cNvPr>
          <p:cNvSpPr txBox="1"/>
          <p:nvPr/>
        </p:nvSpPr>
        <p:spPr>
          <a:xfrm rot="10800000">
            <a:off x="1281918" y="3616471"/>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5" name="TextBox 74">
            <a:extLst>
              <a:ext uri="{FF2B5EF4-FFF2-40B4-BE49-F238E27FC236}">
                <a16:creationId xmlns:a16="http://schemas.microsoft.com/office/drawing/2014/main" id="{07B02007-D5A9-0DA8-5421-F9C13A51B947}"/>
              </a:ext>
            </a:extLst>
          </p:cNvPr>
          <p:cNvSpPr txBox="1"/>
          <p:nvPr/>
        </p:nvSpPr>
        <p:spPr>
          <a:xfrm rot="10800000">
            <a:off x="1735701" y="3626847"/>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6" name="TextBox 75">
            <a:extLst>
              <a:ext uri="{FF2B5EF4-FFF2-40B4-BE49-F238E27FC236}">
                <a16:creationId xmlns:a16="http://schemas.microsoft.com/office/drawing/2014/main" id="{0D7CB780-E152-46BA-C261-247030A6D0AA}"/>
              </a:ext>
            </a:extLst>
          </p:cNvPr>
          <p:cNvSpPr txBox="1"/>
          <p:nvPr/>
        </p:nvSpPr>
        <p:spPr>
          <a:xfrm rot="10800000">
            <a:off x="2150683" y="3616471"/>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7" name="TextBox 76">
            <a:extLst>
              <a:ext uri="{FF2B5EF4-FFF2-40B4-BE49-F238E27FC236}">
                <a16:creationId xmlns:a16="http://schemas.microsoft.com/office/drawing/2014/main" id="{033165E6-8FBD-C898-A5F4-064C11AAE6B2}"/>
              </a:ext>
            </a:extLst>
          </p:cNvPr>
          <p:cNvSpPr txBox="1"/>
          <p:nvPr/>
        </p:nvSpPr>
        <p:spPr>
          <a:xfrm rot="10800000">
            <a:off x="2538954" y="3586360"/>
            <a:ext cx="3529584" cy="246221"/>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
        <p:nvSpPr>
          <p:cNvPr id="78" name="TextBox 77">
            <a:extLst>
              <a:ext uri="{FF2B5EF4-FFF2-40B4-BE49-F238E27FC236}">
                <a16:creationId xmlns:a16="http://schemas.microsoft.com/office/drawing/2014/main" id="{551EF6BF-5630-10B8-AA91-3A02ADE77C85}"/>
              </a:ext>
            </a:extLst>
          </p:cNvPr>
          <p:cNvSpPr txBox="1"/>
          <p:nvPr/>
        </p:nvSpPr>
        <p:spPr>
          <a:xfrm rot="10800000">
            <a:off x="7524929" y="3399039"/>
            <a:ext cx="3529584" cy="201168"/>
          </a:xfrm>
          <a:prstGeom prst="rect">
            <a:avLst/>
          </a:prstGeom>
          <a:noFill/>
        </p:spPr>
        <p:txBody>
          <a:bodyPr wrap="square" lIns="0" tIns="0" rIns="0" bIns="0" anchor="t">
            <a:spAutoFit/>
          </a:bodyPr>
          <a:lstStyle/>
          <a:p>
            <a:pPr algn="ctr">
              <a:spcBef>
                <a:spcPts val="0"/>
              </a:spcBef>
              <a:spcAft>
                <a:spcPts val="0"/>
              </a:spcAft>
            </a:pPr>
            <a:r>
              <a:rPr sz="1600" b="1" i="0" dirty="0">
                <a:solidFill>
                  <a:srgbClr val="7C89A8"/>
                </a:solidFill>
                <a:latin typeface="Calibri"/>
              </a:rPr>
              <a:t>↓</a:t>
            </a:r>
          </a:p>
        </p:txBody>
      </p:sp>
    </p:spTree>
    <p:extLst>
      <p:ext uri="{BB962C8B-B14F-4D97-AF65-F5344CB8AC3E}">
        <p14:creationId xmlns:p14="http://schemas.microsoft.com/office/powerpoint/2010/main" val="3993938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9C7A0E-C33B-D4BC-55BB-131076A2A060}"/>
              </a:ext>
            </a:extLst>
          </p:cNvPr>
          <p:cNvSpPr>
            <a:spLocks noGrp="1"/>
          </p:cNvSpPr>
          <p:nvPr>
            <p:ph type="title"/>
          </p:nvPr>
        </p:nvSpPr>
        <p:spPr>
          <a:xfrm>
            <a:off x="457200" y="320000"/>
            <a:ext cx="11277600" cy="860000"/>
          </a:xfrm>
        </p:spPr>
        <p:txBody>
          <a:bodyPr lIns="0" tIns="0" rIns="0" bIns="0" anchor="b">
            <a:normAutofit/>
          </a:bodyPr>
          <a:lstStyle/>
          <a:p>
            <a:pPr algn="l"/>
            <a:r>
              <a:rPr lang="en-US" sz="3600" b="1" dirty="0">
                <a:solidFill>
                  <a:srgbClr val="002677"/>
                </a:solidFill>
                <a:latin typeface="+mj-lt"/>
              </a:rPr>
              <a:t>How It Works</a:t>
            </a:r>
          </a:p>
        </p:txBody>
      </p:sp>
      <p:sp>
        <p:nvSpPr>
          <p:cNvPr id="10" name="Title Rule"/>
          <p:cNvSpPr/>
          <p:nvPr/>
        </p:nvSpPr>
        <p:spPr>
          <a:xfrm>
            <a:off x="457200" y="1270000"/>
            <a:ext cx="685800" cy="45720"/>
          </a:xfrm>
          <a:prstGeom prst="rect">
            <a:avLst/>
          </a:prstGeom>
          <a:solidFill>
            <a:srgbClr val="FF612B"/>
          </a:solidFill>
          <a:ln>
            <a:noFill/>
          </a:ln>
        </p:spPr>
        <p:txBody>
          <a:bodyPr/>
          <a:lstStyle/>
          <a:p>
            <a:endParaRPr lang="en-US"/>
          </a:p>
        </p:txBody>
      </p:sp>
      <p:sp>
        <p:nvSpPr>
          <p:cNvPr id="5" name="Rectangle 4">
            <a:extLst>
              <a:ext uri="{FF2B5EF4-FFF2-40B4-BE49-F238E27FC236}">
                <a16:creationId xmlns:a16="http://schemas.microsoft.com/office/drawing/2014/main" id="{E55B3065-2A25-88A2-F084-CE514A95B721}"/>
              </a:ext>
            </a:extLst>
          </p:cNvPr>
          <p:cNvSpPr/>
          <p:nvPr/>
        </p:nvSpPr>
        <p:spPr bwMode="gray">
          <a:xfrm>
            <a:off x="9709265" y="6331132"/>
            <a:ext cx="1812175" cy="296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27" name="Rounded Rectangle 26">
            <a:extLst>
              <a:ext uri="{FF2B5EF4-FFF2-40B4-BE49-F238E27FC236}">
                <a16:creationId xmlns:a16="http://schemas.microsoft.com/office/drawing/2014/main" id="{78E9DB9F-1D05-BA28-607E-278FC37B5930}"/>
              </a:ext>
            </a:extLst>
          </p:cNvPr>
          <p:cNvSpPr/>
          <p:nvPr/>
        </p:nvSpPr>
        <p:spPr>
          <a:xfrm>
            <a:off x="6231636" y="1143000"/>
            <a:ext cx="3200400" cy="365760"/>
          </a:xfrm>
          <a:prstGeom prst="roundRect">
            <a:avLst>
              <a:gd name="adj" fmla="val 8000"/>
            </a:avLst>
          </a:prstGeom>
          <a:solidFill>
            <a:schemeClr val="bg1"/>
          </a:solidFill>
          <a:ln w="12700">
            <a:solidFill>
              <a:srgbClr val="1E8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B1803047-5D07-5C36-ECA6-4F0A3BD70995}"/>
              </a:ext>
            </a:extLst>
          </p:cNvPr>
          <p:cNvSpPr txBox="1"/>
          <p:nvPr/>
        </p:nvSpPr>
        <p:spPr>
          <a:xfrm>
            <a:off x="6231636" y="1241241"/>
            <a:ext cx="3200400" cy="169277"/>
          </a:xfrm>
          <a:prstGeom prst="rect">
            <a:avLst/>
          </a:prstGeom>
          <a:noFill/>
        </p:spPr>
        <p:txBody>
          <a:bodyPr wrap="square" lIns="0" tIns="0" rIns="0" bIns="0" anchor="ctr">
            <a:spAutoFit/>
          </a:bodyPr>
          <a:lstStyle/>
          <a:p>
            <a:pPr algn="ctr"/>
            <a:r>
              <a:rPr lang="en-US" sz="1100" b="1" i="0" dirty="0">
                <a:solidFill>
                  <a:srgbClr val="002060"/>
                </a:solidFill>
                <a:latin typeface="Calibri"/>
              </a:rPr>
              <a:t>UAIS</a:t>
            </a:r>
            <a:endParaRPr sz="1100" b="1" i="0" dirty="0">
              <a:solidFill>
                <a:srgbClr val="002060"/>
              </a:solidFill>
              <a:latin typeface="Calibri"/>
            </a:endParaRPr>
          </a:p>
        </p:txBody>
      </p:sp>
      <p:sp>
        <p:nvSpPr>
          <p:cNvPr id="29" name="TextBox 28">
            <a:extLst>
              <a:ext uri="{FF2B5EF4-FFF2-40B4-BE49-F238E27FC236}">
                <a16:creationId xmlns:a16="http://schemas.microsoft.com/office/drawing/2014/main" id="{FD36912B-650A-C845-7896-15D4958601FB}"/>
              </a:ext>
            </a:extLst>
          </p:cNvPr>
          <p:cNvSpPr txBox="1"/>
          <p:nvPr/>
        </p:nvSpPr>
        <p:spPr>
          <a:xfrm>
            <a:off x="548640" y="886968"/>
            <a:ext cx="11091672" cy="182880"/>
          </a:xfrm>
          <a:prstGeom prst="rect">
            <a:avLst/>
          </a:prstGeom>
          <a:noFill/>
        </p:spPr>
        <p:txBody>
          <a:bodyPr wrap="square" lIns="0" tIns="0" rIns="0" bIns="0" anchor="t">
            <a:spAutoFit/>
          </a:bodyPr>
          <a:lstStyle/>
          <a:p>
            <a:pPr algn="ctr"/>
            <a:r>
              <a:rPr sz="950" b="1" i="0" dirty="0">
                <a:solidFill>
                  <a:srgbClr val="677089"/>
                </a:solidFill>
                <a:latin typeface="Calibri"/>
              </a:rPr>
              <a:t>MCP CLIENTS  (OUTSIDE SNOWFLAKE)</a:t>
            </a:r>
          </a:p>
        </p:txBody>
      </p:sp>
      <p:cxnSp>
        <p:nvCxnSpPr>
          <p:cNvPr id="30" name="Connector 9">
            <a:extLst>
              <a:ext uri="{FF2B5EF4-FFF2-40B4-BE49-F238E27FC236}">
                <a16:creationId xmlns:a16="http://schemas.microsoft.com/office/drawing/2014/main" id="{F7DD70BD-3836-C4CD-8B27-131B234FFE62}"/>
              </a:ext>
            </a:extLst>
          </p:cNvPr>
          <p:cNvCxnSpPr/>
          <p:nvPr/>
        </p:nvCxnSpPr>
        <p:spPr>
          <a:xfrm>
            <a:off x="6094476" y="1508760"/>
            <a:ext cx="0" cy="182879"/>
          </a:xfrm>
          <a:prstGeom prst="line">
            <a:avLst/>
          </a:prstGeom>
          <a:ln w="25400">
            <a:solidFill>
              <a:srgbClr val="29B5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04A29B9E-349E-41ED-17D0-D6B572DB2624}"/>
              </a:ext>
            </a:extLst>
          </p:cNvPr>
          <p:cNvSpPr/>
          <p:nvPr/>
        </p:nvSpPr>
        <p:spPr>
          <a:xfrm>
            <a:off x="365759" y="1691639"/>
            <a:ext cx="11457432" cy="4315968"/>
          </a:xfrm>
          <a:prstGeom prst="roundRect">
            <a:avLst>
              <a:gd name="adj" fmla="val 5000"/>
            </a:avLst>
          </a:prstGeom>
          <a:noFill/>
          <a:ln w="2222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88E8CE95-D44A-4FA1-195B-6672369A28CF}"/>
              </a:ext>
            </a:extLst>
          </p:cNvPr>
          <p:cNvSpPr txBox="1"/>
          <p:nvPr/>
        </p:nvSpPr>
        <p:spPr>
          <a:xfrm>
            <a:off x="548640" y="1783080"/>
            <a:ext cx="2743200" cy="219456"/>
          </a:xfrm>
          <a:prstGeom prst="rect">
            <a:avLst/>
          </a:prstGeom>
          <a:noFill/>
        </p:spPr>
        <p:txBody>
          <a:bodyPr wrap="square" lIns="0" tIns="0" rIns="0" bIns="0" anchor="t">
            <a:spAutoFit/>
          </a:bodyPr>
          <a:lstStyle/>
          <a:p>
            <a:pPr algn="l"/>
            <a:r>
              <a:rPr sz="1150" b="1" i="0">
                <a:solidFill>
                  <a:srgbClr val="29B5E8"/>
                </a:solidFill>
                <a:latin typeface="Calibri"/>
              </a:rPr>
              <a:t>❄  SNOWFLAKE</a:t>
            </a:r>
          </a:p>
        </p:txBody>
      </p:sp>
      <p:sp>
        <p:nvSpPr>
          <p:cNvPr id="33" name="Rounded Rectangle 32">
            <a:extLst>
              <a:ext uri="{FF2B5EF4-FFF2-40B4-BE49-F238E27FC236}">
                <a16:creationId xmlns:a16="http://schemas.microsoft.com/office/drawing/2014/main" id="{B2796849-114E-0598-3453-6E51C4BE76C4}"/>
              </a:ext>
            </a:extLst>
          </p:cNvPr>
          <p:cNvSpPr/>
          <p:nvPr/>
        </p:nvSpPr>
        <p:spPr>
          <a:xfrm>
            <a:off x="731520" y="2075688"/>
            <a:ext cx="10725912" cy="365760"/>
          </a:xfrm>
          <a:prstGeom prst="roundRect">
            <a:avLst>
              <a:gd name="adj" fmla="val 32000"/>
            </a:avLst>
          </a:prstGeom>
          <a:gradFill rotWithShape="1">
            <a:gsLst>
              <a:gs pos="0">
                <a:srgbClr val="FB923C"/>
              </a:gs>
              <a:gs pos="100000">
                <a:srgbClr val="EA580C"/>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7281C17D-914F-1056-13B7-D79F462BE82E}"/>
              </a:ext>
            </a:extLst>
          </p:cNvPr>
          <p:cNvSpPr txBox="1"/>
          <p:nvPr/>
        </p:nvSpPr>
        <p:spPr>
          <a:xfrm>
            <a:off x="960120" y="2075688"/>
            <a:ext cx="10268712" cy="365760"/>
          </a:xfrm>
          <a:prstGeom prst="rect">
            <a:avLst/>
          </a:prstGeom>
          <a:noFill/>
        </p:spPr>
        <p:txBody>
          <a:bodyPr wrap="square" lIns="0" tIns="0" rIns="0" bIns="0" anchor="ctr">
            <a:spAutoFit/>
          </a:bodyPr>
          <a:lstStyle/>
          <a:p>
            <a:pPr algn="l"/>
            <a:r>
              <a:rPr sz="1450" b="1" i="0" dirty="0">
                <a:solidFill>
                  <a:srgbClr val="FFFFFF"/>
                </a:solidFill>
                <a:latin typeface="Cambria"/>
              </a:rPr>
              <a:t>ECDH MCP SERVER</a:t>
            </a:r>
          </a:p>
        </p:txBody>
      </p:sp>
      <p:sp>
        <p:nvSpPr>
          <p:cNvPr id="35" name="TextBox 34">
            <a:extLst>
              <a:ext uri="{FF2B5EF4-FFF2-40B4-BE49-F238E27FC236}">
                <a16:creationId xmlns:a16="http://schemas.microsoft.com/office/drawing/2014/main" id="{9245E357-4AA7-6399-D9AE-8C80482A4564}"/>
              </a:ext>
            </a:extLst>
          </p:cNvPr>
          <p:cNvSpPr txBox="1"/>
          <p:nvPr/>
        </p:nvSpPr>
        <p:spPr>
          <a:xfrm>
            <a:off x="8690650" y="2269439"/>
            <a:ext cx="2675342" cy="126289"/>
          </a:xfrm>
          <a:prstGeom prst="rect">
            <a:avLst/>
          </a:prstGeom>
          <a:noFill/>
        </p:spPr>
        <p:txBody>
          <a:bodyPr wrap="square" lIns="0" tIns="0" rIns="0" bIns="0" anchor="t">
            <a:spAutoFit/>
          </a:bodyPr>
          <a:lstStyle/>
          <a:p>
            <a:pPr algn="l"/>
            <a:r>
              <a:rPr sz="800" b="1" i="1" dirty="0">
                <a:solidFill>
                  <a:schemeClr val="accent1"/>
                </a:solidFill>
                <a:latin typeface="Calibri"/>
              </a:rPr>
              <a:t>POWERED BY:  SNOWFLAKE-NATIVE MCP  +  CORTEX AGENTS</a:t>
            </a:r>
          </a:p>
        </p:txBody>
      </p:sp>
      <p:sp>
        <p:nvSpPr>
          <p:cNvPr id="36" name="Rounded Rectangle 35">
            <a:extLst>
              <a:ext uri="{FF2B5EF4-FFF2-40B4-BE49-F238E27FC236}">
                <a16:creationId xmlns:a16="http://schemas.microsoft.com/office/drawing/2014/main" id="{059A20BE-86C8-60E8-F3D1-2AB71B1ACF65}"/>
              </a:ext>
            </a:extLst>
          </p:cNvPr>
          <p:cNvSpPr/>
          <p:nvPr/>
        </p:nvSpPr>
        <p:spPr>
          <a:xfrm>
            <a:off x="731520" y="2724912"/>
            <a:ext cx="2578608" cy="512064"/>
          </a:xfrm>
          <a:prstGeom prst="roundRect">
            <a:avLst>
              <a:gd name="adj" fmla="val 12000"/>
            </a:avLst>
          </a:prstGeom>
          <a:solidFill>
            <a:srgbClr val="D9CFEB"/>
          </a:solidFill>
          <a:ln w="19050">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8A97610-2AE9-D29C-F4A6-ADD3FFE1914F}"/>
              </a:ext>
            </a:extLst>
          </p:cNvPr>
          <p:cNvSpPr txBox="1"/>
          <p:nvPr/>
        </p:nvSpPr>
        <p:spPr>
          <a:xfrm>
            <a:off x="822960" y="2788920"/>
            <a:ext cx="2395728" cy="161583"/>
          </a:xfrm>
          <a:prstGeom prst="rect">
            <a:avLst/>
          </a:prstGeom>
          <a:noFill/>
        </p:spPr>
        <p:txBody>
          <a:bodyPr wrap="square" lIns="0" tIns="0" rIns="0" bIns="0" anchor="t">
            <a:spAutoFit/>
          </a:bodyPr>
          <a:lstStyle/>
          <a:p>
            <a:pPr algn="l"/>
            <a:r>
              <a:rPr sz="1050" b="1" i="0" dirty="0">
                <a:solidFill>
                  <a:srgbClr val="002060"/>
                </a:solidFill>
                <a:latin typeface="Calibri"/>
              </a:rPr>
              <a:t>Tool Router</a:t>
            </a:r>
          </a:p>
        </p:txBody>
      </p:sp>
      <p:sp>
        <p:nvSpPr>
          <p:cNvPr id="38" name="TextBox 37">
            <a:extLst>
              <a:ext uri="{FF2B5EF4-FFF2-40B4-BE49-F238E27FC236}">
                <a16:creationId xmlns:a16="http://schemas.microsoft.com/office/drawing/2014/main" id="{9D3AC6C7-7F8C-E92A-202F-3D63D0DBB315}"/>
              </a:ext>
            </a:extLst>
          </p:cNvPr>
          <p:cNvSpPr txBox="1"/>
          <p:nvPr/>
        </p:nvSpPr>
        <p:spPr>
          <a:xfrm>
            <a:off x="822960" y="2999232"/>
            <a:ext cx="2395728" cy="124008"/>
          </a:xfrm>
          <a:prstGeom prst="rect">
            <a:avLst/>
          </a:prstGeom>
          <a:noFill/>
        </p:spPr>
        <p:txBody>
          <a:bodyPr wrap="square" lIns="0" tIns="0" rIns="0" bIns="0" anchor="t">
            <a:spAutoFit/>
          </a:bodyPr>
          <a:lstStyle/>
          <a:p>
            <a:pPr algn="l">
              <a:lnSpc>
                <a:spcPct val="105000"/>
              </a:lnSpc>
            </a:pPr>
            <a:r>
              <a:rPr sz="800" b="0" i="0" dirty="0">
                <a:solidFill>
                  <a:srgbClr val="002060"/>
                </a:solidFill>
                <a:latin typeface="Calibri"/>
              </a:rPr>
              <a:t>Classifies &amp; routes MCP calls</a:t>
            </a:r>
          </a:p>
        </p:txBody>
      </p:sp>
      <p:sp>
        <p:nvSpPr>
          <p:cNvPr id="39" name="Rounded Rectangle 38">
            <a:extLst>
              <a:ext uri="{FF2B5EF4-FFF2-40B4-BE49-F238E27FC236}">
                <a16:creationId xmlns:a16="http://schemas.microsoft.com/office/drawing/2014/main" id="{68D57D3D-4381-416E-8DE2-EF814B5DB012}"/>
              </a:ext>
            </a:extLst>
          </p:cNvPr>
          <p:cNvSpPr/>
          <p:nvPr/>
        </p:nvSpPr>
        <p:spPr>
          <a:xfrm>
            <a:off x="3447288" y="2724912"/>
            <a:ext cx="2578608" cy="512064"/>
          </a:xfrm>
          <a:prstGeom prst="roundRect">
            <a:avLst>
              <a:gd name="adj" fmla="val 12000"/>
            </a:avLst>
          </a:prstGeom>
          <a:solidFill>
            <a:srgbClr val="D9CFEB"/>
          </a:solidFill>
          <a:ln w="19050">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FBA20612-D7A3-887F-A075-9DC6E585905D}"/>
              </a:ext>
            </a:extLst>
          </p:cNvPr>
          <p:cNvSpPr txBox="1"/>
          <p:nvPr/>
        </p:nvSpPr>
        <p:spPr>
          <a:xfrm>
            <a:off x="3538728" y="2788920"/>
            <a:ext cx="2395728" cy="161583"/>
          </a:xfrm>
          <a:prstGeom prst="rect">
            <a:avLst/>
          </a:prstGeom>
          <a:noFill/>
        </p:spPr>
        <p:txBody>
          <a:bodyPr wrap="square" lIns="0" tIns="0" rIns="0" bIns="0" anchor="t">
            <a:spAutoFit/>
          </a:bodyPr>
          <a:lstStyle/>
          <a:p>
            <a:r>
              <a:rPr sz="1050" b="1" dirty="0">
                <a:solidFill>
                  <a:srgbClr val="002060"/>
                </a:solidFill>
                <a:latin typeface="Calibri"/>
              </a:rPr>
              <a:t>Agent Orchestrator</a:t>
            </a:r>
          </a:p>
        </p:txBody>
      </p:sp>
      <p:sp>
        <p:nvSpPr>
          <p:cNvPr id="41" name="TextBox 40">
            <a:extLst>
              <a:ext uri="{FF2B5EF4-FFF2-40B4-BE49-F238E27FC236}">
                <a16:creationId xmlns:a16="http://schemas.microsoft.com/office/drawing/2014/main" id="{0C7A6C94-1A33-26B6-E55F-F3410DCFF7D0}"/>
              </a:ext>
            </a:extLst>
          </p:cNvPr>
          <p:cNvSpPr txBox="1"/>
          <p:nvPr/>
        </p:nvSpPr>
        <p:spPr>
          <a:xfrm>
            <a:off x="3538728" y="2999232"/>
            <a:ext cx="2395728" cy="124008"/>
          </a:xfrm>
          <a:prstGeom prst="rect">
            <a:avLst/>
          </a:prstGeom>
          <a:noFill/>
        </p:spPr>
        <p:txBody>
          <a:bodyPr wrap="square" lIns="0" tIns="0" rIns="0" bIns="0" anchor="t">
            <a:spAutoFit/>
          </a:bodyPr>
          <a:lstStyle/>
          <a:p>
            <a:pPr algn="l">
              <a:lnSpc>
                <a:spcPct val="105000"/>
              </a:lnSpc>
            </a:pPr>
            <a:r>
              <a:rPr sz="800" b="0" i="0" dirty="0">
                <a:solidFill>
                  <a:srgbClr val="002060"/>
                </a:solidFill>
                <a:latin typeface="Calibri"/>
              </a:rPr>
              <a:t>Selects tools, composes plan</a:t>
            </a:r>
          </a:p>
        </p:txBody>
      </p:sp>
      <p:sp>
        <p:nvSpPr>
          <p:cNvPr id="42" name="Rounded Rectangle 41">
            <a:extLst>
              <a:ext uri="{FF2B5EF4-FFF2-40B4-BE49-F238E27FC236}">
                <a16:creationId xmlns:a16="http://schemas.microsoft.com/office/drawing/2014/main" id="{DC40DF16-6BFB-C162-D4EF-9FD1CFD72335}"/>
              </a:ext>
            </a:extLst>
          </p:cNvPr>
          <p:cNvSpPr/>
          <p:nvPr/>
        </p:nvSpPr>
        <p:spPr>
          <a:xfrm>
            <a:off x="6163056" y="2724912"/>
            <a:ext cx="2578608" cy="512064"/>
          </a:xfrm>
          <a:prstGeom prst="roundRect">
            <a:avLst>
              <a:gd name="adj" fmla="val 12000"/>
            </a:avLst>
          </a:prstGeom>
          <a:solidFill>
            <a:srgbClr val="D9CFEB"/>
          </a:solidFill>
          <a:ln w="19050">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3406FC08-3452-28BF-74C2-7324D2068BD1}"/>
              </a:ext>
            </a:extLst>
          </p:cNvPr>
          <p:cNvSpPr txBox="1"/>
          <p:nvPr/>
        </p:nvSpPr>
        <p:spPr>
          <a:xfrm>
            <a:off x="6254496" y="2788920"/>
            <a:ext cx="2395728" cy="161583"/>
          </a:xfrm>
          <a:prstGeom prst="rect">
            <a:avLst/>
          </a:prstGeom>
          <a:noFill/>
        </p:spPr>
        <p:txBody>
          <a:bodyPr wrap="square" lIns="0" tIns="0" rIns="0" bIns="0" anchor="t">
            <a:spAutoFit/>
          </a:bodyPr>
          <a:lstStyle/>
          <a:p>
            <a:r>
              <a:rPr sz="1050" b="1" dirty="0">
                <a:solidFill>
                  <a:srgbClr val="002060"/>
                </a:solidFill>
                <a:latin typeface="Calibri"/>
              </a:rPr>
              <a:t>Response Synthesizer</a:t>
            </a:r>
          </a:p>
        </p:txBody>
      </p:sp>
      <p:sp>
        <p:nvSpPr>
          <p:cNvPr id="44" name="TextBox 43">
            <a:extLst>
              <a:ext uri="{FF2B5EF4-FFF2-40B4-BE49-F238E27FC236}">
                <a16:creationId xmlns:a16="http://schemas.microsoft.com/office/drawing/2014/main" id="{F6BD8154-4135-09AA-629E-78D0D068733F}"/>
              </a:ext>
            </a:extLst>
          </p:cNvPr>
          <p:cNvSpPr txBox="1"/>
          <p:nvPr/>
        </p:nvSpPr>
        <p:spPr>
          <a:xfrm>
            <a:off x="6254496" y="2999232"/>
            <a:ext cx="2395728" cy="124008"/>
          </a:xfrm>
          <a:prstGeom prst="rect">
            <a:avLst/>
          </a:prstGeom>
          <a:noFill/>
        </p:spPr>
        <p:txBody>
          <a:bodyPr wrap="square" lIns="0" tIns="0" rIns="0" bIns="0" anchor="t">
            <a:spAutoFit/>
          </a:bodyPr>
          <a:lstStyle/>
          <a:p>
            <a:pPr algn="l">
              <a:lnSpc>
                <a:spcPct val="105000"/>
              </a:lnSpc>
            </a:pPr>
            <a:r>
              <a:rPr sz="800" b="0" i="0" dirty="0">
                <a:solidFill>
                  <a:srgbClr val="002060"/>
                </a:solidFill>
                <a:latin typeface="Calibri"/>
              </a:rPr>
              <a:t>Governed, narrated answer</a:t>
            </a:r>
          </a:p>
        </p:txBody>
      </p:sp>
      <p:sp>
        <p:nvSpPr>
          <p:cNvPr id="45" name="Rounded Rectangle 44">
            <a:extLst>
              <a:ext uri="{FF2B5EF4-FFF2-40B4-BE49-F238E27FC236}">
                <a16:creationId xmlns:a16="http://schemas.microsoft.com/office/drawing/2014/main" id="{360D8458-1234-82A4-6A63-27A193AC89E6}"/>
              </a:ext>
            </a:extLst>
          </p:cNvPr>
          <p:cNvSpPr/>
          <p:nvPr/>
        </p:nvSpPr>
        <p:spPr>
          <a:xfrm>
            <a:off x="8878824" y="2724912"/>
            <a:ext cx="2578608" cy="512064"/>
          </a:xfrm>
          <a:prstGeom prst="roundRect">
            <a:avLst>
              <a:gd name="adj" fmla="val 12000"/>
            </a:avLst>
          </a:prstGeom>
          <a:solidFill>
            <a:srgbClr val="D9CFEB"/>
          </a:solidFill>
          <a:ln w="19050">
            <a:solidFill>
              <a:srgbClr val="FDB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1307790A-ED00-F0C5-64DD-ADD9FA20F3A7}"/>
              </a:ext>
            </a:extLst>
          </p:cNvPr>
          <p:cNvSpPr txBox="1"/>
          <p:nvPr/>
        </p:nvSpPr>
        <p:spPr>
          <a:xfrm>
            <a:off x="8970264" y="2788920"/>
            <a:ext cx="2395728" cy="161583"/>
          </a:xfrm>
          <a:prstGeom prst="rect">
            <a:avLst/>
          </a:prstGeom>
          <a:noFill/>
        </p:spPr>
        <p:txBody>
          <a:bodyPr wrap="square" lIns="0" tIns="0" rIns="0" bIns="0" anchor="t">
            <a:spAutoFit/>
          </a:bodyPr>
          <a:lstStyle/>
          <a:p>
            <a:r>
              <a:rPr sz="1050" b="1" dirty="0">
                <a:solidFill>
                  <a:srgbClr val="002060"/>
                </a:solidFill>
                <a:latin typeface="Calibri"/>
              </a:rPr>
              <a:t>Guardrails &amp; RLS</a:t>
            </a:r>
          </a:p>
        </p:txBody>
      </p:sp>
      <p:sp>
        <p:nvSpPr>
          <p:cNvPr id="47" name="TextBox 46">
            <a:extLst>
              <a:ext uri="{FF2B5EF4-FFF2-40B4-BE49-F238E27FC236}">
                <a16:creationId xmlns:a16="http://schemas.microsoft.com/office/drawing/2014/main" id="{1848D281-0500-D447-6CF3-511AC27CE9E2}"/>
              </a:ext>
            </a:extLst>
          </p:cNvPr>
          <p:cNvSpPr txBox="1"/>
          <p:nvPr/>
        </p:nvSpPr>
        <p:spPr>
          <a:xfrm>
            <a:off x="8970264" y="2999232"/>
            <a:ext cx="2395728" cy="124008"/>
          </a:xfrm>
          <a:prstGeom prst="rect">
            <a:avLst/>
          </a:prstGeom>
          <a:noFill/>
        </p:spPr>
        <p:txBody>
          <a:bodyPr wrap="square" lIns="0" tIns="0" rIns="0" bIns="0" anchor="t">
            <a:spAutoFit/>
          </a:bodyPr>
          <a:lstStyle/>
          <a:p>
            <a:pPr algn="l">
              <a:lnSpc>
                <a:spcPct val="105000"/>
              </a:lnSpc>
            </a:pPr>
            <a:r>
              <a:rPr sz="800" b="0" i="0" dirty="0">
                <a:solidFill>
                  <a:srgbClr val="002060"/>
                </a:solidFill>
                <a:latin typeface="Calibri"/>
              </a:rPr>
              <a:t>PHI/PII + RBAC enforcement</a:t>
            </a:r>
          </a:p>
        </p:txBody>
      </p:sp>
      <p:cxnSp>
        <p:nvCxnSpPr>
          <p:cNvPr id="48" name="Connector 27">
            <a:extLst>
              <a:ext uri="{FF2B5EF4-FFF2-40B4-BE49-F238E27FC236}">
                <a16:creationId xmlns:a16="http://schemas.microsoft.com/office/drawing/2014/main" id="{BDB38AE1-6BD7-9534-FB2E-A88843F0009E}"/>
              </a:ext>
            </a:extLst>
          </p:cNvPr>
          <p:cNvCxnSpPr/>
          <p:nvPr/>
        </p:nvCxnSpPr>
        <p:spPr>
          <a:xfrm>
            <a:off x="3945636" y="3282696"/>
            <a:ext cx="0" cy="137160"/>
          </a:xfrm>
          <a:prstGeom prst="line">
            <a:avLst/>
          </a:prstGeom>
          <a:ln w="25400">
            <a:solidFill>
              <a:srgbClr val="3B82F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B28C61B1-C0DF-09A1-E70D-1B4F68433D8F}"/>
              </a:ext>
            </a:extLst>
          </p:cNvPr>
          <p:cNvSpPr txBox="1"/>
          <p:nvPr/>
        </p:nvSpPr>
        <p:spPr>
          <a:xfrm>
            <a:off x="4073652" y="3273552"/>
            <a:ext cx="1188720" cy="146304"/>
          </a:xfrm>
          <a:prstGeom prst="rect">
            <a:avLst/>
          </a:prstGeom>
          <a:noFill/>
        </p:spPr>
        <p:txBody>
          <a:bodyPr wrap="square" lIns="0" tIns="0" rIns="0" bIns="0" anchor="t">
            <a:spAutoFit/>
          </a:bodyPr>
          <a:lstStyle/>
          <a:p>
            <a:pPr algn="l"/>
            <a:r>
              <a:rPr sz="850" b="1" i="1">
                <a:solidFill>
                  <a:srgbClr val="3B82F6"/>
                </a:solidFill>
                <a:latin typeface="Calibri"/>
              </a:rPr>
              <a:t>routes to</a:t>
            </a:r>
          </a:p>
        </p:txBody>
      </p:sp>
      <p:cxnSp>
        <p:nvCxnSpPr>
          <p:cNvPr id="50" name="Connector 29">
            <a:extLst>
              <a:ext uri="{FF2B5EF4-FFF2-40B4-BE49-F238E27FC236}">
                <a16:creationId xmlns:a16="http://schemas.microsoft.com/office/drawing/2014/main" id="{4608554C-0925-1E62-1FDF-D587C932B05C}"/>
              </a:ext>
            </a:extLst>
          </p:cNvPr>
          <p:cNvCxnSpPr/>
          <p:nvPr/>
        </p:nvCxnSpPr>
        <p:spPr>
          <a:xfrm>
            <a:off x="9445752" y="3282696"/>
            <a:ext cx="0" cy="137160"/>
          </a:xfrm>
          <a:prstGeom prst="line">
            <a:avLst/>
          </a:prstGeom>
          <a:ln w="25400">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9CE4035-4395-9564-F79B-24BC59030DA2}"/>
              </a:ext>
            </a:extLst>
          </p:cNvPr>
          <p:cNvSpPr txBox="1"/>
          <p:nvPr/>
        </p:nvSpPr>
        <p:spPr>
          <a:xfrm>
            <a:off x="9573768" y="3273552"/>
            <a:ext cx="1188720" cy="146304"/>
          </a:xfrm>
          <a:prstGeom prst="rect">
            <a:avLst/>
          </a:prstGeom>
          <a:noFill/>
        </p:spPr>
        <p:txBody>
          <a:bodyPr wrap="square" lIns="0" tIns="0" rIns="0" bIns="0" anchor="t">
            <a:spAutoFit/>
          </a:bodyPr>
          <a:lstStyle/>
          <a:p>
            <a:pPr algn="l"/>
            <a:r>
              <a:rPr sz="850" b="1" i="1">
                <a:solidFill>
                  <a:srgbClr val="34D399"/>
                </a:solidFill>
                <a:latin typeface="Calibri"/>
              </a:rPr>
              <a:t>routes to</a:t>
            </a:r>
          </a:p>
        </p:txBody>
      </p:sp>
      <p:sp>
        <p:nvSpPr>
          <p:cNvPr id="52" name="Rounded Rectangle 51">
            <a:extLst>
              <a:ext uri="{FF2B5EF4-FFF2-40B4-BE49-F238E27FC236}">
                <a16:creationId xmlns:a16="http://schemas.microsoft.com/office/drawing/2014/main" id="{EF19F942-26F4-E181-E407-4057E20C47A0}"/>
              </a:ext>
            </a:extLst>
          </p:cNvPr>
          <p:cNvSpPr/>
          <p:nvPr/>
        </p:nvSpPr>
        <p:spPr>
          <a:xfrm>
            <a:off x="731520" y="3419856"/>
            <a:ext cx="6428232" cy="329184"/>
          </a:xfrm>
          <a:prstGeom prst="roundRect">
            <a:avLst>
              <a:gd name="adj" fmla="val 28000"/>
            </a:avLst>
          </a:prstGeom>
          <a:gradFill rotWithShape="1">
            <a:gsLst>
              <a:gs pos="0">
                <a:srgbClr val="3B82F6"/>
              </a:gs>
              <a:gs pos="100000">
                <a:srgbClr val="1D4ED8"/>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C61ED40E-7CB5-07C6-69F9-8DEFC5BF6EFE}"/>
              </a:ext>
            </a:extLst>
          </p:cNvPr>
          <p:cNvSpPr txBox="1"/>
          <p:nvPr/>
        </p:nvSpPr>
        <p:spPr>
          <a:xfrm>
            <a:off x="914400" y="3419856"/>
            <a:ext cx="6062472" cy="329184"/>
          </a:xfrm>
          <a:prstGeom prst="rect">
            <a:avLst/>
          </a:prstGeom>
          <a:noFill/>
        </p:spPr>
        <p:txBody>
          <a:bodyPr wrap="square" lIns="0" tIns="0" rIns="0" bIns="0" anchor="ctr">
            <a:spAutoFit/>
          </a:bodyPr>
          <a:lstStyle/>
          <a:p>
            <a:pPr algn="l"/>
            <a:r>
              <a:rPr sz="1150" b="1" i="0">
                <a:solidFill>
                  <a:srgbClr val="FFFFFF"/>
                </a:solidFill>
                <a:latin typeface="Cambria"/>
              </a:rPr>
              <a:t>CLINICAL DATA PRODUCT AGENTS</a:t>
            </a:r>
          </a:p>
        </p:txBody>
      </p:sp>
      <p:sp>
        <p:nvSpPr>
          <p:cNvPr id="54" name="TextBox 53">
            <a:extLst>
              <a:ext uri="{FF2B5EF4-FFF2-40B4-BE49-F238E27FC236}">
                <a16:creationId xmlns:a16="http://schemas.microsoft.com/office/drawing/2014/main" id="{3C01BDF0-A2E8-2D65-0E96-AC3E021DD71C}"/>
              </a:ext>
            </a:extLst>
          </p:cNvPr>
          <p:cNvSpPr txBox="1"/>
          <p:nvPr/>
        </p:nvSpPr>
        <p:spPr>
          <a:xfrm>
            <a:off x="914400" y="3776472"/>
            <a:ext cx="6062472" cy="130805"/>
          </a:xfrm>
          <a:prstGeom prst="rect">
            <a:avLst/>
          </a:prstGeom>
          <a:noFill/>
        </p:spPr>
        <p:txBody>
          <a:bodyPr wrap="square" lIns="0" tIns="0" rIns="0" bIns="0" anchor="t">
            <a:spAutoFit/>
          </a:bodyPr>
          <a:lstStyle/>
          <a:p>
            <a:pPr algn="l"/>
            <a:r>
              <a:rPr sz="850" i="1" dirty="0">
                <a:solidFill>
                  <a:srgbClr val="002060"/>
                </a:solidFill>
                <a:latin typeface="Calibri"/>
              </a:rPr>
              <a:t>Cortex Analyst + Semantic Model + Cortex Search, per product</a:t>
            </a:r>
          </a:p>
        </p:txBody>
      </p:sp>
      <p:sp>
        <p:nvSpPr>
          <p:cNvPr id="55" name="Rounded Rectangle 54">
            <a:extLst>
              <a:ext uri="{FF2B5EF4-FFF2-40B4-BE49-F238E27FC236}">
                <a16:creationId xmlns:a16="http://schemas.microsoft.com/office/drawing/2014/main" id="{24C1C8CA-9136-132E-3641-C040BC048234}"/>
              </a:ext>
            </a:extLst>
          </p:cNvPr>
          <p:cNvSpPr/>
          <p:nvPr/>
        </p:nvSpPr>
        <p:spPr>
          <a:xfrm>
            <a:off x="7434072" y="3419856"/>
            <a:ext cx="4023360" cy="329184"/>
          </a:xfrm>
          <a:prstGeom prst="roundRect">
            <a:avLst>
              <a:gd name="adj" fmla="val 28000"/>
            </a:avLst>
          </a:prstGeom>
          <a:gradFill rotWithShape="1">
            <a:gsLst>
              <a:gs pos="0">
                <a:srgbClr val="34D399"/>
              </a:gs>
              <a:gs pos="100000">
                <a:srgbClr val="059669"/>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BEC3E31E-10AD-8FEF-D79F-AD7121E59238}"/>
              </a:ext>
            </a:extLst>
          </p:cNvPr>
          <p:cNvSpPr txBox="1"/>
          <p:nvPr/>
        </p:nvSpPr>
        <p:spPr>
          <a:xfrm>
            <a:off x="7616952" y="3419856"/>
            <a:ext cx="3657600" cy="329184"/>
          </a:xfrm>
          <a:prstGeom prst="rect">
            <a:avLst/>
          </a:prstGeom>
          <a:noFill/>
        </p:spPr>
        <p:txBody>
          <a:bodyPr wrap="square" lIns="0" tIns="0" rIns="0" bIns="0" anchor="ctr">
            <a:spAutoFit/>
          </a:bodyPr>
          <a:lstStyle/>
          <a:p>
            <a:pPr algn="l"/>
            <a:r>
              <a:rPr sz="1150" b="1" i="0">
                <a:solidFill>
                  <a:srgbClr val="FFFFFF"/>
                </a:solidFill>
                <a:latin typeface="Cambria"/>
              </a:rPr>
              <a:t>INTERNAL AGENTS</a:t>
            </a:r>
          </a:p>
        </p:txBody>
      </p:sp>
      <p:sp>
        <p:nvSpPr>
          <p:cNvPr id="57" name="TextBox 56">
            <a:extLst>
              <a:ext uri="{FF2B5EF4-FFF2-40B4-BE49-F238E27FC236}">
                <a16:creationId xmlns:a16="http://schemas.microsoft.com/office/drawing/2014/main" id="{400670F0-B7BB-909D-9E4C-4A9DB23D2D31}"/>
              </a:ext>
            </a:extLst>
          </p:cNvPr>
          <p:cNvSpPr txBox="1"/>
          <p:nvPr/>
        </p:nvSpPr>
        <p:spPr>
          <a:xfrm>
            <a:off x="7616952" y="3776472"/>
            <a:ext cx="3657600" cy="130805"/>
          </a:xfrm>
          <a:prstGeom prst="rect">
            <a:avLst/>
          </a:prstGeom>
          <a:noFill/>
        </p:spPr>
        <p:txBody>
          <a:bodyPr wrap="square" lIns="0" tIns="0" rIns="0" bIns="0" anchor="t">
            <a:spAutoFit/>
          </a:bodyPr>
          <a:lstStyle/>
          <a:p>
            <a:pPr algn="l"/>
            <a:r>
              <a:rPr sz="850" b="0" i="1" dirty="0">
                <a:solidFill>
                  <a:srgbClr val="002060"/>
                </a:solidFill>
                <a:latin typeface="Calibri"/>
              </a:rPr>
              <a:t>Cross-layer platform operations</a:t>
            </a:r>
          </a:p>
        </p:txBody>
      </p:sp>
      <p:sp>
        <p:nvSpPr>
          <p:cNvPr id="58" name="Rounded Rectangle 57">
            <a:extLst>
              <a:ext uri="{FF2B5EF4-FFF2-40B4-BE49-F238E27FC236}">
                <a16:creationId xmlns:a16="http://schemas.microsoft.com/office/drawing/2014/main" id="{201E2EBD-6BD0-EF31-6C85-474723491E6E}"/>
              </a:ext>
            </a:extLst>
          </p:cNvPr>
          <p:cNvSpPr/>
          <p:nvPr/>
        </p:nvSpPr>
        <p:spPr>
          <a:xfrm>
            <a:off x="731520" y="3977640"/>
            <a:ext cx="1524762" cy="420624"/>
          </a:xfrm>
          <a:prstGeom prst="roundRect">
            <a:avLst>
              <a:gd name="adj" fmla="val 15000"/>
            </a:avLst>
          </a:prstGeom>
          <a:solidFill>
            <a:srgbClr val="C4DFF6"/>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404C036F-6983-2B65-A3AD-6091CF4EAA97}"/>
              </a:ext>
            </a:extLst>
          </p:cNvPr>
          <p:cNvSpPr txBox="1"/>
          <p:nvPr/>
        </p:nvSpPr>
        <p:spPr>
          <a:xfrm>
            <a:off x="731520" y="4118702"/>
            <a:ext cx="1524762" cy="138499"/>
          </a:xfrm>
          <a:prstGeom prst="rect">
            <a:avLst/>
          </a:prstGeom>
          <a:noFill/>
        </p:spPr>
        <p:txBody>
          <a:bodyPr wrap="square" lIns="0" tIns="0" rIns="0" bIns="0" anchor="ctr">
            <a:spAutoFit/>
          </a:bodyPr>
          <a:lstStyle/>
          <a:p>
            <a:pPr algn="ctr"/>
            <a:r>
              <a:rPr sz="900" b="1" i="0" dirty="0">
                <a:solidFill>
                  <a:srgbClr val="002060"/>
                </a:solidFill>
                <a:latin typeface="Calibri"/>
              </a:rPr>
              <a:t>Visits Agent</a:t>
            </a:r>
          </a:p>
        </p:txBody>
      </p:sp>
      <p:sp>
        <p:nvSpPr>
          <p:cNvPr id="60" name="Rounded Rectangle 59">
            <a:extLst>
              <a:ext uri="{FF2B5EF4-FFF2-40B4-BE49-F238E27FC236}">
                <a16:creationId xmlns:a16="http://schemas.microsoft.com/office/drawing/2014/main" id="{F257534F-E741-B702-A62B-AFEA518B14D1}"/>
              </a:ext>
            </a:extLst>
          </p:cNvPr>
          <p:cNvSpPr/>
          <p:nvPr/>
        </p:nvSpPr>
        <p:spPr>
          <a:xfrm>
            <a:off x="2366010" y="3977640"/>
            <a:ext cx="1524762" cy="420624"/>
          </a:xfrm>
          <a:prstGeom prst="roundRect">
            <a:avLst>
              <a:gd name="adj" fmla="val 15000"/>
            </a:avLst>
          </a:prstGeom>
          <a:solidFill>
            <a:srgbClr val="C4DFF6"/>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D9F4BBE8-1377-E4A6-BB24-473B2E3BC386}"/>
              </a:ext>
            </a:extLst>
          </p:cNvPr>
          <p:cNvSpPr txBox="1"/>
          <p:nvPr/>
        </p:nvSpPr>
        <p:spPr>
          <a:xfrm>
            <a:off x="2366010" y="4118702"/>
            <a:ext cx="1524762" cy="138499"/>
          </a:xfrm>
          <a:prstGeom prst="rect">
            <a:avLst/>
          </a:prstGeom>
          <a:noFill/>
        </p:spPr>
        <p:txBody>
          <a:bodyPr wrap="square" lIns="0" tIns="0" rIns="0" bIns="0" anchor="ctr">
            <a:spAutoFit/>
          </a:bodyPr>
          <a:lstStyle/>
          <a:p>
            <a:pPr algn="ctr"/>
            <a:r>
              <a:rPr sz="900" b="1" dirty="0">
                <a:solidFill>
                  <a:srgbClr val="002060"/>
                </a:solidFill>
                <a:latin typeface="Calibri"/>
              </a:rPr>
              <a:t>Diagnoses Agent</a:t>
            </a:r>
          </a:p>
        </p:txBody>
      </p:sp>
      <p:sp>
        <p:nvSpPr>
          <p:cNvPr id="62" name="Rounded Rectangle 61">
            <a:extLst>
              <a:ext uri="{FF2B5EF4-FFF2-40B4-BE49-F238E27FC236}">
                <a16:creationId xmlns:a16="http://schemas.microsoft.com/office/drawing/2014/main" id="{FF7DF75C-0C29-8980-F44A-9F69B4C0B0ED}"/>
              </a:ext>
            </a:extLst>
          </p:cNvPr>
          <p:cNvSpPr/>
          <p:nvPr/>
        </p:nvSpPr>
        <p:spPr>
          <a:xfrm>
            <a:off x="4000500" y="3977640"/>
            <a:ext cx="1524762" cy="420624"/>
          </a:xfrm>
          <a:prstGeom prst="roundRect">
            <a:avLst>
              <a:gd name="adj" fmla="val 15000"/>
            </a:avLst>
          </a:prstGeom>
          <a:solidFill>
            <a:srgbClr val="C4DFF6"/>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35752FA2-FECF-93DE-4580-ABB3831236F4}"/>
              </a:ext>
            </a:extLst>
          </p:cNvPr>
          <p:cNvSpPr txBox="1"/>
          <p:nvPr/>
        </p:nvSpPr>
        <p:spPr>
          <a:xfrm>
            <a:off x="4000500" y="4118702"/>
            <a:ext cx="1524762" cy="138499"/>
          </a:xfrm>
          <a:prstGeom prst="rect">
            <a:avLst/>
          </a:prstGeom>
          <a:noFill/>
        </p:spPr>
        <p:txBody>
          <a:bodyPr wrap="square" lIns="0" tIns="0" rIns="0" bIns="0" anchor="ctr">
            <a:spAutoFit/>
          </a:bodyPr>
          <a:lstStyle/>
          <a:p>
            <a:pPr algn="ctr"/>
            <a:r>
              <a:rPr sz="900" b="1" dirty="0">
                <a:solidFill>
                  <a:srgbClr val="002060"/>
                </a:solidFill>
                <a:latin typeface="Calibri"/>
              </a:rPr>
              <a:t>Medications Agent</a:t>
            </a:r>
          </a:p>
        </p:txBody>
      </p:sp>
      <p:sp>
        <p:nvSpPr>
          <p:cNvPr id="64" name="Rounded Rectangle 63">
            <a:extLst>
              <a:ext uri="{FF2B5EF4-FFF2-40B4-BE49-F238E27FC236}">
                <a16:creationId xmlns:a16="http://schemas.microsoft.com/office/drawing/2014/main" id="{111B3419-EE55-DC2E-C9E0-5E6910E6D971}"/>
              </a:ext>
            </a:extLst>
          </p:cNvPr>
          <p:cNvSpPr/>
          <p:nvPr/>
        </p:nvSpPr>
        <p:spPr>
          <a:xfrm>
            <a:off x="5634990" y="3977640"/>
            <a:ext cx="1524762" cy="420624"/>
          </a:xfrm>
          <a:prstGeom prst="roundRect">
            <a:avLst>
              <a:gd name="adj" fmla="val 15000"/>
            </a:avLst>
          </a:prstGeom>
          <a:solidFill>
            <a:srgbClr val="C4DFF6"/>
          </a:solid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21D9B0A1-5618-96E3-DAC2-EA61249C6D32}"/>
              </a:ext>
            </a:extLst>
          </p:cNvPr>
          <p:cNvSpPr txBox="1"/>
          <p:nvPr/>
        </p:nvSpPr>
        <p:spPr>
          <a:xfrm>
            <a:off x="5634990" y="4118702"/>
            <a:ext cx="1524762" cy="138499"/>
          </a:xfrm>
          <a:prstGeom prst="rect">
            <a:avLst/>
          </a:prstGeom>
          <a:noFill/>
        </p:spPr>
        <p:txBody>
          <a:bodyPr wrap="square" lIns="0" tIns="0" rIns="0" bIns="0" anchor="ctr">
            <a:spAutoFit/>
          </a:bodyPr>
          <a:lstStyle/>
          <a:p>
            <a:pPr algn="ctr"/>
            <a:r>
              <a:rPr sz="900" b="1" dirty="0">
                <a:solidFill>
                  <a:srgbClr val="002060"/>
                </a:solidFill>
                <a:latin typeface="Calibri"/>
              </a:rPr>
              <a:t>+ 13 more</a:t>
            </a:r>
          </a:p>
        </p:txBody>
      </p:sp>
      <p:sp>
        <p:nvSpPr>
          <p:cNvPr id="66" name="Rounded Rectangle 65">
            <a:extLst>
              <a:ext uri="{FF2B5EF4-FFF2-40B4-BE49-F238E27FC236}">
                <a16:creationId xmlns:a16="http://schemas.microsoft.com/office/drawing/2014/main" id="{8FD7D44A-2413-3D6D-3CBE-EC57C0D1C5E1}"/>
              </a:ext>
            </a:extLst>
          </p:cNvPr>
          <p:cNvSpPr/>
          <p:nvPr/>
        </p:nvSpPr>
        <p:spPr>
          <a:xfrm>
            <a:off x="7434072" y="3977640"/>
            <a:ext cx="1267968" cy="420624"/>
          </a:xfrm>
          <a:prstGeom prst="roundRect">
            <a:avLst>
              <a:gd name="adj" fmla="val 15000"/>
            </a:avLst>
          </a:prstGeom>
          <a:solidFill>
            <a:srgbClr val="AEE2D5"/>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4D174A89-9163-839E-EB60-F04B66C6AF43}"/>
              </a:ext>
            </a:extLst>
          </p:cNvPr>
          <p:cNvSpPr txBox="1"/>
          <p:nvPr/>
        </p:nvSpPr>
        <p:spPr>
          <a:xfrm>
            <a:off x="7434072" y="4118702"/>
            <a:ext cx="1267968" cy="138499"/>
          </a:xfrm>
          <a:prstGeom prst="rect">
            <a:avLst/>
          </a:prstGeom>
          <a:noFill/>
        </p:spPr>
        <p:txBody>
          <a:bodyPr wrap="square" lIns="0" tIns="0" rIns="0" bIns="0" anchor="ctr">
            <a:spAutoFit/>
          </a:bodyPr>
          <a:lstStyle/>
          <a:p>
            <a:pPr algn="ctr"/>
            <a:r>
              <a:rPr sz="900" b="1" dirty="0">
                <a:solidFill>
                  <a:srgbClr val="002060"/>
                </a:solidFill>
                <a:latin typeface="Calibri"/>
              </a:rPr>
              <a:t>Reconciliation</a:t>
            </a:r>
          </a:p>
        </p:txBody>
      </p:sp>
      <p:sp>
        <p:nvSpPr>
          <p:cNvPr id="68" name="Rounded Rectangle 67">
            <a:extLst>
              <a:ext uri="{FF2B5EF4-FFF2-40B4-BE49-F238E27FC236}">
                <a16:creationId xmlns:a16="http://schemas.microsoft.com/office/drawing/2014/main" id="{BBBA337A-7E88-920E-53EE-1417C660B1C3}"/>
              </a:ext>
            </a:extLst>
          </p:cNvPr>
          <p:cNvSpPr/>
          <p:nvPr/>
        </p:nvSpPr>
        <p:spPr>
          <a:xfrm>
            <a:off x="8811768" y="3977640"/>
            <a:ext cx="1267968" cy="420624"/>
          </a:xfrm>
          <a:prstGeom prst="roundRect">
            <a:avLst>
              <a:gd name="adj" fmla="val 15000"/>
            </a:avLst>
          </a:prstGeom>
          <a:solidFill>
            <a:srgbClr val="AEE2D5"/>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extLst>
              <a:ext uri="{FF2B5EF4-FFF2-40B4-BE49-F238E27FC236}">
                <a16:creationId xmlns:a16="http://schemas.microsoft.com/office/drawing/2014/main" id="{653AD94E-5C5E-47AA-53B4-74330E5C09C6}"/>
              </a:ext>
            </a:extLst>
          </p:cNvPr>
          <p:cNvSpPr txBox="1"/>
          <p:nvPr/>
        </p:nvSpPr>
        <p:spPr>
          <a:xfrm>
            <a:off x="8811768" y="4118702"/>
            <a:ext cx="1267968" cy="138499"/>
          </a:xfrm>
          <a:prstGeom prst="rect">
            <a:avLst/>
          </a:prstGeom>
          <a:noFill/>
        </p:spPr>
        <p:txBody>
          <a:bodyPr wrap="square" lIns="0" tIns="0" rIns="0" bIns="0" anchor="ctr">
            <a:spAutoFit/>
          </a:bodyPr>
          <a:lstStyle/>
          <a:p>
            <a:pPr algn="ctr"/>
            <a:r>
              <a:rPr sz="900" b="1" dirty="0">
                <a:solidFill>
                  <a:srgbClr val="002060"/>
                </a:solidFill>
                <a:latin typeface="Calibri"/>
              </a:rPr>
              <a:t>Pipeline Health</a:t>
            </a:r>
          </a:p>
        </p:txBody>
      </p:sp>
      <p:sp>
        <p:nvSpPr>
          <p:cNvPr id="70" name="Rounded Rectangle 69">
            <a:extLst>
              <a:ext uri="{FF2B5EF4-FFF2-40B4-BE49-F238E27FC236}">
                <a16:creationId xmlns:a16="http://schemas.microsoft.com/office/drawing/2014/main" id="{368E6819-AA9F-534F-FD03-582B2E23581F}"/>
              </a:ext>
            </a:extLst>
          </p:cNvPr>
          <p:cNvSpPr/>
          <p:nvPr/>
        </p:nvSpPr>
        <p:spPr>
          <a:xfrm>
            <a:off x="10189464" y="3977640"/>
            <a:ext cx="1267968" cy="420624"/>
          </a:xfrm>
          <a:prstGeom prst="roundRect">
            <a:avLst>
              <a:gd name="adj" fmla="val 15000"/>
            </a:avLst>
          </a:prstGeom>
          <a:solidFill>
            <a:srgbClr val="AEE2D5"/>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C6D1E98-129B-4A4C-47BC-317EC3890136}"/>
              </a:ext>
            </a:extLst>
          </p:cNvPr>
          <p:cNvSpPr txBox="1"/>
          <p:nvPr/>
        </p:nvSpPr>
        <p:spPr>
          <a:xfrm>
            <a:off x="10189464" y="4118702"/>
            <a:ext cx="1267968" cy="138499"/>
          </a:xfrm>
          <a:prstGeom prst="rect">
            <a:avLst/>
          </a:prstGeom>
          <a:noFill/>
        </p:spPr>
        <p:txBody>
          <a:bodyPr wrap="square" lIns="0" tIns="0" rIns="0" bIns="0" anchor="ctr">
            <a:spAutoFit/>
          </a:bodyPr>
          <a:lstStyle/>
          <a:p>
            <a:pPr algn="ctr"/>
            <a:r>
              <a:rPr sz="900" b="1" dirty="0">
                <a:solidFill>
                  <a:srgbClr val="002060"/>
                </a:solidFill>
                <a:latin typeface="Calibri"/>
              </a:rPr>
              <a:t>Data Quality</a:t>
            </a:r>
          </a:p>
        </p:txBody>
      </p:sp>
      <p:cxnSp>
        <p:nvCxnSpPr>
          <p:cNvPr id="72" name="Connector 51">
            <a:extLst>
              <a:ext uri="{FF2B5EF4-FFF2-40B4-BE49-F238E27FC236}">
                <a16:creationId xmlns:a16="http://schemas.microsoft.com/office/drawing/2014/main" id="{E4DAA169-3D5D-730B-9469-37420E5811BE}"/>
              </a:ext>
            </a:extLst>
          </p:cNvPr>
          <p:cNvCxnSpPr/>
          <p:nvPr/>
        </p:nvCxnSpPr>
        <p:spPr>
          <a:xfrm>
            <a:off x="3945636" y="4425696"/>
            <a:ext cx="0" cy="109728"/>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73" name="Connector 52">
            <a:extLst>
              <a:ext uri="{FF2B5EF4-FFF2-40B4-BE49-F238E27FC236}">
                <a16:creationId xmlns:a16="http://schemas.microsoft.com/office/drawing/2014/main" id="{A93856FC-260F-08FF-81DF-D311B8270013}"/>
              </a:ext>
            </a:extLst>
          </p:cNvPr>
          <p:cNvCxnSpPr/>
          <p:nvPr/>
        </p:nvCxnSpPr>
        <p:spPr>
          <a:xfrm>
            <a:off x="9445752" y="4425696"/>
            <a:ext cx="0" cy="109728"/>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EFDF6841-20B3-E0E1-4C99-85D3EBC6AB05}"/>
              </a:ext>
            </a:extLst>
          </p:cNvPr>
          <p:cNvSpPr txBox="1"/>
          <p:nvPr/>
        </p:nvSpPr>
        <p:spPr>
          <a:xfrm>
            <a:off x="548640" y="4572000"/>
            <a:ext cx="11091672" cy="184666"/>
          </a:xfrm>
          <a:prstGeom prst="rect">
            <a:avLst/>
          </a:prstGeom>
          <a:noFill/>
        </p:spPr>
        <p:txBody>
          <a:bodyPr wrap="square" lIns="0" tIns="0" rIns="0" bIns="0" anchor="t">
            <a:spAutoFit/>
          </a:bodyPr>
          <a:lstStyle/>
          <a:p>
            <a:pPr algn="ctr"/>
            <a:r>
              <a:rPr sz="1200" b="1" i="0" dirty="0">
                <a:solidFill>
                  <a:srgbClr val="002060"/>
                </a:solidFill>
                <a:latin typeface="Cambria"/>
              </a:rPr>
              <a:t>SEMANTIC MODEL LAYER  (YAML DEFINITIONS)</a:t>
            </a:r>
          </a:p>
        </p:txBody>
      </p:sp>
      <p:sp>
        <p:nvSpPr>
          <p:cNvPr id="75" name="TextBox 74">
            <a:extLst>
              <a:ext uri="{FF2B5EF4-FFF2-40B4-BE49-F238E27FC236}">
                <a16:creationId xmlns:a16="http://schemas.microsoft.com/office/drawing/2014/main" id="{AD5E7FEF-1E94-14B1-7516-9B978DF6EF54}"/>
              </a:ext>
            </a:extLst>
          </p:cNvPr>
          <p:cNvSpPr txBox="1"/>
          <p:nvPr/>
        </p:nvSpPr>
        <p:spPr>
          <a:xfrm>
            <a:off x="548640" y="4800600"/>
            <a:ext cx="11091672" cy="130805"/>
          </a:xfrm>
          <a:prstGeom prst="rect">
            <a:avLst/>
          </a:prstGeom>
          <a:noFill/>
        </p:spPr>
        <p:txBody>
          <a:bodyPr wrap="square" lIns="0" tIns="0" rIns="0" bIns="0" anchor="t">
            <a:spAutoFit/>
          </a:bodyPr>
          <a:lstStyle/>
          <a:p>
            <a:pPr algn="ctr"/>
            <a:r>
              <a:rPr sz="850" b="0" i="0" dirty="0" err="1">
                <a:solidFill>
                  <a:srgbClr val="002060"/>
                </a:solidFill>
                <a:latin typeface="Calibri"/>
              </a:rPr>
              <a:t>visits_semantic.yaml</a:t>
            </a:r>
            <a:r>
              <a:rPr sz="850" b="0" i="0" dirty="0">
                <a:solidFill>
                  <a:srgbClr val="002060"/>
                </a:solidFill>
                <a:latin typeface="Calibri"/>
              </a:rPr>
              <a:t>  ·  </a:t>
            </a:r>
            <a:r>
              <a:rPr sz="850" b="0" i="0" dirty="0" err="1">
                <a:solidFill>
                  <a:srgbClr val="002060"/>
                </a:solidFill>
                <a:latin typeface="Calibri"/>
              </a:rPr>
              <a:t>diagnoses_semantic.yaml</a:t>
            </a:r>
            <a:r>
              <a:rPr sz="850" b="0" i="0" dirty="0">
                <a:solidFill>
                  <a:srgbClr val="002060"/>
                </a:solidFill>
                <a:latin typeface="Calibri"/>
              </a:rPr>
              <a:t>  ·  </a:t>
            </a:r>
            <a:r>
              <a:rPr sz="850" b="0" i="0" dirty="0" err="1">
                <a:solidFill>
                  <a:srgbClr val="002060"/>
                </a:solidFill>
                <a:latin typeface="Calibri"/>
              </a:rPr>
              <a:t>medications_semantic.yaml</a:t>
            </a:r>
            <a:r>
              <a:rPr sz="850" b="0" i="0" dirty="0">
                <a:solidFill>
                  <a:srgbClr val="002060"/>
                </a:solidFill>
                <a:latin typeface="Calibri"/>
              </a:rPr>
              <a:t>  ·  ...</a:t>
            </a:r>
          </a:p>
        </p:txBody>
      </p:sp>
      <p:cxnSp>
        <p:nvCxnSpPr>
          <p:cNvPr id="76" name="Connector 55">
            <a:extLst>
              <a:ext uri="{FF2B5EF4-FFF2-40B4-BE49-F238E27FC236}">
                <a16:creationId xmlns:a16="http://schemas.microsoft.com/office/drawing/2014/main" id="{06A5D5F5-424B-8FA6-9528-322F8B0638ED}"/>
              </a:ext>
            </a:extLst>
          </p:cNvPr>
          <p:cNvCxnSpPr/>
          <p:nvPr/>
        </p:nvCxnSpPr>
        <p:spPr>
          <a:xfrm>
            <a:off x="6094476" y="4983480"/>
            <a:ext cx="0" cy="109728"/>
          </a:xfrm>
          <a:prstGeom prst="line">
            <a:avLst/>
          </a:prstGeom>
          <a:ln w="25400">
            <a:solidFill>
              <a:srgbClr val="3B82F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Rounded Rectangle 76">
            <a:extLst>
              <a:ext uri="{FF2B5EF4-FFF2-40B4-BE49-F238E27FC236}">
                <a16:creationId xmlns:a16="http://schemas.microsoft.com/office/drawing/2014/main" id="{C6D99EF1-B5E3-14F0-1A2C-47BE7B944372}"/>
              </a:ext>
            </a:extLst>
          </p:cNvPr>
          <p:cNvSpPr/>
          <p:nvPr/>
        </p:nvSpPr>
        <p:spPr>
          <a:xfrm>
            <a:off x="731520" y="5129784"/>
            <a:ext cx="6428232" cy="566928"/>
          </a:xfrm>
          <a:prstGeom prst="roundRect">
            <a:avLst>
              <a:gd name="adj" fmla="val 10000"/>
            </a:avLst>
          </a:prstGeom>
          <a:solidFill>
            <a:srgbClr val="D9CFE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FB34F820-1B61-7A60-B737-CF4A76BDCF60}"/>
              </a:ext>
            </a:extLst>
          </p:cNvPr>
          <p:cNvSpPr txBox="1"/>
          <p:nvPr/>
        </p:nvSpPr>
        <p:spPr>
          <a:xfrm>
            <a:off x="932688" y="5202936"/>
            <a:ext cx="6025896" cy="161583"/>
          </a:xfrm>
          <a:prstGeom prst="rect">
            <a:avLst/>
          </a:prstGeom>
          <a:noFill/>
        </p:spPr>
        <p:txBody>
          <a:bodyPr wrap="square" lIns="0" tIns="0" rIns="0" bIns="0" anchor="t">
            <a:spAutoFit/>
          </a:bodyPr>
          <a:lstStyle/>
          <a:p>
            <a:pPr algn="l"/>
            <a:r>
              <a:rPr sz="1050" b="1" i="0" dirty="0">
                <a:latin typeface="Calibri"/>
              </a:rPr>
              <a:t>CLINICAL DATA PRODUCTS  (FHIR R4)</a:t>
            </a:r>
          </a:p>
        </p:txBody>
      </p:sp>
      <p:sp>
        <p:nvSpPr>
          <p:cNvPr id="79" name="TextBox 78">
            <a:extLst>
              <a:ext uri="{FF2B5EF4-FFF2-40B4-BE49-F238E27FC236}">
                <a16:creationId xmlns:a16="http://schemas.microsoft.com/office/drawing/2014/main" id="{FFEB19DF-A113-6CE0-F0EF-5F3E61546268}"/>
              </a:ext>
            </a:extLst>
          </p:cNvPr>
          <p:cNvSpPr txBox="1"/>
          <p:nvPr/>
        </p:nvSpPr>
        <p:spPr>
          <a:xfrm>
            <a:off x="932688" y="5440680"/>
            <a:ext cx="6025896" cy="131831"/>
          </a:xfrm>
          <a:prstGeom prst="rect">
            <a:avLst/>
          </a:prstGeom>
          <a:noFill/>
        </p:spPr>
        <p:txBody>
          <a:bodyPr wrap="square" lIns="0" tIns="0" rIns="0" bIns="0" anchor="t">
            <a:spAutoFit/>
          </a:bodyPr>
          <a:lstStyle/>
          <a:p>
            <a:pPr algn="l">
              <a:lnSpc>
                <a:spcPct val="105000"/>
              </a:lnSpc>
            </a:pPr>
            <a:r>
              <a:rPr sz="850" b="0" i="0" dirty="0" err="1">
                <a:solidFill>
                  <a:srgbClr val="002060"/>
                </a:solidFill>
                <a:latin typeface="Calibri"/>
              </a:rPr>
              <a:t>vw_visits</a:t>
            </a:r>
            <a:r>
              <a:rPr sz="850" b="0" i="0" dirty="0">
                <a:solidFill>
                  <a:srgbClr val="002060"/>
                </a:solidFill>
                <a:latin typeface="Calibri"/>
              </a:rPr>
              <a:t> · </a:t>
            </a:r>
            <a:r>
              <a:rPr sz="850" b="0" i="0" dirty="0" err="1">
                <a:solidFill>
                  <a:srgbClr val="002060"/>
                </a:solidFill>
                <a:latin typeface="Calibri"/>
              </a:rPr>
              <a:t>vw_diagnoses</a:t>
            </a:r>
            <a:r>
              <a:rPr sz="850" b="0" i="0" dirty="0">
                <a:solidFill>
                  <a:srgbClr val="002060"/>
                </a:solidFill>
                <a:latin typeface="Calibri"/>
              </a:rPr>
              <a:t> · </a:t>
            </a:r>
            <a:r>
              <a:rPr sz="850" b="0" i="0" dirty="0" err="1">
                <a:solidFill>
                  <a:srgbClr val="002060"/>
                </a:solidFill>
                <a:latin typeface="Calibri"/>
              </a:rPr>
              <a:t>vw_medications</a:t>
            </a:r>
            <a:r>
              <a:rPr sz="850" b="0" i="0" dirty="0">
                <a:solidFill>
                  <a:srgbClr val="002060"/>
                </a:solidFill>
                <a:latin typeface="Calibri"/>
              </a:rPr>
              <a:t> · </a:t>
            </a:r>
            <a:r>
              <a:rPr sz="850" b="0" i="0" dirty="0" err="1">
                <a:solidFill>
                  <a:srgbClr val="002060"/>
                </a:solidFill>
                <a:latin typeface="Calibri"/>
              </a:rPr>
              <a:t>vw_lab_results</a:t>
            </a:r>
            <a:r>
              <a:rPr sz="850" b="0" i="0" dirty="0">
                <a:solidFill>
                  <a:srgbClr val="002060"/>
                </a:solidFill>
                <a:latin typeface="Calibri"/>
              </a:rPr>
              <a:t> · ... (16 total)</a:t>
            </a:r>
          </a:p>
        </p:txBody>
      </p:sp>
      <p:sp>
        <p:nvSpPr>
          <p:cNvPr id="80" name="Rounded Rectangle 79">
            <a:extLst>
              <a:ext uri="{FF2B5EF4-FFF2-40B4-BE49-F238E27FC236}">
                <a16:creationId xmlns:a16="http://schemas.microsoft.com/office/drawing/2014/main" id="{27244A67-B690-6E7A-77A7-95E36B4A2B07}"/>
              </a:ext>
            </a:extLst>
          </p:cNvPr>
          <p:cNvSpPr/>
          <p:nvPr/>
        </p:nvSpPr>
        <p:spPr>
          <a:xfrm>
            <a:off x="7434072" y="5129784"/>
            <a:ext cx="4023360" cy="566928"/>
          </a:xfrm>
          <a:prstGeom prst="roundRect">
            <a:avLst>
              <a:gd name="adj" fmla="val 10000"/>
            </a:avLst>
          </a:prstGeom>
          <a:solidFill>
            <a:srgbClr val="D9CFEB"/>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04625802-5107-771A-E003-037A7A013C15}"/>
              </a:ext>
            </a:extLst>
          </p:cNvPr>
          <p:cNvSpPr txBox="1"/>
          <p:nvPr/>
        </p:nvSpPr>
        <p:spPr>
          <a:xfrm>
            <a:off x="7635240" y="5202936"/>
            <a:ext cx="3621024" cy="161583"/>
          </a:xfrm>
          <a:prstGeom prst="rect">
            <a:avLst/>
          </a:prstGeom>
          <a:noFill/>
        </p:spPr>
        <p:txBody>
          <a:bodyPr wrap="square" lIns="0" tIns="0" rIns="0" bIns="0" anchor="t">
            <a:spAutoFit/>
          </a:bodyPr>
          <a:lstStyle/>
          <a:p>
            <a:pPr algn="l"/>
            <a:r>
              <a:rPr sz="1050" b="1" i="0" dirty="0">
                <a:latin typeface="Calibri"/>
              </a:rPr>
              <a:t>INTERNAL DATA PRODUCTS</a:t>
            </a:r>
          </a:p>
        </p:txBody>
      </p:sp>
      <p:sp>
        <p:nvSpPr>
          <p:cNvPr id="82" name="TextBox 81">
            <a:extLst>
              <a:ext uri="{FF2B5EF4-FFF2-40B4-BE49-F238E27FC236}">
                <a16:creationId xmlns:a16="http://schemas.microsoft.com/office/drawing/2014/main" id="{79220956-C571-5478-65A0-50A06305F6E4}"/>
              </a:ext>
            </a:extLst>
          </p:cNvPr>
          <p:cNvSpPr txBox="1"/>
          <p:nvPr/>
        </p:nvSpPr>
        <p:spPr>
          <a:xfrm>
            <a:off x="7635240" y="5440680"/>
            <a:ext cx="3621024" cy="131831"/>
          </a:xfrm>
          <a:prstGeom prst="rect">
            <a:avLst/>
          </a:prstGeom>
          <a:noFill/>
        </p:spPr>
        <p:txBody>
          <a:bodyPr wrap="square" lIns="0" tIns="0" rIns="0" bIns="0" anchor="t">
            <a:spAutoFit/>
          </a:bodyPr>
          <a:lstStyle/>
          <a:p>
            <a:pPr algn="l">
              <a:lnSpc>
                <a:spcPct val="105000"/>
              </a:lnSpc>
            </a:pPr>
            <a:r>
              <a:rPr sz="850" b="0" i="0" dirty="0">
                <a:solidFill>
                  <a:srgbClr val="002060"/>
                </a:solidFill>
                <a:latin typeface="Calibri"/>
              </a:rPr>
              <a:t>pipeline metadata, audit logs, reconciliation</a:t>
            </a:r>
          </a:p>
        </p:txBody>
      </p:sp>
      <p:sp>
        <p:nvSpPr>
          <p:cNvPr id="83" name="TextBox 82">
            <a:extLst>
              <a:ext uri="{FF2B5EF4-FFF2-40B4-BE49-F238E27FC236}">
                <a16:creationId xmlns:a16="http://schemas.microsoft.com/office/drawing/2014/main" id="{517904BF-3CBB-7FDD-AEA2-74171A7CB4D1}"/>
              </a:ext>
            </a:extLst>
          </p:cNvPr>
          <p:cNvSpPr txBox="1"/>
          <p:nvPr/>
        </p:nvSpPr>
        <p:spPr>
          <a:xfrm>
            <a:off x="548640" y="6117336"/>
            <a:ext cx="11091672" cy="256032"/>
          </a:xfrm>
          <a:prstGeom prst="rect">
            <a:avLst/>
          </a:prstGeom>
          <a:noFill/>
        </p:spPr>
        <p:txBody>
          <a:bodyPr wrap="square" lIns="0" tIns="0" rIns="0" bIns="0" anchor="t">
            <a:spAutoFit/>
          </a:bodyPr>
          <a:lstStyle/>
          <a:p>
            <a:pPr algn="ctr"/>
            <a:r>
              <a:rPr sz="1000" b="0" i="1">
                <a:solidFill>
                  <a:srgbClr val="9AA6C0"/>
                </a:solidFill>
                <a:latin typeface="Calibri"/>
              </a:rPr>
              <a:t>Every layer inherits the RLS role + guardrails registered once, per product.</a:t>
            </a:r>
          </a:p>
        </p:txBody>
      </p:sp>
      <p:sp>
        <p:nvSpPr>
          <p:cNvPr id="85" name="Rounded Rectangle 84">
            <a:extLst>
              <a:ext uri="{FF2B5EF4-FFF2-40B4-BE49-F238E27FC236}">
                <a16:creationId xmlns:a16="http://schemas.microsoft.com/office/drawing/2014/main" id="{6390BCF3-C6D3-68E1-F60E-44898BA7F549}"/>
              </a:ext>
            </a:extLst>
          </p:cNvPr>
          <p:cNvSpPr/>
          <p:nvPr/>
        </p:nvSpPr>
        <p:spPr>
          <a:xfrm>
            <a:off x="2759965" y="1156155"/>
            <a:ext cx="3200400" cy="365760"/>
          </a:xfrm>
          <a:prstGeom prst="roundRect">
            <a:avLst>
              <a:gd name="adj" fmla="val 8000"/>
            </a:avLst>
          </a:prstGeom>
          <a:solidFill>
            <a:schemeClr val="bg1"/>
          </a:solidFill>
          <a:ln w="12700">
            <a:solidFill>
              <a:srgbClr val="1E82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rgbClr val="002060"/>
                </a:solidFill>
                <a:latin typeface="Calibri"/>
              </a:rPr>
              <a:t>Sage Agent Builder</a:t>
            </a:r>
          </a:p>
        </p:txBody>
      </p:sp>
    </p:spTree>
    <p:extLst>
      <p:ext uri="{BB962C8B-B14F-4D97-AF65-F5344CB8AC3E}">
        <p14:creationId xmlns:p14="http://schemas.microsoft.com/office/powerpoint/2010/main" val="235278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A6C0A-5B6A-117D-7AC7-534F7724DA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55B880-65CD-D591-77F9-4B97C01600D6}"/>
              </a:ext>
            </a:extLst>
          </p:cNvPr>
          <p:cNvSpPr>
            <a:spLocks noGrp="1"/>
          </p:cNvSpPr>
          <p:nvPr>
            <p:ph type="title"/>
          </p:nvPr>
        </p:nvSpPr>
        <p:spPr>
          <a:xfrm>
            <a:off x="457200" y="320000"/>
            <a:ext cx="11277600" cy="860000"/>
          </a:xfrm>
        </p:spPr>
        <p:txBody>
          <a:bodyPr lIns="0" tIns="0" rIns="0" bIns="0" anchor="b">
            <a:normAutofit/>
          </a:bodyPr>
          <a:lstStyle/>
          <a:p>
            <a:pPr algn="l"/>
            <a:r>
              <a:rPr lang="en-US" sz="3600" b="1" dirty="0">
                <a:solidFill>
                  <a:srgbClr val="002677"/>
                </a:solidFill>
              </a:rPr>
              <a:t>The Demo</a:t>
            </a:r>
            <a:endParaRPr lang="en-US" sz="3600" b="1" dirty="0">
              <a:solidFill>
                <a:srgbClr val="002677"/>
              </a:solidFill>
              <a:latin typeface="+mj-lt"/>
            </a:endParaRPr>
          </a:p>
        </p:txBody>
      </p:sp>
      <p:sp>
        <p:nvSpPr>
          <p:cNvPr id="10" name="Title Rule">
            <a:extLst>
              <a:ext uri="{FF2B5EF4-FFF2-40B4-BE49-F238E27FC236}">
                <a16:creationId xmlns:a16="http://schemas.microsoft.com/office/drawing/2014/main" id="{438EF020-5013-E01E-9FE3-49F74DB7544D}"/>
              </a:ext>
            </a:extLst>
          </p:cNvPr>
          <p:cNvSpPr/>
          <p:nvPr/>
        </p:nvSpPr>
        <p:spPr>
          <a:xfrm>
            <a:off x="457200" y="1270000"/>
            <a:ext cx="685800" cy="45720"/>
          </a:xfrm>
          <a:prstGeom prst="rect">
            <a:avLst/>
          </a:prstGeom>
          <a:solidFill>
            <a:srgbClr val="FF612B"/>
          </a:solidFill>
          <a:ln>
            <a:noFill/>
          </a:ln>
        </p:spPr>
        <p:txBody>
          <a:bodyPr/>
          <a:lstStyle/>
          <a:p>
            <a:endParaRPr lang="en-US"/>
          </a:p>
        </p:txBody>
      </p:sp>
      <p:sp>
        <p:nvSpPr>
          <p:cNvPr id="5" name="Rectangle 4">
            <a:extLst>
              <a:ext uri="{FF2B5EF4-FFF2-40B4-BE49-F238E27FC236}">
                <a16:creationId xmlns:a16="http://schemas.microsoft.com/office/drawing/2014/main" id="{0861E125-233D-6AEB-6372-B9CFCFCCD208}"/>
              </a:ext>
            </a:extLst>
          </p:cNvPr>
          <p:cNvSpPr/>
          <p:nvPr/>
        </p:nvSpPr>
        <p:spPr bwMode="gray">
          <a:xfrm>
            <a:off x="9699640" y="6342543"/>
            <a:ext cx="1812175" cy="296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dirty="0">
              <a:solidFill>
                <a:srgbClr val="FFFFFF"/>
              </a:solidFill>
            </a:endParaRPr>
          </a:p>
        </p:txBody>
      </p:sp>
      <p:sp>
        <p:nvSpPr>
          <p:cNvPr id="108" name="Rounded Rectangle 107">
            <a:extLst>
              <a:ext uri="{FF2B5EF4-FFF2-40B4-BE49-F238E27FC236}">
                <a16:creationId xmlns:a16="http://schemas.microsoft.com/office/drawing/2014/main" id="{A67AEB03-4B34-91FC-94E0-5E86AFE260BF}"/>
              </a:ext>
            </a:extLst>
          </p:cNvPr>
          <p:cNvSpPr/>
          <p:nvPr/>
        </p:nvSpPr>
        <p:spPr>
          <a:xfrm>
            <a:off x="457200" y="1405207"/>
            <a:ext cx="11091672" cy="640080"/>
          </a:xfrm>
          <a:prstGeom prst="roundRect">
            <a:avLst>
              <a:gd name="adj" fmla="val 8000"/>
            </a:avLst>
          </a:prstGeom>
          <a:noFill/>
          <a:ln w="158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a:extLst>
              <a:ext uri="{FF2B5EF4-FFF2-40B4-BE49-F238E27FC236}">
                <a16:creationId xmlns:a16="http://schemas.microsoft.com/office/drawing/2014/main" id="{F6B3FC12-170F-519A-1357-0F8CE2EF8778}"/>
              </a:ext>
            </a:extLst>
          </p:cNvPr>
          <p:cNvSpPr/>
          <p:nvPr/>
        </p:nvSpPr>
        <p:spPr>
          <a:xfrm>
            <a:off x="731519" y="1496647"/>
            <a:ext cx="457200" cy="457200"/>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extLst>
              <a:ext uri="{FF2B5EF4-FFF2-40B4-BE49-F238E27FC236}">
                <a16:creationId xmlns:a16="http://schemas.microsoft.com/office/drawing/2014/main" id="{5E273380-1425-4C34-6469-4DD39D2F5486}"/>
              </a:ext>
            </a:extLst>
          </p:cNvPr>
          <p:cNvSpPr txBox="1"/>
          <p:nvPr/>
        </p:nvSpPr>
        <p:spPr>
          <a:xfrm>
            <a:off x="731519" y="1496647"/>
            <a:ext cx="457200" cy="457200"/>
          </a:xfrm>
          <a:prstGeom prst="rect">
            <a:avLst/>
          </a:prstGeom>
          <a:solidFill>
            <a:srgbClr val="002060"/>
          </a:solidFill>
        </p:spPr>
        <p:txBody>
          <a:bodyPr wrap="square" lIns="0" tIns="0" rIns="0" bIns="0" anchor="ctr">
            <a:spAutoFit/>
          </a:bodyPr>
          <a:lstStyle/>
          <a:p>
            <a:pPr algn="ctr"/>
            <a:r>
              <a:rPr sz="1800" b="1" i="0" dirty="0">
                <a:solidFill>
                  <a:srgbClr val="60A5FA"/>
                </a:solidFill>
                <a:latin typeface="Calibri"/>
              </a:rPr>
              <a:t>?</a:t>
            </a:r>
          </a:p>
        </p:txBody>
      </p:sp>
      <p:sp>
        <p:nvSpPr>
          <p:cNvPr id="111" name="TextBox 110">
            <a:extLst>
              <a:ext uri="{FF2B5EF4-FFF2-40B4-BE49-F238E27FC236}">
                <a16:creationId xmlns:a16="http://schemas.microsoft.com/office/drawing/2014/main" id="{51FD6322-D4EB-797A-0523-DEECE37CCBC5}"/>
              </a:ext>
            </a:extLst>
          </p:cNvPr>
          <p:cNvSpPr txBox="1"/>
          <p:nvPr/>
        </p:nvSpPr>
        <p:spPr>
          <a:xfrm>
            <a:off x="1371600" y="1514935"/>
            <a:ext cx="9875520" cy="146194"/>
          </a:xfrm>
          <a:prstGeom prst="rect">
            <a:avLst/>
          </a:prstGeom>
          <a:noFill/>
        </p:spPr>
        <p:txBody>
          <a:bodyPr wrap="square" lIns="0" tIns="0" rIns="0" bIns="0" anchor="t">
            <a:spAutoFit/>
          </a:bodyPr>
          <a:lstStyle/>
          <a:p>
            <a:pPr algn="l"/>
            <a:r>
              <a:rPr sz="950" b="0" i="1" dirty="0">
                <a:solidFill>
                  <a:srgbClr val="002060"/>
                </a:solidFill>
                <a:latin typeface="Calibri"/>
              </a:rPr>
              <a:t>Sample question, asked in plain English</a:t>
            </a:r>
            <a:r>
              <a:rPr lang="en-US" sz="950" b="0" i="1" dirty="0">
                <a:solidFill>
                  <a:srgbClr val="002060"/>
                </a:solidFill>
                <a:latin typeface="Calibri"/>
              </a:rPr>
              <a:t> in any external MCP clients</a:t>
            </a:r>
            <a:r>
              <a:rPr sz="950" b="0" i="1" dirty="0">
                <a:solidFill>
                  <a:srgbClr val="002060"/>
                </a:solidFill>
                <a:latin typeface="Calibri"/>
              </a:rPr>
              <a:t>:</a:t>
            </a:r>
          </a:p>
        </p:txBody>
      </p:sp>
      <p:sp>
        <p:nvSpPr>
          <p:cNvPr id="112" name="TextBox 111">
            <a:extLst>
              <a:ext uri="{FF2B5EF4-FFF2-40B4-BE49-F238E27FC236}">
                <a16:creationId xmlns:a16="http://schemas.microsoft.com/office/drawing/2014/main" id="{7B7A9FAA-5685-9E9B-9489-B77C1E29FA01}"/>
              </a:ext>
            </a:extLst>
          </p:cNvPr>
          <p:cNvSpPr txBox="1"/>
          <p:nvPr/>
        </p:nvSpPr>
        <p:spPr>
          <a:xfrm>
            <a:off x="1371600" y="1761823"/>
            <a:ext cx="9875520" cy="223138"/>
          </a:xfrm>
          <a:prstGeom prst="rect">
            <a:avLst/>
          </a:prstGeom>
          <a:noFill/>
        </p:spPr>
        <p:txBody>
          <a:bodyPr wrap="square" lIns="0" tIns="0" rIns="0" bIns="0" anchor="t">
            <a:spAutoFit/>
          </a:bodyPr>
          <a:lstStyle/>
          <a:p>
            <a:pPr algn="l"/>
            <a:r>
              <a:rPr sz="1450" b="1" i="0" dirty="0">
                <a:solidFill>
                  <a:srgbClr val="002060"/>
                </a:solidFill>
                <a:latin typeface="Cambria"/>
              </a:rPr>
              <a:t>“How many ED visits did Mercy General have last month?”</a:t>
            </a:r>
          </a:p>
        </p:txBody>
      </p:sp>
      <p:cxnSp>
        <p:nvCxnSpPr>
          <p:cNvPr id="113" name="Connector 9">
            <a:extLst>
              <a:ext uri="{FF2B5EF4-FFF2-40B4-BE49-F238E27FC236}">
                <a16:creationId xmlns:a16="http://schemas.microsoft.com/office/drawing/2014/main" id="{88E12C39-104B-0FDA-C181-5959AA202062}"/>
              </a:ext>
            </a:extLst>
          </p:cNvPr>
          <p:cNvCxnSpPr/>
          <p:nvPr/>
        </p:nvCxnSpPr>
        <p:spPr>
          <a:xfrm>
            <a:off x="914399" y="2346687"/>
            <a:ext cx="0" cy="2171700"/>
          </a:xfrm>
          <a:prstGeom prst="line">
            <a:avLst/>
          </a:prstGeom>
          <a:ln w="38100">
            <a:solidFill>
              <a:srgbClr val="252B45"/>
            </a:solidFill>
          </a:ln>
        </p:spPr>
        <p:style>
          <a:lnRef idx="2">
            <a:schemeClr val="accent1"/>
          </a:lnRef>
          <a:fillRef idx="0">
            <a:schemeClr val="accent1"/>
          </a:fillRef>
          <a:effectRef idx="1">
            <a:schemeClr val="accent1"/>
          </a:effectRef>
          <a:fontRef idx="minor">
            <a:schemeClr val="tx1"/>
          </a:fontRef>
        </p:style>
      </p:cxnSp>
      <p:sp>
        <p:nvSpPr>
          <p:cNvPr id="114" name="Oval 113">
            <a:extLst>
              <a:ext uri="{FF2B5EF4-FFF2-40B4-BE49-F238E27FC236}">
                <a16:creationId xmlns:a16="http://schemas.microsoft.com/office/drawing/2014/main" id="{9CB69DE6-1B4F-439F-8981-A55B1AF5F37A}"/>
              </a:ext>
            </a:extLst>
          </p:cNvPr>
          <p:cNvSpPr/>
          <p:nvPr/>
        </p:nvSpPr>
        <p:spPr>
          <a:xfrm>
            <a:off x="731519" y="2163807"/>
            <a:ext cx="365760" cy="36576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a:extLst>
              <a:ext uri="{FF2B5EF4-FFF2-40B4-BE49-F238E27FC236}">
                <a16:creationId xmlns:a16="http://schemas.microsoft.com/office/drawing/2014/main" id="{9F0519AE-E6BA-96C1-073C-12650C4E563B}"/>
              </a:ext>
            </a:extLst>
          </p:cNvPr>
          <p:cNvSpPr txBox="1"/>
          <p:nvPr/>
        </p:nvSpPr>
        <p:spPr>
          <a:xfrm>
            <a:off x="731519" y="2163807"/>
            <a:ext cx="365760" cy="365760"/>
          </a:xfrm>
          <a:prstGeom prst="rect">
            <a:avLst/>
          </a:prstGeom>
          <a:noFill/>
        </p:spPr>
        <p:txBody>
          <a:bodyPr wrap="square" lIns="0" tIns="0" rIns="0" bIns="0" anchor="ctr">
            <a:spAutoFit/>
          </a:bodyPr>
          <a:lstStyle/>
          <a:p>
            <a:pPr algn="ctr"/>
            <a:r>
              <a:rPr sz="1200" b="1" i="0">
                <a:solidFill>
                  <a:srgbClr val="FFFFFF"/>
                </a:solidFill>
                <a:latin typeface="Calibri"/>
              </a:rPr>
              <a:t>1</a:t>
            </a:r>
          </a:p>
        </p:txBody>
      </p:sp>
      <p:sp>
        <p:nvSpPr>
          <p:cNvPr id="116" name="TextBox 115">
            <a:extLst>
              <a:ext uri="{FF2B5EF4-FFF2-40B4-BE49-F238E27FC236}">
                <a16:creationId xmlns:a16="http://schemas.microsoft.com/office/drawing/2014/main" id="{A5BF462D-BE3A-F6BC-4887-4DC6DF475365}"/>
              </a:ext>
            </a:extLst>
          </p:cNvPr>
          <p:cNvSpPr txBox="1"/>
          <p:nvPr/>
        </p:nvSpPr>
        <p:spPr>
          <a:xfrm>
            <a:off x="1261870" y="2209526"/>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Ask</a:t>
            </a:r>
          </a:p>
        </p:txBody>
      </p:sp>
      <p:sp>
        <p:nvSpPr>
          <p:cNvPr id="117" name="Oval 116">
            <a:extLst>
              <a:ext uri="{FF2B5EF4-FFF2-40B4-BE49-F238E27FC236}">
                <a16:creationId xmlns:a16="http://schemas.microsoft.com/office/drawing/2014/main" id="{8755A7F8-7705-C4AA-CE2D-61B3024EF1A1}"/>
              </a:ext>
            </a:extLst>
          </p:cNvPr>
          <p:cNvSpPr/>
          <p:nvPr/>
        </p:nvSpPr>
        <p:spPr>
          <a:xfrm>
            <a:off x="731519" y="2598146"/>
            <a:ext cx="365760" cy="36576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87238DD1-99DC-72C8-1E6C-18D80A1DC7C6}"/>
              </a:ext>
            </a:extLst>
          </p:cNvPr>
          <p:cNvSpPr txBox="1"/>
          <p:nvPr/>
        </p:nvSpPr>
        <p:spPr>
          <a:xfrm>
            <a:off x="731519" y="2598146"/>
            <a:ext cx="365760" cy="365760"/>
          </a:xfrm>
          <a:prstGeom prst="rect">
            <a:avLst/>
          </a:prstGeom>
          <a:noFill/>
        </p:spPr>
        <p:txBody>
          <a:bodyPr wrap="square" lIns="0" tIns="0" rIns="0" bIns="0" anchor="ctr">
            <a:spAutoFit/>
          </a:bodyPr>
          <a:lstStyle/>
          <a:p>
            <a:pPr algn="ctr"/>
            <a:r>
              <a:rPr sz="1200" b="1" i="0">
                <a:solidFill>
                  <a:srgbClr val="FFFFFF"/>
                </a:solidFill>
                <a:latin typeface="Calibri"/>
              </a:rPr>
              <a:t>2</a:t>
            </a:r>
          </a:p>
        </p:txBody>
      </p:sp>
      <p:sp>
        <p:nvSpPr>
          <p:cNvPr id="119" name="TextBox 118">
            <a:extLst>
              <a:ext uri="{FF2B5EF4-FFF2-40B4-BE49-F238E27FC236}">
                <a16:creationId xmlns:a16="http://schemas.microsoft.com/office/drawing/2014/main" id="{B2E8B0E9-CCEA-3A33-8F06-C0C0BC4172D1}"/>
              </a:ext>
            </a:extLst>
          </p:cNvPr>
          <p:cNvSpPr txBox="1"/>
          <p:nvPr/>
        </p:nvSpPr>
        <p:spPr>
          <a:xfrm>
            <a:off x="1261870" y="2643867"/>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Call the MCP Server</a:t>
            </a:r>
          </a:p>
        </p:txBody>
      </p:sp>
      <p:sp>
        <p:nvSpPr>
          <p:cNvPr id="120" name="Oval 119">
            <a:extLst>
              <a:ext uri="{FF2B5EF4-FFF2-40B4-BE49-F238E27FC236}">
                <a16:creationId xmlns:a16="http://schemas.microsoft.com/office/drawing/2014/main" id="{CFEAF990-994D-148F-ECF1-60457E81F75A}"/>
              </a:ext>
            </a:extLst>
          </p:cNvPr>
          <p:cNvSpPr/>
          <p:nvPr/>
        </p:nvSpPr>
        <p:spPr>
          <a:xfrm>
            <a:off x="731519" y="3032487"/>
            <a:ext cx="365760" cy="3657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a:extLst>
              <a:ext uri="{FF2B5EF4-FFF2-40B4-BE49-F238E27FC236}">
                <a16:creationId xmlns:a16="http://schemas.microsoft.com/office/drawing/2014/main" id="{6F26DDCD-5671-ABDC-C0C1-60E34BFEC49C}"/>
              </a:ext>
            </a:extLst>
          </p:cNvPr>
          <p:cNvSpPr txBox="1"/>
          <p:nvPr/>
        </p:nvSpPr>
        <p:spPr>
          <a:xfrm>
            <a:off x="731519" y="3032487"/>
            <a:ext cx="365760" cy="365760"/>
          </a:xfrm>
          <a:prstGeom prst="rect">
            <a:avLst/>
          </a:prstGeom>
          <a:noFill/>
        </p:spPr>
        <p:txBody>
          <a:bodyPr wrap="square" lIns="0" tIns="0" rIns="0" bIns="0" anchor="ctr">
            <a:spAutoFit/>
          </a:bodyPr>
          <a:lstStyle/>
          <a:p>
            <a:pPr algn="ctr"/>
            <a:r>
              <a:rPr sz="1200" b="1" i="0">
                <a:solidFill>
                  <a:srgbClr val="FFFFFF"/>
                </a:solidFill>
                <a:latin typeface="Calibri"/>
              </a:rPr>
              <a:t>3</a:t>
            </a:r>
          </a:p>
        </p:txBody>
      </p:sp>
      <p:sp>
        <p:nvSpPr>
          <p:cNvPr id="122" name="TextBox 121">
            <a:extLst>
              <a:ext uri="{FF2B5EF4-FFF2-40B4-BE49-F238E27FC236}">
                <a16:creationId xmlns:a16="http://schemas.microsoft.com/office/drawing/2014/main" id="{9DF7A78A-E5F7-09D2-DCDB-74EAFA19B288}"/>
              </a:ext>
            </a:extLst>
          </p:cNvPr>
          <p:cNvSpPr txBox="1"/>
          <p:nvPr/>
        </p:nvSpPr>
        <p:spPr>
          <a:xfrm>
            <a:off x="1261870" y="3078207"/>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Route to the Agent</a:t>
            </a:r>
          </a:p>
        </p:txBody>
      </p:sp>
      <p:sp>
        <p:nvSpPr>
          <p:cNvPr id="123" name="Oval 122">
            <a:extLst>
              <a:ext uri="{FF2B5EF4-FFF2-40B4-BE49-F238E27FC236}">
                <a16:creationId xmlns:a16="http://schemas.microsoft.com/office/drawing/2014/main" id="{B8EE2C9F-604C-51B1-91F0-92F9F28AF4C7}"/>
              </a:ext>
            </a:extLst>
          </p:cNvPr>
          <p:cNvSpPr/>
          <p:nvPr/>
        </p:nvSpPr>
        <p:spPr>
          <a:xfrm>
            <a:off x="731519" y="3466826"/>
            <a:ext cx="365760" cy="365760"/>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a:extLst>
              <a:ext uri="{FF2B5EF4-FFF2-40B4-BE49-F238E27FC236}">
                <a16:creationId xmlns:a16="http://schemas.microsoft.com/office/drawing/2014/main" id="{E21E6E35-6250-4756-A2DC-AE4FC7B8F33A}"/>
              </a:ext>
            </a:extLst>
          </p:cNvPr>
          <p:cNvSpPr txBox="1"/>
          <p:nvPr/>
        </p:nvSpPr>
        <p:spPr>
          <a:xfrm>
            <a:off x="731519" y="3466826"/>
            <a:ext cx="365760" cy="365760"/>
          </a:xfrm>
          <a:prstGeom prst="rect">
            <a:avLst/>
          </a:prstGeom>
          <a:noFill/>
        </p:spPr>
        <p:txBody>
          <a:bodyPr wrap="square" lIns="0" tIns="0" rIns="0" bIns="0" anchor="ctr">
            <a:spAutoFit/>
          </a:bodyPr>
          <a:lstStyle/>
          <a:p>
            <a:pPr algn="ctr"/>
            <a:r>
              <a:rPr sz="1200" b="1" i="0">
                <a:solidFill>
                  <a:srgbClr val="FFFFFF"/>
                </a:solidFill>
                <a:latin typeface="Calibri"/>
              </a:rPr>
              <a:t>4</a:t>
            </a:r>
          </a:p>
        </p:txBody>
      </p:sp>
      <p:sp>
        <p:nvSpPr>
          <p:cNvPr id="125" name="TextBox 124">
            <a:extLst>
              <a:ext uri="{FF2B5EF4-FFF2-40B4-BE49-F238E27FC236}">
                <a16:creationId xmlns:a16="http://schemas.microsoft.com/office/drawing/2014/main" id="{92587AE3-2A73-CF42-6616-4786BAD11F26}"/>
              </a:ext>
            </a:extLst>
          </p:cNvPr>
          <p:cNvSpPr txBox="1"/>
          <p:nvPr/>
        </p:nvSpPr>
        <p:spPr>
          <a:xfrm>
            <a:off x="1261870" y="3512546"/>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Generate Governed SQL</a:t>
            </a:r>
          </a:p>
        </p:txBody>
      </p:sp>
      <p:sp>
        <p:nvSpPr>
          <p:cNvPr id="126" name="Oval 125">
            <a:extLst>
              <a:ext uri="{FF2B5EF4-FFF2-40B4-BE49-F238E27FC236}">
                <a16:creationId xmlns:a16="http://schemas.microsoft.com/office/drawing/2014/main" id="{F1EC7879-D0DA-D6C7-7FD0-C3F1679A1028}"/>
              </a:ext>
            </a:extLst>
          </p:cNvPr>
          <p:cNvSpPr/>
          <p:nvPr/>
        </p:nvSpPr>
        <p:spPr>
          <a:xfrm>
            <a:off x="731519" y="3901166"/>
            <a:ext cx="365760" cy="365760"/>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a:extLst>
              <a:ext uri="{FF2B5EF4-FFF2-40B4-BE49-F238E27FC236}">
                <a16:creationId xmlns:a16="http://schemas.microsoft.com/office/drawing/2014/main" id="{E326A2B2-1867-C506-AFDC-97BC3848E384}"/>
              </a:ext>
            </a:extLst>
          </p:cNvPr>
          <p:cNvSpPr txBox="1"/>
          <p:nvPr/>
        </p:nvSpPr>
        <p:spPr>
          <a:xfrm>
            <a:off x="731519" y="3901166"/>
            <a:ext cx="365760" cy="365760"/>
          </a:xfrm>
          <a:prstGeom prst="rect">
            <a:avLst/>
          </a:prstGeom>
          <a:noFill/>
        </p:spPr>
        <p:txBody>
          <a:bodyPr wrap="square" lIns="0" tIns="0" rIns="0" bIns="0" anchor="ctr">
            <a:spAutoFit/>
          </a:bodyPr>
          <a:lstStyle/>
          <a:p>
            <a:pPr algn="ctr"/>
            <a:r>
              <a:rPr sz="1200" b="1" i="0">
                <a:solidFill>
                  <a:srgbClr val="FFFFFF"/>
                </a:solidFill>
                <a:latin typeface="Calibri"/>
              </a:rPr>
              <a:t>5</a:t>
            </a:r>
          </a:p>
        </p:txBody>
      </p:sp>
      <p:sp>
        <p:nvSpPr>
          <p:cNvPr id="128" name="TextBox 127">
            <a:extLst>
              <a:ext uri="{FF2B5EF4-FFF2-40B4-BE49-F238E27FC236}">
                <a16:creationId xmlns:a16="http://schemas.microsoft.com/office/drawing/2014/main" id="{675F16A4-9AE6-EBBE-EDA1-4CF503E9D977}"/>
              </a:ext>
            </a:extLst>
          </p:cNvPr>
          <p:cNvSpPr txBox="1"/>
          <p:nvPr/>
        </p:nvSpPr>
        <p:spPr>
          <a:xfrm>
            <a:off x="1261870" y="3946887"/>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Run Against the Data Product</a:t>
            </a:r>
          </a:p>
        </p:txBody>
      </p:sp>
      <p:sp>
        <p:nvSpPr>
          <p:cNvPr id="129" name="Oval 128">
            <a:extLst>
              <a:ext uri="{FF2B5EF4-FFF2-40B4-BE49-F238E27FC236}">
                <a16:creationId xmlns:a16="http://schemas.microsoft.com/office/drawing/2014/main" id="{F0103F4D-64B7-41F6-A5B0-B617BC78D21F}"/>
              </a:ext>
            </a:extLst>
          </p:cNvPr>
          <p:cNvSpPr/>
          <p:nvPr/>
        </p:nvSpPr>
        <p:spPr>
          <a:xfrm>
            <a:off x="731519" y="43355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a:extLst>
              <a:ext uri="{FF2B5EF4-FFF2-40B4-BE49-F238E27FC236}">
                <a16:creationId xmlns:a16="http://schemas.microsoft.com/office/drawing/2014/main" id="{60E91D3A-742A-8BE4-A39C-6B2C0D2E318F}"/>
              </a:ext>
            </a:extLst>
          </p:cNvPr>
          <p:cNvSpPr txBox="1"/>
          <p:nvPr/>
        </p:nvSpPr>
        <p:spPr>
          <a:xfrm>
            <a:off x="731519" y="4335506"/>
            <a:ext cx="365760" cy="365760"/>
          </a:xfrm>
          <a:prstGeom prst="rect">
            <a:avLst/>
          </a:prstGeom>
          <a:noFill/>
        </p:spPr>
        <p:txBody>
          <a:bodyPr wrap="square" lIns="0" tIns="0" rIns="0" bIns="0" anchor="ctr">
            <a:spAutoFit/>
          </a:bodyPr>
          <a:lstStyle/>
          <a:p>
            <a:pPr algn="ctr"/>
            <a:r>
              <a:rPr sz="1200" b="1" i="0">
                <a:solidFill>
                  <a:srgbClr val="FFFFFF"/>
                </a:solidFill>
                <a:latin typeface="Calibri"/>
              </a:rPr>
              <a:t>6</a:t>
            </a:r>
          </a:p>
        </p:txBody>
      </p:sp>
      <p:sp>
        <p:nvSpPr>
          <p:cNvPr id="131" name="TextBox 130">
            <a:extLst>
              <a:ext uri="{FF2B5EF4-FFF2-40B4-BE49-F238E27FC236}">
                <a16:creationId xmlns:a16="http://schemas.microsoft.com/office/drawing/2014/main" id="{DC965A30-02D5-5559-D941-E3F48E135EA7}"/>
              </a:ext>
            </a:extLst>
          </p:cNvPr>
          <p:cNvSpPr txBox="1"/>
          <p:nvPr/>
        </p:nvSpPr>
        <p:spPr>
          <a:xfrm>
            <a:off x="1261870" y="4381227"/>
            <a:ext cx="3291840" cy="176972"/>
          </a:xfrm>
          <a:prstGeom prst="rect">
            <a:avLst/>
          </a:prstGeom>
          <a:noFill/>
        </p:spPr>
        <p:txBody>
          <a:bodyPr wrap="square" lIns="0" tIns="0" rIns="0" bIns="0" anchor="t">
            <a:spAutoFit/>
          </a:bodyPr>
          <a:lstStyle/>
          <a:p>
            <a:pPr algn="l"/>
            <a:r>
              <a:rPr sz="1150" b="1" i="0" dirty="0">
                <a:solidFill>
                  <a:srgbClr val="002060"/>
                </a:solidFill>
                <a:latin typeface="Calibri"/>
              </a:rPr>
              <a:t>Return the Answer</a:t>
            </a:r>
          </a:p>
        </p:txBody>
      </p:sp>
      <p:sp>
        <p:nvSpPr>
          <p:cNvPr id="132" name="TextBox 131">
            <a:extLst>
              <a:ext uri="{FF2B5EF4-FFF2-40B4-BE49-F238E27FC236}">
                <a16:creationId xmlns:a16="http://schemas.microsoft.com/office/drawing/2014/main" id="{33FA1EB8-AB84-709A-FC38-4ED70C82F57F}"/>
              </a:ext>
            </a:extLst>
          </p:cNvPr>
          <p:cNvSpPr txBox="1"/>
          <p:nvPr/>
        </p:nvSpPr>
        <p:spPr>
          <a:xfrm>
            <a:off x="4187952" y="2257817"/>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Typed </a:t>
            </a:r>
            <a:r>
              <a:rPr lang="en-US" sz="950" b="0" i="0" dirty="0">
                <a:solidFill>
                  <a:srgbClr val="002060"/>
                </a:solidFill>
                <a:latin typeface="Calibri"/>
              </a:rPr>
              <a:t>into </a:t>
            </a:r>
            <a:r>
              <a:rPr sz="950" b="0" i="0" dirty="0">
                <a:solidFill>
                  <a:srgbClr val="002060"/>
                </a:solidFill>
                <a:latin typeface="Calibri"/>
              </a:rPr>
              <a:t>Sage </a:t>
            </a:r>
            <a:r>
              <a:rPr lang="en-US" sz="950" b="0" i="0" dirty="0">
                <a:solidFill>
                  <a:srgbClr val="002060"/>
                </a:solidFill>
                <a:latin typeface="Calibri"/>
              </a:rPr>
              <a:t>agent via sage workflows</a:t>
            </a:r>
            <a:r>
              <a:rPr sz="950" b="0" i="0" dirty="0">
                <a:solidFill>
                  <a:srgbClr val="002060"/>
                </a:solidFill>
                <a:latin typeface="Calibri"/>
              </a:rPr>
              <a:t> — plain English, no SQL.</a:t>
            </a:r>
            <a:r>
              <a:rPr lang="en-US" sz="950" b="0" i="0" dirty="0">
                <a:solidFill>
                  <a:srgbClr val="002060"/>
                </a:solidFill>
                <a:latin typeface="Calibri"/>
              </a:rPr>
              <a:t> (or) any external agent workflow</a:t>
            </a:r>
            <a:endParaRPr sz="950" b="0" i="0" dirty="0">
              <a:solidFill>
                <a:srgbClr val="002060"/>
              </a:solidFill>
              <a:latin typeface="Calibri"/>
            </a:endParaRPr>
          </a:p>
        </p:txBody>
      </p:sp>
      <p:sp>
        <p:nvSpPr>
          <p:cNvPr id="133" name="TextBox 132">
            <a:extLst>
              <a:ext uri="{FF2B5EF4-FFF2-40B4-BE49-F238E27FC236}">
                <a16:creationId xmlns:a16="http://schemas.microsoft.com/office/drawing/2014/main" id="{FE92B74E-7736-1393-670D-5E954D452B0C}"/>
              </a:ext>
            </a:extLst>
          </p:cNvPr>
          <p:cNvSpPr txBox="1"/>
          <p:nvPr/>
        </p:nvSpPr>
        <p:spPr>
          <a:xfrm>
            <a:off x="4187952" y="2641975"/>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Sage calls the ECDH MCP Server via a named tool: </a:t>
            </a:r>
            <a:r>
              <a:rPr sz="950" b="0" i="0" dirty="0" err="1">
                <a:solidFill>
                  <a:srgbClr val="002060"/>
                </a:solidFill>
                <a:latin typeface="Calibri"/>
              </a:rPr>
              <a:t>get_ed_visits_by_facility</a:t>
            </a:r>
            <a:r>
              <a:rPr sz="950" b="0" i="0" dirty="0">
                <a:solidFill>
                  <a:srgbClr val="002060"/>
                </a:solidFill>
                <a:latin typeface="Calibri"/>
              </a:rPr>
              <a:t>(...).</a:t>
            </a:r>
            <a:r>
              <a:rPr lang="en-US" sz="950" b="0" i="0" dirty="0">
                <a:solidFill>
                  <a:srgbClr val="002060"/>
                </a:solidFill>
                <a:latin typeface="Calibri"/>
              </a:rPr>
              <a:t> Covers snowflake auth/RBAC </a:t>
            </a:r>
            <a:endParaRPr sz="950" b="0" i="0" dirty="0">
              <a:solidFill>
                <a:srgbClr val="002060"/>
              </a:solidFill>
              <a:latin typeface="Calibri"/>
            </a:endParaRPr>
          </a:p>
        </p:txBody>
      </p:sp>
      <p:sp>
        <p:nvSpPr>
          <p:cNvPr id="134" name="TextBox 133">
            <a:extLst>
              <a:ext uri="{FF2B5EF4-FFF2-40B4-BE49-F238E27FC236}">
                <a16:creationId xmlns:a16="http://schemas.microsoft.com/office/drawing/2014/main" id="{2A660F70-164C-59C1-5B97-C74F194C64AE}"/>
              </a:ext>
            </a:extLst>
          </p:cNvPr>
          <p:cNvSpPr txBox="1"/>
          <p:nvPr/>
        </p:nvSpPr>
        <p:spPr>
          <a:xfrm>
            <a:off x="4187952" y="3082971"/>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The Intelligence Layer classifies the question and routes it to the Visits Agent</a:t>
            </a:r>
            <a:r>
              <a:rPr lang="en-US" sz="950" b="0" i="0" dirty="0">
                <a:solidFill>
                  <a:srgbClr val="002060"/>
                </a:solidFill>
                <a:latin typeface="Calibri"/>
              </a:rPr>
              <a:t> </a:t>
            </a:r>
            <a:r>
              <a:rPr lang="en-US" sz="950" dirty="0">
                <a:solidFill>
                  <a:srgbClr val="002060"/>
                </a:solidFill>
                <a:latin typeface="Calibri"/>
              </a:rPr>
              <a:t>configured inside ECDH Snowflake MCP server as one of the agent</a:t>
            </a:r>
            <a:r>
              <a:rPr sz="950" b="0" i="0" dirty="0">
                <a:solidFill>
                  <a:srgbClr val="002060"/>
                </a:solidFill>
                <a:latin typeface="Calibri"/>
              </a:rPr>
              <a:t>.</a:t>
            </a:r>
          </a:p>
        </p:txBody>
      </p:sp>
      <p:sp>
        <p:nvSpPr>
          <p:cNvPr id="135" name="TextBox 134">
            <a:extLst>
              <a:ext uri="{FF2B5EF4-FFF2-40B4-BE49-F238E27FC236}">
                <a16:creationId xmlns:a16="http://schemas.microsoft.com/office/drawing/2014/main" id="{2D23ACB1-08B0-6EF8-CB67-CFC6D3FC786C}"/>
              </a:ext>
            </a:extLst>
          </p:cNvPr>
          <p:cNvSpPr txBox="1"/>
          <p:nvPr/>
        </p:nvSpPr>
        <p:spPr>
          <a:xfrm>
            <a:off x="4187952" y="3501384"/>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The Agent uses the Semantic Layer + Cortex Analyst to turn the question into SQL.</a:t>
            </a:r>
          </a:p>
        </p:txBody>
      </p:sp>
      <p:sp>
        <p:nvSpPr>
          <p:cNvPr id="136" name="TextBox 135">
            <a:extLst>
              <a:ext uri="{FF2B5EF4-FFF2-40B4-BE49-F238E27FC236}">
                <a16:creationId xmlns:a16="http://schemas.microsoft.com/office/drawing/2014/main" id="{01E0700A-E05A-B5E3-1953-15DAFD7F6E24}"/>
              </a:ext>
            </a:extLst>
          </p:cNvPr>
          <p:cNvSpPr txBox="1"/>
          <p:nvPr/>
        </p:nvSpPr>
        <p:spPr>
          <a:xfrm>
            <a:off x="4187952" y="3957692"/>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SQL executes against the Visits Clinical Data Product (</a:t>
            </a:r>
            <a:r>
              <a:rPr sz="950" b="0" i="0" dirty="0" err="1">
                <a:solidFill>
                  <a:srgbClr val="002060"/>
                </a:solidFill>
                <a:latin typeface="Calibri"/>
              </a:rPr>
              <a:t>vw_visits</a:t>
            </a:r>
            <a:r>
              <a:rPr sz="950" b="0" i="0" dirty="0">
                <a:solidFill>
                  <a:srgbClr val="002060"/>
                </a:solidFill>
                <a:latin typeface="Calibri"/>
              </a:rPr>
              <a:t>) inside Snowflake</a:t>
            </a:r>
            <a:r>
              <a:rPr lang="en-US" sz="950" b="0" i="0" dirty="0">
                <a:solidFill>
                  <a:srgbClr val="002060"/>
                </a:solidFill>
                <a:latin typeface="Calibri"/>
              </a:rPr>
              <a:t>, cataloged as HCP data product</a:t>
            </a:r>
            <a:endParaRPr sz="950" b="0" i="0" dirty="0">
              <a:solidFill>
                <a:srgbClr val="002060"/>
              </a:solidFill>
              <a:latin typeface="Calibri"/>
            </a:endParaRPr>
          </a:p>
        </p:txBody>
      </p:sp>
      <p:sp>
        <p:nvSpPr>
          <p:cNvPr id="137" name="TextBox 136">
            <a:extLst>
              <a:ext uri="{FF2B5EF4-FFF2-40B4-BE49-F238E27FC236}">
                <a16:creationId xmlns:a16="http://schemas.microsoft.com/office/drawing/2014/main" id="{2D3BF63C-3A62-E566-B804-750D7B0CC55F}"/>
              </a:ext>
            </a:extLst>
          </p:cNvPr>
          <p:cNvSpPr txBox="1"/>
          <p:nvPr/>
        </p:nvSpPr>
        <p:spPr>
          <a:xfrm>
            <a:off x="4187952" y="4398578"/>
            <a:ext cx="7452360" cy="147284"/>
          </a:xfrm>
          <a:prstGeom prst="rect">
            <a:avLst/>
          </a:prstGeom>
          <a:noFill/>
        </p:spPr>
        <p:txBody>
          <a:bodyPr wrap="square" lIns="0" tIns="0" rIns="0" bIns="0" anchor="t">
            <a:spAutoFit/>
          </a:bodyPr>
          <a:lstStyle/>
          <a:p>
            <a:pPr algn="l">
              <a:lnSpc>
                <a:spcPct val="105000"/>
              </a:lnSpc>
            </a:pPr>
            <a:r>
              <a:rPr sz="950" b="0" i="0" dirty="0">
                <a:solidFill>
                  <a:srgbClr val="002060"/>
                </a:solidFill>
                <a:latin typeface="Calibri"/>
              </a:rPr>
              <a:t>Only the precise, RLS-filtered answer comes back — narrated in plain English.</a:t>
            </a:r>
          </a:p>
        </p:txBody>
      </p:sp>
      <p:sp>
        <p:nvSpPr>
          <p:cNvPr id="158" name="Rounded Rectangle 157">
            <a:extLst>
              <a:ext uri="{FF2B5EF4-FFF2-40B4-BE49-F238E27FC236}">
                <a16:creationId xmlns:a16="http://schemas.microsoft.com/office/drawing/2014/main" id="{D3521A14-62DB-1C5E-9CD3-EE1757F5229F}"/>
              </a:ext>
            </a:extLst>
          </p:cNvPr>
          <p:cNvSpPr/>
          <p:nvPr/>
        </p:nvSpPr>
        <p:spPr>
          <a:xfrm>
            <a:off x="548640" y="4783462"/>
            <a:ext cx="3514039" cy="1051560"/>
          </a:xfrm>
          <a:prstGeom prst="roundRect">
            <a:avLst>
              <a:gd name="adj" fmla="val 8000"/>
            </a:avLst>
          </a:prstGeom>
          <a:noFill/>
          <a:ln w="12700">
            <a:solidFill>
              <a:srgbClr val="25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a:extLst>
              <a:ext uri="{FF2B5EF4-FFF2-40B4-BE49-F238E27FC236}">
                <a16:creationId xmlns:a16="http://schemas.microsoft.com/office/drawing/2014/main" id="{EA0036F4-FEE3-5B5A-E40D-66A366D33ED9}"/>
              </a:ext>
            </a:extLst>
          </p:cNvPr>
          <p:cNvSpPr/>
          <p:nvPr/>
        </p:nvSpPr>
        <p:spPr>
          <a:xfrm>
            <a:off x="676655" y="4874902"/>
            <a:ext cx="292608" cy="292608"/>
          </a:xfrm>
          <a:prstGeom prst="ellipse">
            <a:avLst/>
          </a:prstGeom>
          <a:solidFill>
            <a:srgbClr val="11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a:extLst>
              <a:ext uri="{FF2B5EF4-FFF2-40B4-BE49-F238E27FC236}">
                <a16:creationId xmlns:a16="http://schemas.microsoft.com/office/drawing/2014/main" id="{BB523C46-5AC7-A32B-2577-7EBF5674379C}"/>
              </a:ext>
            </a:extLst>
          </p:cNvPr>
          <p:cNvSpPr txBox="1"/>
          <p:nvPr/>
        </p:nvSpPr>
        <p:spPr>
          <a:xfrm>
            <a:off x="676655" y="4874902"/>
            <a:ext cx="292608" cy="292608"/>
          </a:xfrm>
          <a:prstGeom prst="rect">
            <a:avLst/>
          </a:prstGeom>
          <a:noFill/>
        </p:spPr>
        <p:txBody>
          <a:bodyPr wrap="square" lIns="0" tIns="0" rIns="0" bIns="0" anchor="ctr">
            <a:spAutoFit/>
          </a:bodyPr>
          <a:lstStyle/>
          <a:p>
            <a:pPr algn="ctr"/>
            <a:r>
              <a:rPr sz="1200" b="1" i="0">
                <a:solidFill>
                  <a:srgbClr val="60A5FA"/>
                </a:solidFill>
                <a:latin typeface="Calibri"/>
              </a:rPr>
              <a:t>✓</a:t>
            </a:r>
          </a:p>
        </p:txBody>
      </p:sp>
      <p:sp>
        <p:nvSpPr>
          <p:cNvPr id="161" name="TextBox 160">
            <a:extLst>
              <a:ext uri="{FF2B5EF4-FFF2-40B4-BE49-F238E27FC236}">
                <a16:creationId xmlns:a16="http://schemas.microsoft.com/office/drawing/2014/main" id="{AC9DCD9A-7604-8D6F-5BE6-9F9A0F85A0D8}"/>
              </a:ext>
            </a:extLst>
          </p:cNvPr>
          <p:cNvSpPr txBox="1"/>
          <p:nvPr/>
        </p:nvSpPr>
        <p:spPr>
          <a:xfrm>
            <a:off x="1051560" y="4893190"/>
            <a:ext cx="2828239" cy="138499"/>
          </a:xfrm>
          <a:prstGeom prst="rect">
            <a:avLst/>
          </a:prstGeom>
          <a:noFill/>
        </p:spPr>
        <p:txBody>
          <a:bodyPr wrap="square" lIns="0" tIns="0" rIns="0" bIns="0" anchor="t">
            <a:spAutoFit/>
          </a:bodyPr>
          <a:lstStyle/>
          <a:p>
            <a:pPr algn="l"/>
            <a:r>
              <a:rPr sz="900" b="1" i="0" dirty="0">
                <a:solidFill>
                  <a:srgbClr val="002060"/>
                </a:solidFill>
                <a:latin typeface="Calibri"/>
              </a:rPr>
              <a:t>TOKEN COST</a:t>
            </a:r>
          </a:p>
        </p:txBody>
      </p:sp>
      <p:sp>
        <p:nvSpPr>
          <p:cNvPr id="162" name="TextBox 161">
            <a:extLst>
              <a:ext uri="{FF2B5EF4-FFF2-40B4-BE49-F238E27FC236}">
                <a16:creationId xmlns:a16="http://schemas.microsoft.com/office/drawing/2014/main" id="{BFB16AF8-7ED6-C041-1D34-D64BE4CFF259}"/>
              </a:ext>
            </a:extLst>
          </p:cNvPr>
          <p:cNvSpPr txBox="1"/>
          <p:nvPr/>
        </p:nvSpPr>
        <p:spPr>
          <a:xfrm>
            <a:off x="768096" y="5167510"/>
            <a:ext cx="3075127" cy="261610"/>
          </a:xfrm>
          <a:prstGeom prst="rect">
            <a:avLst/>
          </a:prstGeom>
          <a:noFill/>
        </p:spPr>
        <p:txBody>
          <a:bodyPr wrap="square" lIns="0" tIns="0" rIns="0" bIns="0" anchor="t">
            <a:spAutoFit/>
          </a:bodyPr>
          <a:lstStyle/>
          <a:p>
            <a:pPr algn="l"/>
            <a:r>
              <a:rPr sz="1700" b="1" i="0" dirty="0">
                <a:solidFill>
                  <a:srgbClr val="002060"/>
                </a:solidFill>
                <a:latin typeface="Cambria"/>
              </a:rPr>
              <a:t>~90% fewer tokens</a:t>
            </a:r>
          </a:p>
        </p:txBody>
      </p:sp>
      <p:sp>
        <p:nvSpPr>
          <p:cNvPr id="163" name="TextBox 162">
            <a:extLst>
              <a:ext uri="{FF2B5EF4-FFF2-40B4-BE49-F238E27FC236}">
                <a16:creationId xmlns:a16="http://schemas.microsoft.com/office/drawing/2014/main" id="{7C1CAD72-2203-3DC5-3F00-9D0C71696F84}"/>
              </a:ext>
            </a:extLst>
          </p:cNvPr>
          <p:cNvSpPr txBox="1"/>
          <p:nvPr/>
        </p:nvSpPr>
        <p:spPr>
          <a:xfrm>
            <a:off x="768096" y="5496694"/>
            <a:ext cx="3075127" cy="124008"/>
          </a:xfrm>
          <a:prstGeom prst="rect">
            <a:avLst/>
          </a:prstGeom>
          <a:noFill/>
        </p:spPr>
        <p:txBody>
          <a:bodyPr wrap="square" lIns="0" tIns="0" rIns="0" bIns="0" anchor="t">
            <a:spAutoFit/>
          </a:bodyPr>
          <a:lstStyle/>
          <a:p>
            <a:pPr algn="l">
              <a:lnSpc>
                <a:spcPct val="105000"/>
              </a:lnSpc>
            </a:pPr>
            <a:r>
              <a:rPr sz="800" b="0" i="0" dirty="0">
                <a:latin typeface="Calibri"/>
              </a:rPr>
              <a:t>Only the governed answer returns — never raw rows</a:t>
            </a:r>
          </a:p>
        </p:txBody>
      </p:sp>
      <p:sp>
        <p:nvSpPr>
          <p:cNvPr id="164" name="Rounded Rectangle 163">
            <a:extLst>
              <a:ext uri="{FF2B5EF4-FFF2-40B4-BE49-F238E27FC236}">
                <a16:creationId xmlns:a16="http://schemas.microsoft.com/office/drawing/2014/main" id="{B28AA473-07CB-FE54-1B38-609BBAA95F52}"/>
              </a:ext>
            </a:extLst>
          </p:cNvPr>
          <p:cNvSpPr/>
          <p:nvPr/>
        </p:nvSpPr>
        <p:spPr>
          <a:xfrm>
            <a:off x="4336999" y="4783462"/>
            <a:ext cx="3514039" cy="1051560"/>
          </a:xfrm>
          <a:prstGeom prst="roundRect">
            <a:avLst>
              <a:gd name="adj" fmla="val 8000"/>
            </a:avLst>
          </a:prstGeom>
          <a:noFill/>
          <a:ln w="12700">
            <a:solidFill>
              <a:srgbClr val="25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a:extLst>
              <a:ext uri="{FF2B5EF4-FFF2-40B4-BE49-F238E27FC236}">
                <a16:creationId xmlns:a16="http://schemas.microsoft.com/office/drawing/2014/main" id="{B2A503F6-771F-9FDD-7994-6851890542E5}"/>
              </a:ext>
            </a:extLst>
          </p:cNvPr>
          <p:cNvSpPr/>
          <p:nvPr/>
        </p:nvSpPr>
        <p:spPr>
          <a:xfrm>
            <a:off x="4465015" y="4874902"/>
            <a:ext cx="292608" cy="292608"/>
          </a:xfrm>
          <a:prstGeom prst="ellipse">
            <a:avLst/>
          </a:prstGeom>
          <a:solidFill>
            <a:srgbClr val="0B3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a:extLst>
              <a:ext uri="{FF2B5EF4-FFF2-40B4-BE49-F238E27FC236}">
                <a16:creationId xmlns:a16="http://schemas.microsoft.com/office/drawing/2014/main" id="{CFEFB0E7-EF51-A747-4B1D-1A2DD3833C76}"/>
              </a:ext>
            </a:extLst>
          </p:cNvPr>
          <p:cNvSpPr txBox="1"/>
          <p:nvPr/>
        </p:nvSpPr>
        <p:spPr>
          <a:xfrm>
            <a:off x="4465015" y="4874902"/>
            <a:ext cx="292608" cy="292608"/>
          </a:xfrm>
          <a:prstGeom prst="rect">
            <a:avLst/>
          </a:prstGeom>
          <a:noFill/>
        </p:spPr>
        <p:txBody>
          <a:bodyPr wrap="square" lIns="0" tIns="0" rIns="0" bIns="0" anchor="ctr">
            <a:spAutoFit/>
          </a:bodyPr>
          <a:lstStyle/>
          <a:p>
            <a:pPr algn="ctr"/>
            <a:r>
              <a:rPr sz="1200" b="1" i="0">
                <a:solidFill>
                  <a:srgbClr val="5EEAD4"/>
                </a:solidFill>
                <a:latin typeface="Calibri"/>
              </a:rPr>
              <a:t>✓</a:t>
            </a:r>
          </a:p>
        </p:txBody>
      </p:sp>
      <p:sp>
        <p:nvSpPr>
          <p:cNvPr id="167" name="TextBox 166">
            <a:extLst>
              <a:ext uri="{FF2B5EF4-FFF2-40B4-BE49-F238E27FC236}">
                <a16:creationId xmlns:a16="http://schemas.microsoft.com/office/drawing/2014/main" id="{BA75ECB2-E4A3-16C7-49E2-FE79FD0AD5D4}"/>
              </a:ext>
            </a:extLst>
          </p:cNvPr>
          <p:cNvSpPr txBox="1"/>
          <p:nvPr/>
        </p:nvSpPr>
        <p:spPr>
          <a:xfrm>
            <a:off x="4839919" y="4893190"/>
            <a:ext cx="2828239" cy="138499"/>
          </a:xfrm>
          <a:prstGeom prst="rect">
            <a:avLst/>
          </a:prstGeom>
          <a:noFill/>
        </p:spPr>
        <p:txBody>
          <a:bodyPr wrap="square" lIns="0" tIns="0" rIns="0" bIns="0" anchor="t">
            <a:spAutoFit/>
          </a:bodyPr>
          <a:lstStyle/>
          <a:p>
            <a:pPr algn="l"/>
            <a:r>
              <a:rPr sz="900" b="1" i="0" dirty="0">
                <a:solidFill>
                  <a:srgbClr val="002060"/>
                </a:solidFill>
                <a:latin typeface="Calibri"/>
              </a:rPr>
              <a:t>NETWORK I/O</a:t>
            </a:r>
          </a:p>
        </p:txBody>
      </p:sp>
      <p:sp>
        <p:nvSpPr>
          <p:cNvPr id="168" name="TextBox 167">
            <a:extLst>
              <a:ext uri="{FF2B5EF4-FFF2-40B4-BE49-F238E27FC236}">
                <a16:creationId xmlns:a16="http://schemas.microsoft.com/office/drawing/2014/main" id="{F73E63D3-7012-1C3E-1C0E-576CB616D6D3}"/>
              </a:ext>
            </a:extLst>
          </p:cNvPr>
          <p:cNvSpPr txBox="1"/>
          <p:nvPr/>
        </p:nvSpPr>
        <p:spPr>
          <a:xfrm>
            <a:off x="4556455" y="5167510"/>
            <a:ext cx="3075127" cy="261610"/>
          </a:xfrm>
          <a:prstGeom prst="rect">
            <a:avLst/>
          </a:prstGeom>
          <a:noFill/>
        </p:spPr>
        <p:txBody>
          <a:bodyPr wrap="square" lIns="0" tIns="0" rIns="0" bIns="0" anchor="t">
            <a:spAutoFit/>
          </a:bodyPr>
          <a:lstStyle/>
          <a:p>
            <a:pPr algn="l"/>
            <a:r>
              <a:rPr sz="1700" b="1" i="0" dirty="0">
                <a:solidFill>
                  <a:srgbClr val="002060"/>
                </a:solidFill>
                <a:latin typeface="Cambria"/>
              </a:rPr>
              <a:t>Minimal</a:t>
            </a:r>
          </a:p>
        </p:txBody>
      </p:sp>
      <p:sp>
        <p:nvSpPr>
          <p:cNvPr id="169" name="TextBox 168">
            <a:extLst>
              <a:ext uri="{FF2B5EF4-FFF2-40B4-BE49-F238E27FC236}">
                <a16:creationId xmlns:a16="http://schemas.microsoft.com/office/drawing/2014/main" id="{C73437CE-F6CC-45F2-F7DD-74C147E72918}"/>
              </a:ext>
            </a:extLst>
          </p:cNvPr>
          <p:cNvSpPr txBox="1"/>
          <p:nvPr/>
        </p:nvSpPr>
        <p:spPr>
          <a:xfrm>
            <a:off x="4556455" y="5496694"/>
            <a:ext cx="3075127" cy="124008"/>
          </a:xfrm>
          <a:prstGeom prst="rect">
            <a:avLst/>
          </a:prstGeom>
          <a:noFill/>
        </p:spPr>
        <p:txBody>
          <a:bodyPr wrap="square" lIns="0" tIns="0" rIns="0" bIns="0" anchor="t">
            <a:spAutoFit/>
          </a:bodyPr>
          <a:lstStyle/>
          <a:p>
            <a:pPr algn="l">
              <a:lnSpc>
                <a:spcPct val="105000"/>
              </a:lnSpc>
            </a:pPr>
            <a:r>
              <a:rPr sz="800" b="0" i="0" dirty="0">
                <a:latin typeface="Calibri"/>
              </a:rPr>
              <a:t>Filtering &amp; aggregation happen inside Snowflake, not the client</a:t>
            </a:r>
          </a:p>
        </p:txBody>
      </p:sp>
      <p:sp>
        <p:nvSpPr>
          <p:cNvPr id="170" name="Rounded Rectangle 169">
            <a:extLst>
              <a:ext uri="{FF2B5EF4-FFF2-40B4-BE49-F238E27FC236}">
                <a16:creationId xmlns:a16="http://schemas.microsoft.com/office/drawing/2014/main" id="{F26F3A2F-C431-3E3F-20A6-C11D237D3C3E}"/>
              </a:ext>
            </a:extLst>
          </p:cNvPr>
          <p:cNvSpPr/>
          <p:nvPr/>
        </p:nvSpPr>
        <p:spPr>
          <a:xfrm>
            <a:off x="8125358" y="4783462"/>
            <a:ext cx="3514039" cy="1051560"/>
          </a:xfrm>
          <a:prstGeom prst="roundRect">
            <a:avLst>
              <a:gd name="adj" fmla="val 8000"/>
            </a:avLst>
          </a:prstGeom>
          <a:noFill/>
          <a:ln w="12700">
            <a:solidFill>
              <a:srgbClr val="25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a:extLst>
              <a:ext uri="{FF2B5EF4-FFF2-40B4-BE49-F238E27FC236}">
                <a16:creationId xmlns:a16="http://schemas.microsoft.com/office/drawing/2014/main" id="{3B16F1F0-3EA4-18E2-8112-19C6E1EE82FB}"/>
              </a:ext>
            </a:extLst>
          </p:cNvPr>
          <p:cNvSpPr/>
          <p:nvPr/>
        </p:nvSpPr>
        <p:spPr>
          <a:xfrm>
            <a:off x="8253374" y="4874902"/>
            <a:ext cx="292608" cy="292608"/>
          </a:xfrm>
          <a:prstGeom prst="ellipse">
            <a:avLst/>
          </a:prstGeom>
          <a:solidFill>
            <a:srgbClr val="0F2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a:extLst>
              <a:ext uri="{FF2B5EF4-FFF2-40B4-BE49-F238E27FC236}">
                <a16:creationId xmlns:a16="http://schemas.microsoft.com/office/drawing/2014/main" id="{161B2A89-093D-E227-DC44-E37A13BDB135}"/>
              </a:ext>
            </a:extLst>
          </p:cNvPr>
          <p:cNvSpPr txBox="1"/>
          <p:nvPr/>
        </p:nvSpPr>
        <p:spPr>
          <a:xfrm>
            <a:off x="8253374" y="4874902"/>
            <a:ext cx="292608" cy="292608"/>
          </a:xfrm>
          <a:prstGeom prst="rect">
            <a:avLst/>
          </a:prstGeom>
          <a:noFill/>
        </p:spPr>
        <p:txBody>
          <a:bodyPr wrap="square" lIns="0" tIns="0" rIns="0" bIns="0" anchor="ctr">
            <a:spAutoFit/>
          </a:bodyPr>
          <a:lstStyle/>
          <a:p>
            <a:pPr algn="ctr"/>
            <a:r>
              <a:rPr sz="1200" b="1" i="0">
                <a:solidFill>
                  <a:srgbClr val="34D399"/>
                </a:solidFill>
                <a:latin typeface="Calibri"/>
              </a:rPr>
              <a:t>✓</a:t>
            </a:r>
          </a:p>
        </p:txBody>
      </p:sp>
      <p:sp>
        <p:nvSpPr>
          <p:cNvPr id="173" name="TextBox 172">
            <a:extLst>
              <a:ext uri="{FF2B5EF4-FFF2-40B4-BE49-F238E27FC236}">
                <a16:creationId xmlns:a16="http://schemas.microsoft.com/office/drawing/2014/main" id="{3926F2CA-FC09-390C-CABE-92379BA70A70}"/>
              </a:ext>
            </a:extLst>
          </p:cNvPr>
          <p:cNvSpPr txBox="1"/>
          <p:nvPr/>
        </p:nvSpPr>
        <p:spPr>
          <a:xfrm>
            <a:off x="8628278" y="4893190"/>
            <a:ext cx="2828239" cy="138499"/>
          </a:xfrm>
          <a:prstGeom prst="rect">
            <a:avLst/>
          </a:prstGeom>
          <a:noFill/>
        </p:spPr>
        <p:txBody>
          <a:bodyPr wrap="square" lIns="0" tIns="0" rIns="0" bIns="0" anchor="t">
            <a:spAutoFit/>
          </a:bodyPr>
          <a:lstStyle/>
          <a:p>
            <a:pPr algn="l"/>
            <a:r>
              <a:rPr sz="900" b="1" i="0" dirty="0">
                <a:solidFill>
                  <a:srgbClr val="002060"/>
                </a:solidFill>
                <a:latin typeface="Calibri"/>
              </a:rPr>
              <a:t>SCHEMA SAFETY</a:t>
            </a:r>
          </a:p>
        </p:txBody>
      </p:sp>
      <p:sp>
        <p:nvSpPr>
          <p:cNvPr id="174" name="TextBox 173">
            <a:extLst>
              <a:ext uri="{FF2B5EF4-FFF2-40B4-BE49-F238E27FC236}">
                <a16:creationId xmlns:a16="http://schemas.microsoft.com/office/drawing/2014/main" id="{A85916B8-7BE6-FC6A-4728-166663F27678}"/>
              </a:ext>
            </a:extLst>
          </p:cNvPr>
          <p:cNvSpPr txBox="1"/>
          <p:nvPr/>
        </p:nvSpPr>
        <p:spPr>
          <a:xfrm>
            <a:off x="8344814" y="5167510"/>
            <a:ext cx="3075127" cy="261610"/>
          </a:xfrm>
          <a:prstGeom prst="rect">
            <a:avLst/>
          </a:prstGeom>
          <a:noFill/>
        </p:spPr>
        <p:txBody>
          <a:bodyPr wrap="square" lIns="0" tIns="0" rIns="0" bIns="0" anchor="t">
            <a:spAutoFit/>
          </a:bodyPr>
          <a:lstStyle/>
          <a:p>
            <a:pPr algn="l"/>
            <a:r>
              <a:rPr sz="1700" b="1" i="0" dirty="0">
                <a:solidFill>
                  <a:srgbClr val="002060"/>
                </a:solidFill>
                <a:latin typeface="Cambria"/>
              </a:rPr>
              <a:t>Zero breakage</a:t>
            </a:r>
          </a:p>
        </p:txBody>
      </p:sp>
      <p:sp>
        <p:nvSpPr>
          <p:cNvPr id="175" name="TextBox 174">
            <a:extLst>
              <a:ext uri="{FF2B5EF4-FFF2-40B4-BE49-F238E27FC236}">
                <a16:creationId xmlns:a16="http://schemas.microsoft.com/office/drawing/2014/main" id="{E63095C1-8ED1-E395-C1B2-4A371F747C53}"/>
              </a:ext>
            </a:extLst>
          </p:cNvPr>
          <p:cNvSpPr txBox="1"/>
          <p:nvPr/>
        </p:nvSpPr>
        <p:spPr>
          <a:xfrm>
            <a:off x="8344814" y="5496694"/>
            <a:ext cx="3075127" cy="124008"/>
          </a:xfrm>
          <a:prstGeom prst="rect">
            <a:avLst/>
          </a:prstGeom>
          <a:noFill/>
        </p:spPr>
        <p:txBody>
          <a:bodyPr wrap="square" lIns="0" tIns="0" rIns="0" bIns="0" anchor="t">
            <a:spAutoFit/>
          </a:bodyPr>
          <a:lstStyle/>
          <a:p>
            <a:pPr algn="l">
              <a:lnSpc>
                <a:spcPct val="105000"/>
              </a:lnSpc>
            </a:pPr>
            <a:r>
              <a:rPr sz="800" b="0" i="0" dirty="0">
                <a:latin typeface="Calibri"/>
              </a:rPr>
              <a:t>Semantic model absorbs schema changes — the tool contract stays stable</a:t>
            </a:r>
          </a:p>
        </p:txBody>
      </p:sp>
    </p:spTree>
    <p:extLst>
      <p:ext uri="{BB962C8B-B14F-4D97-AF65-F5344CB8AC3E}">
        <p14:creationId xmlns:p14="http://schemas.microsoft.com/office/powerpoint/2010/main" val="4235643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4532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 name="MIO_CD_LAYOUT_VALID_AREA" val="true"/>
</p:tagLst>
</file>

<file path=ppt/tags/tag4.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6_Optum Theme">
  <a:themeElements>
    <a:clrScheme name="Optum Color Palette 2022">
      <a:dk1>
        <a:srgbClr val="5A5A5A"/>
      </a:dk1>
      <a:lt1>
        <a:srgbClr val="FFFFFF"/>
      </a:lt1>
      <a:dk2>
        <a:srgbClr val="FF612B"/>
      </a:dk2>
      <a:lt2>
        <a:srgbClr val="D9F6FA"/>
      </a:lt2>
      <a:accent1>
        <a:srgbClr val="5A5A5A"/>
      </a:accent1>
      <a:accent2>
        <a:srgbClr val="5A5A5A"/>
      </a:accent2>
      <a:accent3>
        <a:srgbClr val="5A5A5A"/>
      </a:accent3>
      <a:accent4>
        <a:srgbClr val="5A5A5A"/>
      </a:accent4>
      <a:accent5>
        <a:srgbClr val="5A5A5A"/>
      </a:accent5>
      <a:accent6>
        <a:srgbClr val="002677"/>
      </a:accent6>
      <a:hlink>
        <a:srgbClr val="196ECF"/>
      </a:hlink>
      <a:folHlink>
        <a:srgbClr val="5A5A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custClrLst>
    <a:custClr name="Warm White">
      <a:srgbClr val="FBF9F4"/>
    </a:custClr>
    <a:custClr name="Blank">
      <a:srgbClr val="FFFFFF"/>
    </a:custClr>
    <a:custClr name="Green Success">
      <a:srgbClr val="007000"/>
    </a:custClr>
    <a:custClr name="Red Alert">
      <a:srgbClr val="C40000"/>
    </a:custClr>
    <a:custClr name="Gold Callout">
      <a:srgbClr val="F5B700"/>
    </a:custClr>
    <a:custClr name="Blank">
      <a:srgbClr val="FFFFFF"/>
    </a:custClr>
    <a:custClr name="Blank">
      <a:srgbClr val="FFFFFF"/>
    </a:custClr>
    <a:custClr name="Lagoon">
      <a:srgbClr val="007C89"/>
    </a:custClr>
    <a:custClr name="Violet">
      <a:srgbClr val="422C88"/>
    </a:custClr>
    <a:custClr name="Strawberry">
      <a:srgbClr val="A32A2E"/>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Rainwater">
      <a:srgbClr val="6FC1B1"/>
    </a:custClr>
    <a:custClr name="Iris">
      <a:srgbClr val="8061BC"/>
    </a:custClr>
    <a:custClr name="Apple">
      <a:srgbClr val="D13F44"/>
    </a:custClr>
  </a:custClrLst>
  <a:extLst>
    <a:ext uri="{05A4C25C-085E-4340-85A3-A5531E510DB2}">
      <thm15:themeFamily xmlns:thm15="http://schemas.microsoft.com/office/thememl/2012/main" name="optum-onscreen-16x9-20220119.potx" id="{BF78F144-9148-4FE2-90A3-22B02663985C}" vid="{7E0A84AD-0D61-494A-8D90-8D69DD71D350}"/>
    </a:ext>
  </a:extLst>
</a:theme>
</file>

<file path=ppt/theme/theme2.xml><?xml version="1.0" encoding="utf-8"?>
<a:theme xmlns:a="http://schemas.openxmlformats.org/drawingml/2006/main" name="3_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fontScheme name="Optum Microsoft">
      <a:majorFont>
        <a:latin typeface="Georgia Pr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Dawn Orange">
      <a:srgbClr val="FFD1AB"/>
    </a:custClr>
    <a:custClr name="Sunset Orange">
      <a:srgbClr val="F9A667"/>
    </a:custClr>
    <a:custClr name="Dark Orange">
      <a:srgbClr val="D74120"/>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Blank">
      <a:srgbClr val="FFFFFF"/>
    </a:custClr>
    <a:custClr name="Horizon">
      <a:srgbClr val="EDE8E0"/>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Red 80">
      <a:srgbClr val="C40000"/>
    </a:custClr>
    <a:custClr name="Yellow 20">
      <a:srgbClr val="FFF84F"/>
    </a:custClr>
    <a:custClr name="Green 40">
      <a:srgbClr val="61D661"/>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Yellow Outline">
      <a:srgbClr val="AD8D01"/>
    </a:custClr>
    <a:custClr name="Green Outline">
      <a:srgbClr val="03AB03"/>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TEMPLATE optum-onscreen-20251202.potx" id="{4BD4B4EB-F109-42A0-B826-01712775BED2}" vid="{329A95CE-5D0F-40A1-904E-987F85E31B8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6df151d-e8a1-4d32-8940-e7dd68be1fee">
      <Terms xmlns="http://schemas.microsoft.com/office/infopath/2007/PartnerControls"/>
    </lcf76f155ced4ddcb4097134ff3c332f>
    <TaxCatchAll xmlns="477a6186-4102-4e6b-8e0e-69a6417da4ba" xsi:nil="true"/>
    <CWRMItemRecordClassificationTaxHTField0 xmlns="477a6186-4102-4e6b-8e0e-69a6417da4ba">
      <Terms xmlns="http://schemas.microsoft.com/office/infopath/2007/PartnerControls"/>
    </CWRMItemRecordClassificationTaxHTField0>
    <Details xmlns="f6df151d-e8a1-4d32-8940-e7dd68be1fee" xsi:nil="true"/>
    <Date_x0020_Presented xmlns="f6df151d-e8a1-4d32-8940-e7dd68be1fee">2026-03-04T14:47:07+00:00</Date_x0020_Presented>
    <CWRMItemRecordData xmlns="477a6186-4102-4e6b-8e0e-69a6417da4b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BE6012047EFF84E9633F58F502D09A7" ma:contentTypeVersion="15" ma:contentTypeDescription="Create a new document." ma:contentTypeScope="" ma:versionID="9a45e816171a892f9eb52fee7bb51c16">
  <xsd:schema xmlns:xsd="http://www.w3.org/2001/XMLSchema" xmlns:xs="http://www.w3.org/2001/XMLSchema" xmlns:p="http://schemas.microsoft.com/office/2006/metadata/properties" xmlns:ns2="477a6186-4102-4e6b-8e0e-69a6417da4ba" xmlns:ns3="f6df151d-e8a1-4d32-8940-e7dd68be1fee" targetNamespace="http://schemas.microsoft.com/office/2006/metadata/properties" ma:root="true" ma:fieldsID="210a90d35ba94ef737b7f1ab2bb8e713" ns2:_="" ns3:_="">
    <xsd:import namespace="477a6186-4102-4e6b-8e0e-69a6417da4ba"/>
    <xsd:import namespace="f6df151d-e8a1-4d32-8940-e7dd68be1fee"/>
    <xsd:element name="properties">
      <xsd:complexType>
        <xsd:sequence>
          <xsd:element name="documentManagement">
            <xsd:complexType>
              <xsd:all>
                <xsd:element ref="ns2:CWRMItemUniqueId" minOccurs="0"/>
                <xsd:element ref="ns2:CWRMItemRecordState" minOccurs="0"/>
                <xsd:element ref="ns2:CWRMItemRecordCategory" minOccurs="0"/>
                <xsd:element ref="ns2:CWRMItemRecordStatus" minOccurs="0"/>
                <xsd:element ref="ns2:CWRMItemRecordDeclaredDate" minOccurs="0"/>
                <xsd:element ref="ns2:CWRMItemRecordVital" minOccurs="0"/>
                <xsd:element ref="ns2:CWRMItemRecordClassificationTaxHTField0" minOccurs="0"/>
                <xsd:element ref="ns2:TaxCatchAll" minOccurs="0"/>
                <xsd:element ref="ns2:TaxCatchAllLabel" minOccurs="0"/>
                <xsd:element ref="ns2:CWRMItemRecordData" minOccurs="0"/>
                <xsd:element ref="ns3:Date_x0020_Presente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3:MediaServiceOCR" minOccurs="0"/>
                <xsd:element ref="ns3: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7a6186-4102-4e6b-8e0e-69a6417da4ba" elementFormDefault="qualified">
    <xsd:import namespace="http://schemas.microsoft.com/office/2006/documentManagement/types"/>
    <xsd:import namespace="http://schemas.microsoft.com/office/infopath/2007/PartnerControls"/>
    <xsd:element name="CWRMItemUniqueId" ma:index="2" nillable="true" ma:displayName="Content ID" ma:description="A universally unique identifier assigned to the item." ma:internalName="CWRMItemUniqueId" ma:readOnly="true">
      <xsd:simpleType>
        <xsd:restriction base="dms:Text"/>
      </xsd:simpleType>
    </xsd:element>
    <xsd:element name="CWRMItemRecordState" ma:index="3" nillable="true" ma:displayName="Record State" ma:description="The current state of this item as it pertains to records management." ma:internalName="CWRMItemRecordState" ma:readOnly="true">
      <xsd:simpleType>
        <xsd:restriction base="dms:Text"/>
      </xsd:simpleType>
    </xsd:element>
    <xsd:element name="CWRMItemRecordCategory" ma:index="4" nillable="true" ma:displayName="Record Category" ma:description="Identifies the current record category for the item." ma:internalName="CWRMItemRecordCategory" ma:readOnly="true">
      <xsd:simpleType>
        <xsd:restriction base="dms:Text"/>
      </xsd:simpleType>
    </xsd:element>
    <xsd:element name="CWRMItemRecordStatus" ma:index="6" nillable="true" ma:displayName="Record Status" ma:description="The current status of this item as it pertains to records management." ma:internalName="CWRMItemRecordStatus" ma:readOnly="true">
      <xsd:simpleType>
        <xsd:restriction base="dms:Text"/>
      </xsd:simpleType>
    </xsd:element>
    <xsd:element name="CWRMItemRecordDeclaredDate" ma:index="7" nillable="true" ma:displayName="Record Declared Date" ma:description="The date and time that the item was declared a record." ma:format="DateTime" ma:internalName="CWRMItemRecordDeclaredDate" ma:readOnly="true">
      <xsd:simpleType>
        <xsd:restriction base="dms:DateTime"/>
      </xsd:simpleType>
    </xsd:element>
    <xsd:element name="CWRMItemRecordVital" ma:index="8" nillable="true" ma:displayName="Record Vital" ma:description="Indicates if this item is considered vital to the organization." ma:internalName="CWRMItemRecordVital" ma:readOnly="true">
      <xsd:simpleType>
        <xsd:restriction base="dms:Boolean"/>
      </xsd:simpleType>
    </xsd:element>
    <xsd:element name="CWRMItemRecordClassificationTaxHTField0" ma:index="9" nillable="true" ma:taxonomy="true" ma:internalName="CWRMItemRecordClassificationTaxHTField0" ma:taxonomyFieldName="CWRMItemRecordClassification" ma:displayName="Record Classification" ma:readOnly="false" ma:fieldId="{e94be97f-fb02-4deb-9c3d-6d978a059d35}" ma:sspId="2a6b2b66-40d8-4e06-8a39-adc3ecd4519b" ma:termSetId="4645d3fb-447f-4f30-adac-525cf60eaf77" ma:anchorId="00000000-0000-0000-0000-000000000000" ma:open="false" ma:isKeyword="false">
      <xsd:complexType>
        <xsd:sequence>
          <xsd:element ref="pc:Terms" minOccurs="0" maxOccurs="1"/>
        </xsd:sequence>
      </xsd:complexType>
    </xsd:element>
    <xsd:element name="TaxCatchAll" ma:index="12" nillable="true" ma:displayName="Taxonomy Catch All Column" ma:hidden="true" ma:list="{bdef7610-cbbf-476a-9cda-fdb1bd2624a0}" ma:internalName="TaxCatchAll" ma:readOnly="false" ma:showField="CatchAllData" ma:web="477a6186-4102-4e6b-8e0e-69a6417da4ba">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bdef7610-cbbf-476a-9cda-fdb1bd2624a0}" ma:internalName="TaxCatchAllLabel" ma:readOnly="true" ma:showField="CatchAllDataLabel" ma:web="477a6186-4102-4e6b-8e0e-69a6417da4ba">
      <xsd:complexType>
        <xsd:complexContent>
          <xsd:extension base="dms:MultiChoiceLookup">
            <xsd:sequence>
              <xsd:element name="Value" type="dms:Lookup" maxOccurs="unbounded" minOccurs="0" nillable="true"/>
            </xsd:sequence>
          </xsd:extension>
        </xsd:complexContent>
      </xsd:complexType>
    </xsd:element>
    <xsd:element name="CWRMItemRecordData" ma:index="17" nillable="true" ma:displayName="Record Data" ma:description="Contains system specific record data for the item." ma:hidden="true" ma:internalName="CWRMItemRecordData"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df151d-e8a1-4d32-8940-e7dd68be1fee" elementFormDefault="qualified">
    <xsd:import namespace="http://schemas.microsoft.com/office/2006/documentManagement/types"/>
    <xsd:import namespace="http://schemas.microsoft.com/office/infopath/2007/PartnerControls"/>
    <xsd:element name="Date_x0020_Presented" ma:index="19" nillable="true" ma:displayName="Date Presented" ma:default="[today]" ma:format="DateOnly" ma:internalName="Date_x0020_Presented">
      <xsd:simpleType>
        <xsd:restriction base="dms:DateTime"/>
      </xsd:simpleType>
    </xsd:element>
    <xsd:element name="MediaServiceMetadata" ma:index="20" nillable="true" ma:displayName="MediaServiceMetadata" ma:hidden="true" ma:internalName="MediaServiceMetadata" ma:readOnly="true">
      <xsd:simpleType>
        <xsd:restriction base="dms:Note"/>
      </xsd:simpleType>
    </xsd:element>
    <xsd:element name="MediaServiceFastMetadata" ma:index="21" nillable="true" ma:displayName="MediaServiceFastMetadata" ma:hidden="true" ma:internalName="MediaServiceFastMetadata"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2a6b2b66-40d8-4e06-8a39-adc3ecd4519b" ma:termSetId="09814cd3-568e-fe90-9814-8d621ff8fb84" ma:anchorId="fba54fb3-c3e1-fe81-a776-ca4b69148c4d" ma:open="true" ma:isKeyword="false">
      <xsd:complexType>
        <xsd:sequence>
          <xsd:element ref="pc:Terms" minOccurs="0" maxOccurs="1"/>
        </xsd:sequence>
      </xsd:complexType>
    </xsd:element>
    <xsd:element name="MediaServiceOCR" ma:index="30" nillable="true" ma:displayName="Extracted Text" ma:internalName="MediaServiceOCR" ma:readOnly="true">
      <xsd:simpleType>
        <xsd:restriction base="dms:Note">
          <xsd:maxLength value="255"/>
        </xsd:restriction>
      </xsd:simpleType>
    </xsd:element>
    <xsd:element name="Details" ma:index="31" nillable="true" ma:displayName="Details" ma:format="Dropdown" ma:internalName="Details">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8"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888F06-387A-44C2-BF6F-B586C3BDF248}">
  <ds:schemaRefs>
    <ds:schemaRef ds:uri="http://schemas.microsoft.com/office/infopath/2007/PartnerControls"/>
    <ds:schemaRef ds:uri="http://purl.org/dc/elements/1.1/"/>
    <ds:schemaRef ds:uri="http://schemas.openxmlformats.org/package/2006/metadata/core-properties"/>
    <ds:schemaRef ds:uri="http://schemas.microsoft.com/office/2006/documentManagement/types"/>
    <ds:schemaRef ds:uri="http://purl.org/dc/terms/"/>
    <ds:schemaRef ds:uri="477a6186-4102-4e6b-8e0e-69a6417da4ba"/>
    <ds:schemaRef ds:uri="http://purl.org/dc/dcmitype/"/>
    <ds:schemaRef ds:uri="f6df151d-e8a1-4d32-8940-e7dd68be1fee"/>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3DBBC38-E471-42D0-8030-EF7F0BCF66C9}">
  <ds:schemaRefs>
    <ds:schemaRef ds:uri="http://schemas.microsoft.com/sharepoint/v3/contenttype/forms"/>
  </ds:schemaRefs>
</ds:datastoreItem>
</file>

<file path=customXml/itemProps3.xml><?xml version="1.0" encoding="utf-8"?>
<ds:datastoreItem xmlns:ds="http://schemas.openxmlformats.org/officeDocument/2006/customXml" ds:itemID="{3A699E99-09AF-42DC-ABD2-C3DA2BF49D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7a6186-4102-4e6b-8e0e-69a6417da4ba"/>
    <ds:schemaRef ds:uri="f6df151d-e8a1-4d32-8940-e7dd68be1f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2883</TotalTime>
  <Words>760</Words>
  <Application>Microsoft Macintosh PowerPoint</Application>
  <PresentationFormat>Widescreen</PresentationFormat>
  <Paragraphs>111</Paragraphs>
  <Slides>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vt:i4>
      </vt:variant>
    </vt:vector>
  </HeadingPairs>
  <TitlesOfParts>
    <vt:vector size="12" baseType="lpstr">
      <vt:lpstr>Arial</vt:lpstr>
      <vt:lpstr>Calibri</vt:lpstr>
      <vt:lpstr>Cambria</vt:lpstr>
      <vt:lpstr>Georgia Pro</vt:lpstr>
      <vt:lpstr>6_Optum Theme</vt:lpstr>
      <vt:lpstr>3_Optum Theme</vt:lpstr>
      <vt:lpstr>SnowFabric - One Framework</vt:lpstr>
      <vt:lpstr>The Problem</vt:lpstr>
      <vt:lpstr>Aha Moment</vt:lpstr>
      <vt:lpstr>How It Works</vt:lpstr>
      <vt:lpstr>The 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Name</dc:title>
  <dc:creator>Farley, Hunter T</dc:creator>
  <cp:lastModifiedBy>Aluri, Shanmuk</cp:lastModifiedBy>
  <cp:revision>16</cp:revision>
  <dcterms:created xsi:type="dcterms:W3CDTF">2023-10-13T02:44:50Z</dcterms:created>
  <dcterms:modified xsi:type="dcterms:W3CDTF">2026-09-24T19:11:30Z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0x010100FBE6012047EFF84E9633F58F502D09A7</vt:lpwstr>
  </property>
  <property fmtid="{D5CDD505-2E9C-101B-9397-08002B2CF9AE}" pid="3" name="MediaServiceImageTags">
    <vt:lpwstr/>
  </property>
  <property fmtid="{D5CDD505-2E9C-101B-9397-08002B2CF9AE}" pid="4" name="CWRMItemRecordClassification">
    <vt:lpwstr/>
  </property>
</Properties>
</file>